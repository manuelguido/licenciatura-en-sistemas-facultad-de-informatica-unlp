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27"/>
  </p:notesMasterIdLst>
  <p:sldIdLst>
    <p:sldId id="256" r:id="rId5"/>
    <p:sldId id="260" r:id="rId6"/>
    <p:sldId id="262" r:id="rId7"/>
    <p:sldId id="264" r:id="rId8"/>
    <p:sldId id="263" r:id="rId9"/>
    <p:sldId id="265" r:id="rId10"/>
    <p:sldId id="266" r:id="rId11"/>
    <p:sldId id="267" r:id="rId12"/>
    <p:sldId id="268" r:id="rId13"/>
    <p:sldId id="269" r:id="rId14"/>
    <p:sldId id="290" r:id="rId15"/>
    <p:sldId id="270" r:id="rId16"/>
    <p:sldId id="292" r:id="rId17"/>
    <p:sldId id="291" r:id="rId18"/>
    <p:sldId id="271" r:id="rId19"/>
    <p:sldId id="293" r:id="rId20"/>
    <p:sldId id="294" r:id="rId21"/>
    <p:sldId id="272" r:id="rId22"/>
    <p:sldId id="295" r:id="rId23"/>
    <p:sldId id="296" r:id="rId24"/>
    <p:sldId id="297" r:id="rId25"/>
    <p:sldId id="29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0000"/>
    <a:srgbClr val="F6B600"/>
    <a:srgbClr val="F7F7F7"/>
    <a:srgbClr val="F8F8F8"/>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74" autoAdjust="0"/>
  </p:normalViewPr>
  <p:slideViewPr>
    <p:cSldViewPr snapToGrid="0">
      <p:cViewPr varScale="1">
        <p:scale>
          <a:sx n="110" d="100"/>
          <a:sy n="110" d="100"/>
        </p:scale>
        <p:origin x="576" y="12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11/27/2019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D3CA24-84A1-49D9-9074-B3D38DB4F37D}" type="datetime1">
              <a:rPr lang="en-US" smtClean="0"/>
              <a:t>11/27/2019</a:t>
            </a:fld>
            <a:endParaRPr lang="en-US" dirty="0"/>
          </a:p>
        </p:txBody>
      </p:sp>
      <p:sp>
        <p:nvSpPr>
          <p:cNvPr id="5" name="Footer Placeholder 4"/>
          <p:cNvSpPr>
            <a:spLocks noGrp="1"/>
          </p:cNvSpPr>
          <p:nvPr>
            <p:ph type="ftr" sz="quarter" idx="11"/>
          </p:nvPr>
        </p:nvSpPr>
        <p:spPr/>
        <p:txBody>
          <a:bodyPr/>
          <a:lstStyle/>
          <a:p>
            <a:r>
              <a:rPr lang="es-AR"/>
              <a:t>Métodos ágiles para aplicaciones web</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06A644-DE26-4E06-904E-AD0D00A251DB}" type="datetime1">
              <a:rPr lang="en-US" smtClean="0"/>
              <a:t>11/27/2019</a:t>
            </a:fld>
            <a:endParaRPr lang="en-US" dirty="0"/>
          </a:p>
        </p:txBody>
      </p:sp>
      <p:sp>
        <p:nvSpPr>
          <p:cNvPr id="5" name="Footer Placeholder 4"/>
          <p:cNvSpPr>
            <a:spLocks noGrp="1"/>
          </p:cNvSpPr>
          <p:nvPr>
            <p:ph type="ftr" sz="quarter" idx="11"/>
          </p:nvPr>
        </p:nvSpPr>
        <p:spPr/>
        <p:txBody>
          <a:bodyPr/>
          <a:lstStyle/>
          <a:p>
            <a:r>
              <a:rPr lang="es-AR"/>
              <a:t>Métodos ágiles para aplicaciones web</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86B2F-BE8B-4335-9BF4-E0FF5E275FF1}" type="datetime1">
              <a:rPr lang="en-US" smtClean="0"/>
              <a:t>11/27/2019</a:t>
            </a:fld>
            <a:endParaRPr lang="en-US" dirty="0"/>
          </a:p>
        </p:txBody>
      </p:sp>
      <p:sp>
        <p:nvSpPr>
          <p:cNvPr id="5" name="Footer Placeholder 4"/>
          <p:cNvSpPr>
            <a:spLocks noGrp="1"/>
          </p:cNvSpPr>
          <p:nvPr>
            <p:ph type="ftr" sz="quarter" idx="11"/>
          </p:nvPr>
        </p:nvSpPr>
        <p:spPr/>
        <p:txBody>
          <a:bodyPr/>
          <a:lstStyle/>
          <a:p>
            <a:r>
              <a:rPr lang="es-AR"/>
              <a:t>Métodos ágiles para aplicaciones web</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725FFA-3C06-46CA-BC1A-7CDF2495FEDD}" type="datetime1">
              <a:rPr lang="en-US" smtClean="0"/>
              <a:t>11/27/2019</a:t>
            </a:fld>
            <a:endParaRPr lang="en-US" dirty="0"/>
          </a:p>
        </p:txBody>
      </p:sp>
      <p:sp>
        <p:nvSpPr>
          <p:cNvPr id="6" name="Footer Placeholder 5"/>
          <p:cNvSpPr>
            <a:spLocks noGrp="1"/>
          </p:cNvSpPr>
          <p:nvPr>
            <p:ph type="ftr" sz="quarter" idx="11"/>
          </p:nvPr>
        </p:nvSpPr>
        <p:spPr/>
        <p:txBody>
          <a:bodyPr/>
          <a:lstStyle/>
          <a:p>
            <a:r>
              <a:rPr lang="es-AR"/>
              <a:t>Métodos ágiles para aplicaciones web</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4BE92-EA93-4209-AE72-4EF75B66EFF6}" type="datetime1">
              <a:rPr lang="en-US" smtClean="0"/>
              <a:t>11/27/2019</a:t>
            </a:fld>
            <a:endParaRPr lang="en-US" dirty="0"/>
          </a:p>
        </p:txBody>
      </p:sp>
      <p:sp>
        <p:nvSpPr>
          <p:cNvPr id="8" name="Footer Placeholder 7"/>
          <p:cNvSpPr>
            <a:spLocks noGrp="1"/>
          </p:cNvSpPr>
          <p:nvPr>
            <p:ph type="ftr" sz="quarter" idx="11"/>
          </p:nvPr>
        </p:nvSpPr>
        <p:spPr/>
        <p:txBody>
          <a:bodyPr/>
          <a:lstStyle/>
          <a:p>
            <a:r>
              <a:rPr lang="es-AR"/>
              <a:t>Métodos ágiles para aplicaciones web</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A38429-1BA2-4E57-AE2F-E1F53BE2C634}" type="datetime1">
              <a:rPr lang="en-US" smtClean="0"/>
              <a:t>11/27/2019</a:t>
            </a:fld>
            <a:endParaRPr lang="en-US" dirty="0"/>
          </a:p>
        </p:txBody>
      </p:sp>
      <p:sp>
        <p:nvSpPr>
          <p:cNvPr id="4" name="Footer Placeholder 3"/>
          <p:cNvSpPr>
            <a:spLocks noGrp="1"/>
          </p:cNvSpPr>
          <p:nvPr>
            <p:ph type="ftr" sz="quarter" idx="11"/>
          </p:nvPr>
        </p:nvSpPr>
        <p:spPr/>
        <p:txBody>
          <a:bodyPr/>
          <a:lstStyle/>
          <a:p>
            <a:r>
              <a:rPr lang="es-AR"/>
              <a:t>Métodos ágiles para aplicaciones web</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EFE80F-A4B3-4AFC-8F0F-F34F6C82D44E}" type="datetime1">
              <a:rPr lang="en-US" smtClean="0"/>
              <a:t>11/27/2019</a:t>
            </a:fld>
            <a:endParaRPr lang="en-US" dirty="0"/>
          </a:p>
        </p:txBody>
      </p:sp>
      <p:sp>
        <p:nvSpPr>
          <p:cNvPr id="3" name="Footer Placeholder 2"/>
          <p:cNvSpPr>
            <a:spLocks noGrp="1"/>
          </p:cNvSpPr>
          <p:nvPr>
            <p:ph type="ftr" sz="quarter" idx="11"/>
          </p:nvPr>
        </p:nvSpPr>
        <p:spPr/>
        <p:txBody>
          <a:bodyPr/>
          <a:lstStyle/>
          <a:p>
            <a:r>
              <a:rPr lang="es-AR"/>
              <a:t>Métodos ágiles para aplicaciones web</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D2CE1-9A72-44A3-9004-8DFDBE3C5929}" type="datetime1">
              <a:rPr lang="en-US" smtClean="0"/>
              <a:t>11/27/2019</a:t>
            </a:fld>
            <a:endParaRPr lang="en-US" dirty="0"/>
          </a:p>
        </p:txBody>
      </p:sp>
      <p:sp>
        <p:nvSpPr>
          <p:cNvPr id="6" name="Footer Placeholder 5"/>
          <p:cNvSpPr>
            <a:spLocks noGrp="1"/>
          </p:cNvSpPr>
          <p:nvPr>
            <p:ph type="ftr" sz="quarter" idx="11"/>
          </p:nvPr>
        </p:nvSpPr>
        <p:spPr/>
        <p:txBody>
          <a:bodyPr/>
          <a:lstStyle/>
          <a:p>
            <a:r>
              <a:rPr lang="es-AR"/>
              <a:t>Métodos ágiles para aplicaciones web</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0FF8015F-D0EF-47E5-B905-B88385BE62FC}" type="datetime1">
              <a:rPr lang="en-US" smtClean="0"/>
              <a:t>11/27/2019</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s-AR"/>
              <a:t>Métodos ágiles para aplicaciones web</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4DDF67-411C-4156-9E6D-145DA216BAEF}" type="datetime1">
              <a:rPr lang="en-US" smtClean="0"/>
              <a:t>11/27/2019</a:t>
            </a:fld>
            <a:endParaRPr lang="en-US" dirty="0"/>
          </a:p>
        </p:txBody>
      </p:sp>
      <p:sp>
        <p:nvSpPr>
          <p:cNvPr id="6" name="Footer Placeholder 5"/>
          <p:cNvSpPr>
            <a:spLocks noGrp="1"/>
          </p:cNvSpPr>
          <p:nvPr>
            <p:ph type="ftr" sz="quarter" idx="11"/>
          </p:nvPr>
        </p:nvSpPr>
        <p:spPr/>
        <p:txBody>
          <a:bodyPr/>
          <a:lstStyle/>
          <a:p>
            <a:r>
              <a:rPr lang="es-AR"/>
              <a:t>Métodos ágiles para aplicaciones web</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5CB4ECDA-34FC-4E50-96EF-FF580BB5C2E7}" type="datetime1">
              <a:rPr lang="en-US" smtClean="0"/>
              <a:t>11/27/2019</a:t>
            </a:fld>
            <a:endParaRPr lang="en-US" dirty="0"/>
          </a:p>
        </p:txBody>
      </p:sp>
      <p:sp>
        <p:nvSpPr>
          <p:cNvPr id="5" name="Footer Placeholder 4"/>
          <p:cNvSpPr>
            <a:spLocks noGrp="1"/>
          </p:cNvSpPr>
          <p:nvPr>
            <p:ph type="ftr" sz="quarter" idx="11"/>
          </p:nvPr>
        </p:nvSpPr>
        <p:spPr/>
        <p:txBody>
          <a:bodyPr/>
          <a:lstStyle/>
          <a:p>
            <a:r>
              <a:rPr lang="es-AR"/>
              <a:t>Métodos ágiles para aplicaciones web</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283526F-7042-4520-AEDF-AD8705DA6738}" type="datetime1">
              <a:rPr lang="en-US" smtClean="0"/>
              <a:t>11/27/2019</a:t>
            </a:fld>
            <a:endParaRPr lang="en-US" dirty="0"/>
          </a:p>
        </p:txBody>
      </p:sp>
      <p:sp>
        <p:nvSpPr>
          <p:cNvPr id="3" name="Footer Placeholder 2"/>
          <p:cNvSpPr>
            <a:spLocks noGrp="1"/>
          </p:cNvSpPr>
          <p:nvPr>
            <p:ph type="ftr" sz="quarter" idx="11"/>
          </p:nvPr>
        </p:nvSpPr>
        <p:spPr/>
        <p:txBody>
          <a:bodyPr/>
          <a:lstStyle/>
          <a:p>
            <a:r>
              <a:rPr lang="es-AR"/>
              <a:t>Métodos ágiles para aplicaciones web</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870099-B1A3-4658-8571-1EFC0B7D628B}" type="datetime1">
              <a:rPr lang="en-US" smtClean="0"/>
              <a:t>11/27/2019</a:t>
            </a:fld>
            <a:endParaRPr lang="en-US" dirty="0"/>
          </a:p>
        </p:txBody>
      </p:sp>
      <p:sp>
        <p:nvSpPr>
          <p:cNvPr id="5" name="Footer Placeholder 4"/>
          <p:cNvSpPr>
            <a:spLocks noGrp="1"/>
          </p:cNvSpPr>
          <p:nvPr>
            <p:ph type="ftr" sz="quarter" idx="11"/>
          </p:nvPr>
        </p:nvSpPr>
        <p:spPr/>
        <p:txBody>
          <a:bodyPr/>
          <a:lstStyle/>
          <a:p>
            <a:r>
              <a:rPr lang="es-AR"/>
              <a:t>Métodos ágiles para aplicaciones web</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866D43-B97A-40EC-B71F-7AD4A1E49FCB}" type="datetime1">
              <a:rPr lang="en-US" smtClean="0"/>
              <a:t>11/27/2019</a:t>
            </a:fld>
            <a:endParaRPr lang="en-US" dirty="0"/>
          </a:p>
        </p:txBody>
      </p:sp>
      <p:sp>
        <p:nvSpPr>
          <p:cNvPr id="5" name="Footer Placeholder 4"/>
          <p:cNvSpPr>
            <a:spLocks noGrp="1"/>
          </p:cNvSpPr>
          <p:nvPr>
            <p:ph type="ftr" sz="quarter" idx="11"/>
          </p:nvPr>
        </p:nvSpPr>
        <p:spPr/>
        <p:txBody>
          <a:bodyPr/>
          <a:lstStyle/>
          <a:p>
            <a:r>
              <a:rPr lang="es-AR"/>
              <a:t>Métodos ágiles para aplicaciones web</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s-AR"/>
              <a:t>Métodos ágiles para aplicaciones web</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D2640636-B947-496F-9B41-DFDF478A9F6C}" type="datetime1">
              <a:rPr lang="en-US" smtClean="0"/>
              <a:t>11/27/2019</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hd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2839A1C-34CB-4C3C-8531-CA67525FD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Freeform: Shape 23">
            <a:extLst>
              <a:ext uri="{FF2B5EF4-FFF2-40B4-BE49-F238E27FC236}">
                <a16:creationId xmlns:a16="http://schemas.microsoft.com/office/drawing/2014/main" id="{FAC94EAF-F7F7-4727-AE69-A7036B4A5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3" name="Subtitle 2">
            <a:extLst>
              <a:ext uri="{FF2B5EF4-FFF2-40B4-BE49-F238E27FC236}">
                <a16:creationId xmlns:a16="http://schemas.microsoft.com/office/drawing/2014/main" id="{F0FC7E44-4828-47E6-A083-C1E389988E20}"/>
              </a:ext>
            </a:extLst>
          </p:cNvPr>
          <p:cNvSpPr>
            <a:spLocks noGrp="1"/>
          </p:cNvSpPr>
          <p:nvPr>
            <p:ph type="subTitle" idx="1"/>
          </p:nvPr>
        </p:nvSpPr>
        <p:spPr>
          <a:xfrm>
            <a:off x="649458" y="5197053"/>
            <a:ext cx="5228828" cy="2294852"/>
          </a:xfrm>
          <a:effectLst/>
        </p:spPr>
        <p:txBody>
          <a:bodyPr anchor="ctr">
            <a:normAutofit/>
          </a:bodyPr>
          <a:lstStyle/>
          <a:p>
            <a:r>
              <a:rPr lang="en-US" sz="1400" dirty="0"/>
              <a:t>González Iriart, Gabriela</a:t>
            </a:r>
            <a:br>
              <a:rPr lang="en-US" sz="1400" dirty="0"/>
            </a:br>
            <a:r>
              <a:rPr lang="en-US" sz="1400" dirty="0"/>
              <a:t>Guido, Manuel</a:t>
            </a:r>
          </a:p>
        </p:txBody>
      </p:sp>
      <p:sp>
        <p:nvSpPr>
          <p:cNvPr id="2" name="Title 1">
            <a:extLst>
              <a:ext uri="{FF2B5EF4-FFF2-40B4-BE49-F238E27FC236}">
                <a16:creationId xmlns:a16="http://schemas.microsoft.com/office/drawing/2014/main" id="{B68617FD-A3DD-4B1B-A618-8B7F44A2DD42}"/>
              </a:ext>
            </a:extLst>
          </p:cNvPr>
          <p:cNvSpPr>
            <a:spLocks noGrp="1"/>
          </p:cNvSpPr>
          <p:nvPr>
            <p:ph type="ctrTitle"/>
          </p:nvPr>
        </p:nvSpPr>
        <p:spPr>
          <a:xfrm>
            <a:off x="6095999" y="1032918"/>
            <a:ext cx="5452533" cy="4792165"/>
          </a:xfrm>
          <a:effectLst/>
        </p:spPr>
        <p:txBody>
          <a:bodyPr anchor="ctr">
            <a:normAutofit/>
          </a:bodyPr>
          <a:lstStyle/>
          <a:p>
            <a:r>
              <a:rPr lang="en-US" sz="6600" dirty="0"/>
              <a:t>DESIGN</a:t>
            </a:r>
            <a:br>
              <a:rPr lang="en-US" sz="6600" dirty="0"/>
            </a:br>
            <a:r>
              <a:rPr lang="en-US" sz="6600" dirty="0"/>
              <a:t>THINKING</a:t>
            </a:r>
          </a:p>
        </p:txBody>
      </p:sp>
      <p:sp>
        <p:nvSpPr>
          <p:cNvPr id="6" name="Subtitle 2">
            <a:extLst>
              <a:ext uri="{FF2B5EF4-FFF2-40B4-BE49-F238E27FC236}">
                <a16:creationId xmlns:a16="http://schemas.microsoft.com/office/drawing/2014/main" id="{15B640BA-7D96-455C-A8A8-0C9A451F55D6}"/>
              </a:ext>
            </a:extLst>
          </p:cNvPr>
          <p:cNvSpPr txBox="1">
            <a:spLocks/>
          </p:cNvSpPr>
          <p:nvPr/>
        </p:nvSpPr>
        <p:spPr>
          <a:xfrm>
            <a:off x="643468" y="2281573"/>
            <a:ext cx="4498983" cy="2294852"/>
          </a:xfrm>
          <a:prstGeom prst="rect">
            <a:avLst/>
          </a:prstGeom>
          <a:effectLst/>
        </p:spPr>
        <p:txBody>
          <a:bodyPr vert="horz" lIns="91440" tIns="45720" rIns="91440" bIns="45720" rtlCol="0" anchor="ctr">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sz="2800" dirty="0"/>
              <a:t>Métodos ágiles para aplicaciones web</a:t>
            </a:r>
          </a:p>
        </p:txBody>
      </p:sp>
    </p:spTree>
    <p:extLst>
      <p:ext uri="{BB962C8B-B14F-4D97-AF65-F5344CB8AC3E}">
        <p14:creationId xmlns:p14="http://schemas.microsoft.com/office/powerpoint/2010/main" val="405477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2</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¿QUÉ ES DESIGN THINKING?</a:t>
            </a:r>
            <a:endParaRPr lang="es-AR" sz="3200" b="1" spc="300" dirty="0">
              <a:latin typeface="Raleway" panose="020B0503030101060003" pitchFamily="34" charset="0"/>
            </a:endParaRPr>
          </a:p>
        </p:txBody>
      </p:sp>
      <p:sp>
        <p:nvSpPr>
          <p:cNvPr id="4" name="TextBox 3">
            <a:extLst>
              <a:ext uri="{FF2B5EF4-FFF2-40B4-BE49-F238E27FC236}">
                <a16:creationId xmlns:a16="http://schemas.microsoft.com/office/drawing/2014/main" id="{B15A6837-5CBA-446A-8C02-06D48AF624E4}"/>
              </a:ext>
            </a:extLst>
          </p:cNvPr>
          <p:cNvSpPr txBox="1"/>
          <p:nvPr/>
        </p:nvSpPr>
        <p:spPr>
          <a:xfrm>
            <a:off x="977508" y="2213282"/>
            <a:ext cx="9420526" cy="2431435"/>
          </a:xfrm>
          <a:prstGeom prst="rect">
            <a:avLst/>
          </a:prstGeom>
          <a:noFill/>
        </p:spPr>
        <p:txBody>
          <a:bodyPr wrap="square" rtlCol="0">
            <a:spAutoFit/>
          </a:bodyPr>
          <a:lstStyle/>
          <a:p>
            <a:r>
              <a:rPr lang="es-AR" sz="2800" dirty="0">
                <a:solidFill>
                  <a:schemeClr val="tx2">
                    <a:lumMod val="75000"/>
                  </a:schemeClr>
                </a:solidFill>
              </a:rPr>
              <a:t>El</a:t>
            </a:r>
            <a:r>
              <a:rPr lang="es-AR" sz="2800" b="1" dirty="0">
                <a:solidFill>
                  <a:schemeClr val="tx2">
                    <a:lumMod val="75000"/>
                  </a:schemeClr>
                </a:solidFill>
              </a:rPr>
              <a:t> Design Thinking </a:t>
            </a:r>
            <a:r>
              <a:rPr lang="es-AR" sz="2800" dirty="0">
                <a:solidFill>
                  <a:schemeClr val="tx2">
                    <a:lumMod val="75000"/>
                  </a:schemeClr>
                </a:solidFill>
              </a:rPr>
              <a:t>es una metodología que se enfoca en la </a:t>
            </a:r>
            <a:r>
              <a:rPr lang="es-AR" sz="2800" b="1" dirty="0">
                <a:solidFill>
                  <a:schemeClr val="tx2">
                    <a:lumMod val="75000"/>
                  </a:schemeClr>
                </a:solidFill>
              </a:rPr>
              <a:t>creatividad</a:t>
            </a:r>
            <a:r>
              <a:rPr lang="es-AR" sz="2800" dirty="0">
                <a:solidFill>
                  <a:schemeClr val="tx2">
                    <a:lumMod val="75000"/>
                  </a:schemeClr>
                </a:solidFill>
              </a:rPr>
              <a:t>.</a:t>
            </a:r>
            <a:br>
              <a:rPr lang="es-AR" sz="2400" dirty="0">
                <a:solidFill>
                  <a:schemeClr val="tx2">
                    <a:lumMod val="75000"/>
                  </a:schemeClr>
                </a:solidFill>
              </a:rPr>
            </a:br>
            <a:endParaRPr lang="es-AR" sz="2400" dirty="0">
              <a:solidFill>
                <a:schemeClr val="tx2">
                  <a:lumMod val="75000"/>
                </a:schemeClr>
              </a:solidFill>
            </a:endParaRPr>
          </a:p>
          <a:p>
            <a:r>
              <a:rPr lang="es-AR" sz="2400" dirty="0">
                <a:solidFill>
                  <a:schemeClr val="tx2">
                    <a:lumMod val="75000"/>
                  </a:schemeClr>
                </a:solidFill>
              </a:rPr>
              <a:t>Su objetivo es aprovechar las habilidades de los profesionales para encontrar soluciones novedosas a las necesidades de las personas.</a:t>
            </a:r>
          </a:p>
        </p:txBody>
      </p:sp>
    </p:spTree>
    <p:extLst>
      <p:ext uri="{BB962C8B-B14F-4D97-AF65-F5344CB8AC3E}">
        <p14:creationId xmlns:p14="http://schemas.microsoft.com/office/powerpoint/2010/main" val="1754668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3</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7" y="220533"/>
            <a:ext cx="10439429" cy="584775"/>
          </a:xfrm>
          <a:prstGeom prst="rect">
            <a:avLst/>
          </a:prstGeom>
          <a:noFill/>
        </p:spPr>
        <p:txBody>
          <a:bodyPr wrap="square" rtlCol="0">
            <a:spAutoFit/>
          </a:bodyPr>
          <a:lstStyle/>
          <a:p>
            <a:r>
              <a:rPr lang="en-US" sz="3200" b="1" spc="300" dirty="0">
                <a:latin typeface="Raleway" panose="020B0503030101060003" pitchFamily="34" charset="0"/>
              </a:rPr>
              <a:t>CARACTERISTICAS DEL DESIGN THINKING</a:t>
            </a:r>
            <a:endParaRPr lang="es-AR" sz="3200" b="1" spc="300" dirty="0">
              <a:latin typeface="Raleway" panose="020B0503030101060003" pitchFamily="34" charset="0"/>
            </a:endParaRPr>
          </a:p>
        </p:txBody>
      </p:sp>
      <p:sp>
        <p:nvSpPr>
          <p:cNvPr id="10" name="TextBox 9">
            <a:extLst>
              <a:ext uri="{FF2B5EF4-FFF2-40B4-BE49-F238E27FC236}">
                <a16:creationId xmlns:a16="http://schemas.microsoft.com/office/drawing/2014/main" id="{628DD575-4E5C-4C41-AB2B-78A3606465F2}"/>
              </a:ext>
            </a:extLst>
          </p:cNvPr>
          <p:cNvSpPr txBox="1"/>
          <p:nvPr/>
        </p:nvSpPr>
        <p:spPr>
          <a:xfrm>
            <a:off x="977508" y="1735902"/>
            <a:ext cx="10091086" cy="3447098"/>
          </a:xfrm>
          <a:prstGeom prst="rect">
            <a:avLst/>
          </a:prstGeom>
          <a:noFill/>
        </p:spPr>
        <p:txBody>
          <a:bodyPr wrap="square" rtlCol="0">
            <a:spAutoFit/>
          </a:bodyPr>
          <a:lstStyle/>
          <a:p>
            <a:r>
              <a:rPr lang="es-AR" dirty="0">
                <a:solidFill>
                  <a:schemeClr val="tx2">
                    <a:lumMod val="75000"/>
                  </a:schemeClr>
                </a:solidFill>
              </a:rPr>
              <a:t>Si bien este sistema incluye ejercicios comunes de prueba y error, tiene varios aspectos diferenciadores.</a:t>
            </a:r>
          </a:p>
          <a:p>
            <a:endParaRPr lang="es-AR" dirty="0">
              <a:solidFill>
                <a:schemeClr val="tx2">
                  <a:lumMod val="75000"/>
                </a:schemeClr>
              </a:solidFill>
            </a:endParaRPr>
          </a:p>
          <a:p>
            <a:r>
              <a:rPr lang="es-AR" dirty="0">
                <a:solidFill>
                  <a:schemeClr val="tx2">
                    <a:lumMod val="75000"/>
                  </a:schemeClr>
                </a:solidFill>
              </a:rPr>
              <a:t>Sus principales</a:t>
            </a:r>
            <a:r>
              <a:rPr lang="es-AR" b="1" dirty="0">
                <a:solidFill>
                  <a:schemeClr val="tx2">
                    <a:lumMod val="75000"/>
                  </a:schemeClr>
                </a:solidFill>
              </a:rPr>
              <a:t> características distintivas</a:t>
            </a:r>
            <a:r>
              <a:rPr lang="es-AR" dirty="0">
                <a:solidFill>
                  <a:schemeClr val="tx2">
                    <a:lumMod val="75000"/>
                  </a:schemeClr>
                </a:solidFill>
              </a:rPr>
              <a:t> son:</a:t>
            </a:r>
          </a:p>
          <a:p>
            <a:endParaRPr lang="es-AR" sz="700" dirty="0">
              <a:solidFill>
                <a:schemeClr val="tx2">
                  <a:lumMod val="75000"/>
                </a:schemeClr>
              </a:solidFill>
            </a:endParaRPr>
          </a:p>
          <a:p>
            <a:pPr marL="742950" lvl="1" indent="-285750" fontAlgn="base">
              <a:buFont typeface="Wingdings" panose="05000000000000000000" pitchFamily="2" charset="2"/>
              <a:buChar char="Ø"/>
            </a:pPr>
            <a:r>
              <a:rPr lang="es-AR" sz="1700" dirty="0">
                <a:solidFill>
                  <a:schemeClr val="tx2">
                    <a:lumMod val="75000"/>
                  </a:schemeClr>
                </a:solidFill>
              </a:rPr>
              <a:t>Considera el estado emocional de los usuarios frente al problema.</a:t>
            </a:r>
          </a:p>
          <a:p>
            <a:pPr marL="742950" lvl="1" indent="-285750" fontAlgn="base">
              <a:buFont typeface="Wingdings" panose="05000000000000000000" pitchFamily="2" charset="2"/>
              <a:buChar char="Ø"/>
            </a:pPr>
            <a:r>
              <a:rPr lang="es-AR" sz="1700" dirty="0">
                <a:solidFill>
                  <a:schemeClr val="tx2">
                    <a:lumMod val="75000"/>
                  </a:schemeClr>
                </a:solidFill>
              </a:rPr>
              <a:t>Permite la redefinición del problema inicial, entendiendo que este puede evolucionar.</a:t>
            </a:r>
          </a:p>
          <a:p>
            <a:pPr marL="742950" lvl="1" indent="-285750" fontAlgn="base">
              <a:buFont typeface="Wingdings" panose="05000000000000000000" pitchFamily="2" charset="2"/>
              <a:buChar char="Ø"/>
            </a:pPr>
            <a:r>
              <a:rPr lang="es-AR" sz="1700" dirty="0">
                <a:solidFill>
                  <a:schemeClr val="tx2">
                    <a:lumMod val="75000"/>
                  </a:schemeClr>
                </a:solidFill>
              </a:rPr>
              <a:t>Integra la capacidad de todo el equipo, permitiéndoles aportar desde su especialidad.</a:t>
            </a:r>
          </a:p>
          <a:p>
            <a:pPr marL="742950" lvl="1" indent="-285750" fontAlgn="base">
              <a:buFont typeface="Wingdings" panose="05000000000000000000" pitchFamily="2" charset="2"/>
              <a:buChar char="Ø"/>
            </a:pPr>
            <a:r>
              <a:rPr lang="es-AR" sz="1700" dirty="0">
                <a:solidFill>
                  <a:schemeClr val="tx2">
                    <a:lumMod val="75000"/>
                  </a:schemeClr>
                </a:solidFill>
              </a:rPr>
              <a:t>Busca la identificación temprana de errores y problemas en la solución planteada.</a:t>
            </a:r>
          </a:p>
          <a:p>
            <a:pPr marL="742950" lvl="1" indent="-285750" fontAlgn="base">
              <a:buFont typeface="Wingdings" panose="05000000000000000000" pitchFamily="2" charset="2"/>
              <a:buChar char="Ø"/>
            </a:pPr>
            <a:r>
              <a:rPr lang="es-AR" sz="1700" dirty="0">
                <a:solidFill>
                  <a:schemeClr val="tx2">
                    <a:lumMod val="75000"/>
                  </a:schemeClr>
                </a:solidFill>
              </a:rPr>
              <a:t>Crea una atmósfera sin limitaciones ni reglas para dar espacio a todas las ideas.</a:t>
            </a:r>
          </a:p>
          <a:p>
            <a:pPr marL="742950" lvl="1" indent="-285750" fontAlgn="base">
              <a:buFont typeface="Wingdings" panose="05000000000000000000" pitchFamily="2" charset="2"/>
              <a:buChar char="Ø"/>
            </a:pPr>
            <a:r>
              <a:rPr lang="es-AR" sz="1700" dirty="0">
                <a:solidFill>
                  <a:schemeClr val="tx2">
                    <a:lumMod val="75000"/>
                  </a:schemeClr>
                </a:solidFill>
              </a:rPr>
              <a:t>Se enfoca en lo visual durante el proceso de creación.</a:t>
            </a:r>
          </a:p>
          <a:p>
            <a:endParaRPr lang="es-AR" sz="2000" dirty="0">
              <a:solidFill>
                <a:schemeClr val="tx2">
                  <a:lumMod val="75000"/>
                </a:schemeClr>
              </a:solidFill>
            </a:endParaRPr>
          </a:p>
        </p:txBody>
      </p:sp>
    </p:spTree>
    <p:extLst>
      <p:ext uri="{BB962C8B-B14F-4D97-AF65-F5344CB8AC3E}">
        <p14:creationId xmlns:p14="http://schemas.microsoft.com/office/powerpoint/2010/main" val="2242805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4</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567733" y="221962"/>
            <a:ext cx="11353829" cy="584775"/>
          </a:xfrm>
          <a:prstGeom prst="rect">
            <a:avLst/>
          </a:prstGeom>
          <a:noFill/>
        </p:spPr>
        <p:txBody>
          <a:bodyPr wrap="square" rtlCol="0">
            <a:spAutoFit/>
          </a:bodyPr>
          <a:lstStyle/>
          <a:p>
            <a:r>
              <a:rPr lang="en-US" sz="3200" b="1" spc="300" dirty="0">
                <a:latin typeface="Raleway" panose="020B0503030101060003" pitchFamily="34" charset="0"/>
              </a:rPr>
              <a:t>DIFERENCIAS ENTRE DISEÑO TRADICIONAL Y DT</a:t>
            </a:r>
            <a:endParaRPr lang="es-AR" sz="3200" b="1" spc="300" dirty="0">
              <a:latin typeface="Raleway" panose="020B0503030101060003" pitchFamily="34" charset="0"/>
            </a:endParaRPr>
          </a:p>
        </p:txBody>
      </p:sp>
      <p:sp>
        <p:nvSpPr>
          <p:cNvPr id="10" name="TextBox 9">
            <a:extLst>
              <a:ext uri="{FF2B5EF4-FFF2-40B4-BE49-F238E27FC236}">
                <a16:creationId xmlns:a16="http://schemas.microsoft.com/office/drawing/2014/main" id="{628DD575-4E5C-4C41-AB2B-78A3606465F2}"/>
              </a:ext>
            </a:extLst>
          </p:cNvPr>
          <p:cNvSpPr txBox="1"/>
          <p:nvPr/>
        </p:nvSpPr>
        <p:spPr>
          <a:xfrm>
            <a:off x="977508" y="1735902"/>
            <a:ext cx="10117212" cy="3139321"/>
          </a:xfrm>
          <a:prstGeom prst="rect">
            <a:avLst/>
          </a:prstGeom>
          <a:noFill/>
        </p:spPr>
        <p:txBody>
          <a:bodyPr wrap="square" rtlCol="0">
            <a:spAutoFit/>
          </a:bodyPr>
          <a:lstStyle/>
          <a:p>
            <a:r>
              <a:rPr lang="es-AR" b="1" dirty="0">
                <a:solidFill>
                  <a:schemeClr val="bg2">
                    <a:lumMod val="75000"/>
                    <a:lumOff val="25000"/>
                  </a:schemeClr>
                </a:solidFill>
              </a:rPr>
              <a:t>Diseño tradicional</a:t>
            </a:r>
            <a:r>
              <a:rPr lang="es-AR" dirty="0">
                <a:solidFill>
                  <a:schemeClr val="bg2">
                    <a:lumMod val="75000"/>
                    <a:lumOff val="25000"/>
                  </a:schemeClr>
                </a:solidFill>
              </a:rPr>
              <a:t> busca evitar el fallo, está basado el conocimiento experto, su análisis es riguroso y su premisa es que si el producto se construye en base a sus requerimientos entonces está terminado.</a:t>
            </a:r>
          </a:p>
          <a:p>
            <a:endParaRPr lang="es-AR" dirty="0">
              <a:solidFill>
                <a:schemeClr val="bg2">
                  <a:lumMod val="75000"/>
                  <a:lumOff val="25000"/>
                </a:schemeClr>
              </a:solidFill>
            </a:endParaRPr>
          </a:p>
          <a:p>
            <a:r>
              <a:rPr lang="es-AR" b="1" dirty="0">
                <a:solidFill>
                  <a:schemeClr val="bg2">
                    <a:lumMod val="75000"/>
                    <a:lumOff val="25000"/>
                  </a:schemeClr>
                </a:solidFill>
              </a:rPr>
              <a:t>Design </a:t>
            </a:r>
            <a:r>
              <a:rPr lang="es-AR" b="1" dirty="0" err="1">
                <a:solidFill>
                  <a:schemeClr val="bg2">
                    <a:lumMod val="75000"/>
                    <a:lumOff val="25000"/>
                  </a:schemeClr>
                </a:solidFill>
              </a:rPr>
              <a:t>thinking</a:t>
            </a:r>
            <a:r>
              <a:rPr lang="es-AR" dirty="0">
                <a:solidFill>
                  <a:schemeClr val="bg2">
                    <a:lumMod val="75000"/>
                    <a:lumOff val="25000"/>
                  </a:schemeClr>
                </a:solidFill>
              </a:rPr>
              <a:t> se aprende del ensayo y error, mira el fallo temprano, tiene trabajo de campo, realiza las preguntas correctas y tiene una inmersión profunda en el cliente.</a:t>
            </a:r>
          </a:p>
          <a:p>
            <a:endParaRPr lang="es-AR" dirty="0">
              <a:solidFill>
                <a:schemeClr val="bg2">
                  <a:lumMod val="75000"/>
                  <a:lumOff val="25000"/>
                </a:schemeClr>
              </a:solidFill>
            </a:endParaRPr>
          </a:p>
          <a:p>
            <a:endParaRPr lang="es-AR" dirty="0">
              <a:solidFill>
                <a:schemeClr val="bg2">
                  <a:lumMod val="75000"/>
                  <a:lumOff val="25000"/>
                </a:schemeClr>
              </a:solidFill>
            </a:endParaRPr>
          </a:p>
          <a:p>
            <a:r>
              <a:rPr lang="es-AR" b="1" dirty="0">
                <a:solidFill>
                  <a:schemeClr val="bg2">
                    <a:lumMod val="75000"/>
                    <a:lumOff val="25000"/>
                  </a:schemeClr>
                </a:solidFill>
              </a:rPr>
              <a:t>Scrum </a:t>
            </a:r>
            <a:r>
              <a:rPr lang="es-AR" dirty="0">
                <a:solidFill>
                  <a:schemeClr val="bg2">
                    <a:lumMod val="75000"/>
                    <a:lumOff val="25000"/>
                  </a:schemeClr>
                </a:solidFill>
              </a:rPr>
              <a:t>busca organizar y contener el desenfoque en el plan de acción, mientras que </a:t>
            </a:r>
            <a:r>
              <a:rPr lang="es-AR" b="1" dirty="0">
                <a:solidFill>
                  <a:schemeClr val="bg2">
                    <a:lumMod val="75000"/>
                    <a:lumOff val="25000"/>
                  </a:schemeClr>
                </a:solidFill>
              </a:rPr>
              <a:t>Design Thinking </a:t>
            </a:r>
            <a:r>
              <a:rPr lang="es-AR" dirty="0">
                <a:solidFill>
                  <a:schemeClr val="bg2">
                    <a:lumMod val="75000"/>
                    <a:lumOff val="25000"/>
                  </a:schemeClr>
                </a:solidFill>
              </a:rPr>
              <a:t>se centra en un proceso de creación conjunta que busca en el resultado final resolver las verdaderas necesidades de los usuarios.</a:t>
            </a:r>
          </a:p>
        </p:txBody>
      </p:sp>
    </p:spTree>
    <p:extLst>
      <p:ext uri="{BB962C8B-B14F-4D97-AF65-F5344CB8AC3E}">
        <p14:creationId xmlns:p14="http://schemas.microsoft.com/office/powerpoint/2010/main" val="396132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5</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7" y="220533"/>
            <a:ext cx="9089601" cy="584775"/>
          </a:xfrm>
          <a:prstGeom prst="rect">
            <a:avLst/>
          </a:prstGeom>
          <a:noFill/>
        </p:spPr>
        <p:txBody>
          <a:bodyPr wrap="square" rtlCol="0">
            <a:spAutoFit/>
          </a:bodyPr>
          <a:lstStyle/>
          <a:p>
            <a:r>
              <a:rPr lang="en-US" sz="3200" b="1" spc="300" dirty="0">
                <a:latin typeface="Raleway" panose="020B0503030101060003" pitchFamily="34" charset="0"/>
              </a:rPr>
              <a:t>PASOS DEL DESIGN THINKING</a:t>
            </a:r>
            <a:endParaRPr lang="es-AR" sz="3200" b="1" spc="300" dirty="0">
              <a:latin typeface="Raleway" panose="020B0503030101060003" pitchFamily="34" charset="0"/>
            </a:endParaRPr>
          </a:p>
        </p:txBody>
      </p:sp>
      <p:sp>
        <p:nvSpPr>
          <p:cNvPr id="5" name="Hexagon 4">
            <a:extLst>
              <a:ext uri="{FF2B5EF4-FFF2-40B4-BE49-F238E27FC236}">
                <a16:creationId xmlns:a16="http://schemas.microsoft.com/office/drawing/2014/main" id="{08DA11EA-65E5-4B78-9541-B8218EA81828}"/>
              </a:ext>
            </a:extLst>
          </p:cNvPr>
          <p:cNvSpPr/>
          <p:nvPr/>
        </p:nvSpPr>
        <p:spPr>
          <a:xfrm>
            <a:off x="1367246" y="2046514"/>
            <a:ext cx="1820091" cy="1569044"/>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Hexagon 10">
            <a:extLst>
              <a:ext uri="{FF2B5EF4-FFF2-40B4-BE49-F238E27FC236}">
                <a16:creationId xmlns:a16="http://schemas.microsoft.com/office/drawing/2014/main" id="{3B487299-7094-4502-BA73-8FAF229BD2F2}"/>
              </a:ext>
            </a:extLst>
          </p:cNvPr>
          <p:cNvSpPr/>
          <p:nvPr/>
        </p:nvSpPr>
        <p:spPr>
          <a:xfrm>
            <a:off x="2904309" y="2873847"/>
            <a:ext cx="1820091" cy="1569044"/>
          </a:xfrm>
          <a:prstGeom prst="hexagon">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Hexagon 11">
            <a:extLst>
              <a:ext uri="{FF2B5EF4-FFF2-40B4-BE49-F238E27FC236}">
                <a16:creationId xmlns:a16="http://schemas.microsoft.com/office/drawing/2014/main" id="{13AB68DE-E657-4103-B5EB-38EB6895DD73}"/>
              </a:ext>
            </a:extLst>
          </p:cNvPr>
          <p:cNvSpPr/>
          <p:nvPr/>
        </p:nvSpPr>
        <p:spPr>
          <a:xfrm>
            <a:off x="4441372" y="2054474"/>
            <a:ext cx="1820091" cy="1569044"/>
          </a:xfrm>
          <a:prstGeom prst="hexagon">
            <a:avLst/>
          </a:prstGeom>
          <a:solidFill>
            <a:srgbClr val="F6B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Hexagon 12">
            <a:extLst>
              <a:ext uri="{FF2B5EF4-FFF2-40B4-BE49-F238E27FC236}">
                <a16:creationId xmlns:a16="http://schemas.microsoft.com/office/drawing/2014/main" id="{672D0024-E7ED-496A-9FC5-9BFB930E89AC}"/>
              </a:ext>
            </a:extLst>
          </p:cNvPr>
          <p:cNvSpPr/>
          <p:nvPr/>
        </p:nvSpPr>
        <p:spPr>
          <a:xfrm>
            <a:off x="5978435" y="2888405"/>
            <a:ext cx="1820091" cy="1569044"/>
          </a:xfrm>
          <a:prstGeom prst="hexag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Hexagon 13">
            <a:extLst>
              <a:ext uri="{FF2B5EF4-FFF2-40B4-BE49-F238E27FC236}">
                <a16:creationId xmlns:a16="http://schemas.microsoft.com/office/drawing/2014/main" id="{B44CA6C1-332A-47CD-AC33-1EE17614924B}"/>
              </a:ext>
            </a:extLst>
          </p:cNvPr>
          <p:cNvSpPr/>
          <p:nvPr/>
        </p:nvSpPr>
        <p:spPr>
          <a:xfrm>
            <a:off x="7502436" y="3725341"/>
            <a:ext cx="1820091" cy="1569044"/>
          </a:xfrm>
          <a:prstGeom prst="hexagon">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TextBox 14">
            <a:extLst>
              <a:ext uri="{FF2B5EF4-FFF2-40B4-BE49-F238E27FC236}">
                <a16:creationId xmlns:a16="http://schemas.microsoft.com/office/drawing/2014/main" id="{C2747F98-B50E-431E-B247-DC30EB9CF99D}"/>
              </a:ext>
            </a:extLst>
          </p:cNvPr>
          <p:cNvSpPr txBox="1"/>
          <p:nvPr/>
        </p:nvSpPr>
        <p:spPr>
          <a:xfrm>
            <a:off x="7637388" y="4275752"/>
            <a:ext cx="1550186" cy="400110"/>
          </a:xfrm>
          <a:prstGeom prst="rect">
            <a:avLst/>
          </a:prstGeom>
          <a:noFill/>
        </p:spPr>
        <p:txBody>
          <a:bodyPr wrap="square" rtlCol="0">
            <a:spAutoFit/>
          </a:bodyPr>
          <a:lstStyle/>
          <a:p>
            <a:pPr algn="ctr"/>
            <a:r>
              <a:rPr lang="en-US" sz="2000" b="1" dirty="0"/>
              <a:t>PROBAR</a:t>
            </a:r>
            <a:endParaRPr lang="es-AR" sz="2000" b="1" dirty="0"/>
          </a:p>
        </p:txBody>
      </p:sp>
      <p:sp>
        <p:nvSpPr>
          <p:cNvPr id="16" name="TextBox 15">
            <a:extLst>
              <a:ext uri="{FF2B5EF4-FFF2-40B4-BE49-F238E27FC236}">
                <a16:creationId xmlns:a16="http://schemas.microsoft.com/office/drawing/2014/main" id="{88323902-027F-47AF-BF87-FDC709282680}"/>
              </a:ext>
            </a:extLst>
          </p:cNvPr>
          <p:cNvSpPr txBox="1"/>
          <p:nvPr/>
        </p:nvSpPr>
        <p:spPr>
          <a:xfrm>
            <a:off x="3039261" y="3448519"/>
            <a:ext cx="1550186" cy="400110"/>
          </a:xfrm>
          <a:prstGeom prst="rect">
            <a:avLst/>
          </a:prstGeom>
          <a:noFill/>
        </p:spPr>
        <p:txBody>
          <a:bodyPr wrap="square" rtlCol="0">
            <a:spAutoFit/>
          </a:bodyPr>
          <a:lstStyle/>
          <a:p>
            <a:pPr algn="ctr"/>
            <a:r>
              <a:rPr lang="en-US" sz="2000" b="1" dirty="0"/>
              <a:t>DEFINIR</a:t>
            </a:r>
            <a:endParaRPr lang="es-AR" sz="2000" b="1" dirty="0"/>
          </a:p>
        </p:txBody>
      </p:sp>
      <p:sp>
        <p:nvSpPr>
          <p:cNvPr id="17" name="TextBox 16">
            <a:extLst>
              <a:ext uri="{FF2B5EF4-FFF2-40B4-BE49-F238E27FC236}">
                <a16:creationId xmlns:a16="http://schemas.microsoft.com/office/drawing/2014/main" id="{60D327A8-6B6F-422A-9A18-ABCA8F0CA3D3}"/>
              </a:ext>
            </a:extLst>
          </p:cNvPr>
          <p:cNvSpPr txBox="1"/>
          <p:nvPr/>
        </p:nvSpPr>
        <p:spPr>
          <a:xfrm>
            <a:off x="4576325" y="2607863"/>
            <a:ext cx="1550186" cy="400110"/>
          </a:xfrm>
          <a:prstGeom prst="rect">
            <a:avLst/>
          </a:prstGeom>
          <a:noFill/>
        </p:spPr>
        <p:txBody>
          <a:bodyPr wrap="square" rtlCol="0">
            <a:spAutoFit/>
          </a:bodyPr>
          <a:lstStyle/>
          <a:p>
            <a:pPr algn="ctr"/>
            <a:r>
              <a:rPr lang="en-US" sz="2000" b="1" dirty="0"/>
              <a:t>IDEAR</a:t>
            </a:r>
            <a:endParaRPr lang="es-AR" sz="2000" b="1" dirty="0"/>
          </a:p>
        </p:txBody>
      </p:sp>
      <p:sp>
        <p:nvSpPr>
          <p:cNvPr id="18" name="TextBox 17">
            <a:extLst>
              <a:ext uri="{FF2B5EF4-FFF2-40B4-BE49-F238E27FC236}">
                <a16:creationId xmlns:a16="http://schemas.microsoft.com/office/drawing/2014/main" id="{6CF97F90-333D-4FC7-BBFF-B7E8C2821398}"/>
              </a:ext>
            </a:extLst>
          </p:cNvPr>
          <p:cNvSpPr txBox="1"/>
          <p:nvPr/>
        </p:nvSpPr>
        <p:spPr>
          <a:xfrm>
            <a:off x="5673634" y="3448519"/>
            <a:ext cx="2429691" cy="400110"/>
          </a:xfrm>
          <a:prstGeom prst="rect">
            <a:avLst/>
          </a:prstGeom>
          <a:noFill/>
        </p:spPr>
        <p:txBody>
          <a:bodyPr wrap="square" rtlCol="0">
            <a:spAutoFit/>
          </a:bodyPr>
          <a:lstStyle/>
          <a:p>
            <a:pPr algn="ctr"/>
            <a:r>
              <a:rPr lang="en-US" sz="2000" b="1" dirty="0"/>
              <a:t>PROTOTIPAR</a:t>
            </a:r>
            <a:endParaRPr lang="es-AR" sz="2000" b="1" dirty="0"/>
          </a:p>
        </p:txBody>
      </p:sp>
      <p:sp>
        <p:nvSpPr>
          <p:cNvPr id="19" name="TextBox 18">
            <a:extLst>
              <a:ext uri="{FF2B5EF4-FFF2-40B4-BE49-F238E27FC236}">
                <a16:creationId xmlns:a16="http://schemas.microsoft.com/office/drawing/2014/main" id="{0927E13E-BB2E-4958-8552-61F49C115D23}"/>
              </a:ext>
            </a:extLst>
          </p:cNvPr>
          <p:cNvSpPr txBox="1"/>
          <p:nvPr/>
        </p:nvSpPr>
        <p:spPr>
          <a:xfrm>
            <a:off x="1475982" y="2630981"/>
            <a:ext cx="1550186" cy="400110"/>
          </a:xfrm>
          <a:prstGeom prst="rect">
            <a:avLst/>
          </a:prstGeom>
          <a:noFill/>
        </p:spPr>
        <p:txBody>
          <a:bodyPr wrap="square" rtlCol="0">
            <a:spAutoFit/>
          </a:bodyPr>
          <a:lstStyle/>
          <a:p>
            <a:pPr algn="ctr"/>
            <a:r>
              <a:rPr lang="en-US" sz="2000" b="1" dirty="0"/>
              <a:t>EMPATIZAR</a:t>
            </a:r>
            <a:endParaRPr lang="es-AR" sz="2000" b="1" dirty="0"/>
          </a:p>
        </p:txBody>
      </p:sp>
    </p:spTree>
    <p:extLst>
      <p:ext uri="{BB962C8B-B14F-4D97-AF65-F5344CB8AC3E}">
        <p14:creationId xmlns:p14="http://schemas.microsoft.com/office/powerpoint/2010/main" val="3673212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6</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PASOS DEL DESIGN THINKING</a:t>
            </a:r>
            <a:endParaRPr lang="es-AR" sz="3200" b="1" spc="300" dirty="0">
              <a:latin typeface="Raleway" panose="020B0503030101060003" pitchFamily="34" charset="0"/>
            </a:endParaRPr>
          </a:p>
        </p:txBody>
      </p:sp>
      <p:pic>
        <p:nvPicPr>
          <p:cNvPr id="5" name="Picture 4">
            <a:extLst>
              <a:ext uri="{FF2B5EF4-FFF2-40B4-BE49-F238E27FC236}">
                <a16:creationId xmlns:a16="http://schemas.microsoft.com/office/drawing/2014/main" id="{8D8CF39B-4373-446D-977D-9C57BD621CC3}"/>
              </a:ext>
            </a:extLst>
          </p:cNvPr>
          <p:cNvPicPr>
            <a:picLocks noChangeAspect="1"/>
          </p:cNvPicPr>
          <p:nvPr/>
        </p:nvPicPr>
        <p:blipFill>
          <a:blip r:embed="rId3"/>
          <a:stretch>
            <a:fillRect/>
          </a:stretch>
        </p:blipFill>
        <p:spPr>
          <a:xfrm>
            <a:off x="1773840" y="1295398"/>
            <a:ext cx="8644320" cy="4872253"/>
          </a:xfrm>
          <a:prstGeom prst="rect">
            <a:avLst/>
          </a:prstGeom>
        </p:spPr>
      </p:pic>
    </p:spTree>
    <p:extLst>
      <p:ext uri="{BB962C8B-B14F-4D97-AF65-F5344CB8AC3E}">
        <p14:creationId xmlns:p14="http://schemas.microsoft.com/office/powerpoint/2010/main" val="293158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7</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extBox 9">
            <a:extLst>
              <a:ext uri="{FF2B5EF4-FFF2-40B4-BE49-F238E27FC236}">
                <a16:creationId xmlns:a16="http://schemas.microsoft.com/office/drawing/2014/main" id="{628DD575-4E5C-4C41-AB2B-78A3606465F2}"/>
              </a:ext>
            </a:extLst>
          </p:cNvPr>
          <p:cNvSpPr txBox="1"/>
          <p:nvPr/>
        </p:nvSpPr>
        <p:spPr>
          <a:xfrm>
            <a:off x="977509" y="4220195"/>
            <a:ext cx="9700822" cy="1200329"/>
          </a:xfrm>
          <a:prstGeom prst="rect">
            <a:avLst/>
          </a:prstGeom>
          <a:noFill/>
        </p:spPr>
        <p:txBody>
          <a:bodyPr wrap="square" rtlCol="0">
            <a:spAutoFit/>
          </a:bodyPr>
          <a:lstStyle/>
          <a:p>
            <a:r>
              <a:rPr lang="es-AR" dirty="0">
                <a:solidFill>
                  <a:schemeClr val="bg2">
                    <a:lumMod val="75000"/>
                    <a:lumOff val="25000"/>
                  </a:schemeClr>
                </a:solidFill>
              </a:rPr>
              <a:t>Al diseñar para otros, el primer paso será ponernos en sus zapatos, entender qué es verdaderamente relevante para ellos. Cuánto más capaces seamos de ponernos en su lugar, más facilidades tendremos para comprenderlos e </a:t>
            </a:r>
            <a:r>
              <a:rPr lang="es-AR" b="1" dirty="0">
                <a:solidFill>
                  <a:schemeClr val="bg2">
                    <a:lumMod val="75000"/>
                    <a:lumOff val="25000"/>
                  </a:schemeClr>
                </a:solidFill>
              </a:rPr>
              <a:t>identificar aquello que puede aportarles valor de manera genuina.</a:t>
            </a:r>
          </a:p>
        </p:txBody>
      </p:sp>
      <p:sp>
        <p:nvSpPr>
          <p:cNvPr id="11" name="Hexagon 10">
            <a:extLst>
              <a:ext uri="{FF2B5EF4-FFF2-40B4-BE49-F238E27FC236}">
                <a16:creationId xmlns:a16="http://schemas.microsoft.com/office/drawing/2014/main" id="{1BFCF77A-51C9-4E29-BBF8-D8839CD67D9B}"/>
              </a:ext>
            </a:extLst>
          </p:cNvPr>
          <p:cNvSpPr/>
          <p:nvPr/>
        </p:nvSpPr>
        <p:spPr>
          <a:xfrm>
            <a:off x="977509" y="2054685"/>
            <a:ext cx="1820091" cy="1569044"/>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TextBox 11">
            <a:extLst>
              <a:ext uri="{FF2B5EF4-FFF2-40B4-BE49-F238E27FC236}">
                <a16:creationId xmlns:a16="http://schemas.microsoft.com/office/drawing/2014/main" id="{C588EEF9-5DDD-4234-94E2-FD0D3BC34CC4}"/>
              </a:ext>
            </a:extLst>
          </p:cNvPr>
          <p:cNvSpPr txBox="1"/>
          <p:nvPr/>
        </p:nvSpPr>
        <p:spPr>
          <a:xfrm>
            <a:off x="1086245" y="2639152"/>
            <a:ext cx="1550186" cy="400110"/>
          </a:xfrm>
          <a:prstGeom prst="rect">
            <a:avLst/>
          </a:prstGeom>
          <a:noFill/>
        </p:spPr>
        <p:txBody>
          <a:bodyPr wrap="square" rtlCol="0">
            <a:spAutoFit/>
          </a:bodyPr>
          <a:lstStyle/>
          <a:p>
            <a:pPr algn="ctr"/>
            <a:r>
              <a:rPr lang="en-US" sz="2000" b="1" dirty="0"/>
              <a:t>EMPATIZAR</a:t>
            </a:r>
            <a:endParaRPr lang="es-AR" sz="2000" b="1" dirty="0"/>
          </a:p>
        </p:txBody>
      </p:sp>
      <p:sp>
        <p:nvSpPr>
          <p:cNvPr id="13" name="TextBox 12">
            <a:extLst>
              <a:ext uri="{FF2B5EF4-FFF2-40B4-BE49-F238E27FC236}">
                <a16:creationId xmlns:a16="http://schemas.microsoft.com/office/drawing/2014/main" id="{FE8AE092-1F23-4242-8C54-478CED8A7933}"/>
              </a:ext>
            </a:extLst>
          </p:cNvPr>
          <p:cNvSpPr txBox="1"/>
          <p:nvPr/>
        </p:nvSpPr>
        <p:spPr>
          <a:xfrm>
            <a:off x="3312883" y="2637805"/>
            <a:ext cx="7896525" cy="369332"/>
          </a:xfrm>
          <a:prstGeom prst="rect">
            <a:avLst/>
          </a:prstGeom>
          <a:noFill/>
        </p:spPr>
        <p:txBody>
          <a:bodyPr wrap="square" rtlCol="0">
            <a:spAutoFit/>
          </a:bodyPr>
          <a:lstStyle/>
          <a:p>
            <a:r>
              <a:rPr lang="es-AR" dirty="0">
                <a:solidFill>
                  <a:schemeClr val="bg2">
                    <a:lumMod val="75000"/>
                    <a:lumOff val="25000"/>
                  </a:schemeClr>
                </a:solidFill>
              </a:rPr>
              <a:t>Empatía es cuando puedes sentir lo que otra persona está sintiendo.</a:t>
            </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EMPATIZAR</a:t>
            </a:r>
            <a:endParaRPr lang="es-AR" sz="3200" b="1" dirty="0"/>
          </a:p>
        </p:txBody>
      </p:sp>
    </p:spTree>
    <p:extLst>
      <p:ext uri="{BB962C8B-B14F-4D97-AF65-F5344CB8AC3E}">
        <p14:creationId xmlns:p14="http://schemas.microsoft.com/office/powerpoint/2010/main" val="3978839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8</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EMPATIZAR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842856" y="2627701"/>
            <a:ext cx="7896525" cy="369332"/>
          </a:xfrm>
          <a:prstGeom prst="rect">
            <a:avLst/>
          </a:prstGeom>
          <a:noFill/>
        </p:spPr>
        <p:txBody>
          <a:bodyPr wrap="square" rtlCol="0">
            <a:spAutoFit/>
          </a:bodyPr>
          <a:lstStyle/>
          <a:p>
            <a:r>
              <a:rPr lang="en-US" dirty="0">
                <a:solidFill>
                  <a:schemeClr val="tx2">
                    <a:lumMod val="75000"/>
                  </a:schemeClr>
                </a:solidFill>
              </a:rPr>
              <a:t>B</a:t>
            </a:r>
            <a:r>
              <a:rPr lang="es-AR" dirty="0">
                <a:solidFill>
                  <a:schemeClr val="tx2">
                    <a:lumMod val="75000"/>
                  </a:schemeClr>
                </a:solidFill>
              </a:rPr>
              <a:t>uscar </a:t>
            </a:r>
            <a:r>
              <a:rPr lang="es-AR" b="1" dirty="0">
                <a:solidFill>
                  <a:schemeClr val="tx2">
                    <a:lumMod val="75000"/>
                  </a:schemeClr>
                </a:solidFill>
              </a:rPr>
              <a:t>necesidades</a:t>
            </a:r>
            <a:r>
              <a:rPr lang="es-AR" dirty="0">
                <a:solidFill>
                  <a:schemeClr val="tx2">
                    <a:lumMod val="75000"/>
                  </a:schemeClr>
                </a:solidFill>
              </a:rPr>
              <a:t> no </a:t>
            </a:r>
            <a:r>
              <a:rPr lang="es-AR" b="1" dirty="0">
                <a:solidFill>
                  <a:schemeClr val="tx2">
                    <a:lumMod val="75000"/>
                  </a:schemeClr>
                </a:solidFill>
              </a:rPr>
              <a:t>soluciones.</a:t>
            </a:r>
          </a:p>
        </p:txBody>
      </p:sp>
      <p:pic>
        <p:nvPicPr>
          <p:cNvPr id="5" name="Picture 4">
            <a:extLst>
              <a:ext uri="{FF2B5EF4-FFF2-40B4-BE49-F238E27FC236}">
                <a16:creationId xmlns:a16="http://schemas.microsoft.com/office/drawing/2014/main" id="{FEAE92C9-9CB9-4F0E-B444-A2836359C84C}"/>
              </a:ext>
            </a:extLst>
          </p:cNvPr>
          <p:cNvPicPr>
            <a:picLocks noChangeAspect="1"/>
          </p:cNvPicPr>
          <p:nvPr/>
        </p:nvPicPr>
        <p:blipFill>
          <a:blip r:embed="rId3"/>
          <a:stretch>
            <a:fillRect/>
          </a:stretch>
        </p:blipFill>
        <p:spPr>
          <a:xfrm rot="16200000">
            <a:off x="4723461" y="1303004"/>
            <a:ext cx="1832082" cy="1832082"/>
          </a:xfrm>
          <a:prstGeom prst="rect">
            <a:avLst/>
          </a:prstGeom>
        </p:spPr>
      </p:pic>
      <p:sp>
        <p:nvSpPr>
          <p:cNvPr id="11" name="TextBox 10">
            <a:extLst>
              <a:ext uri="{FF2B5EF4-FFF2-40B4-BE49-F238E27FC236}">
                <a16:creationId xmlns:a16="http://schemas.microsoft.com/office/drawing/2014/main" id="{8737B7A1-EECB-46EB-AF85-1B1469F7C080}"/>
              </a:ext>
            </a:extLst>
          </p:cNvPr>
          <p:cNvSpPr txBox="1"/>
          <p:nvPr/>
        </p:nvSpPr>
        <p:spPr>
          <a:xfrm>
            <a:off x="182880" y="1754046"/>
            <a:ext cx="4060521" cy="584775"/>
          </a:xfrm>
          <a:prstGeom prst="rect">
            <a:avLst/>
          </a:prstGeom>
          <a:noFill/>
        </p:spPr>
        <p:txBody>
          <a:bodyPr wrap="square" rtlCol="0">
            <a:spAutoFit/>
          </a:bodyPr>
          <a:lstStyle/>
          <a:p>
            <a:pPr algn="ctr"/>
            <a:r>
              <a:rPr lang="en-US" sz="3200" b="1" dirty="0">
                <a:solidFill>
                  <a:schemeClr val="bg2">
                    <a:lumMod val="75000"/>
                    <a:lumOff val="25000"/>
                  </a:schemeClr>
                </a:solidFill>
              </a:rPr>
              <a:t>NEEDFINDING</a:t>
            </a:r>
            <a:endParaRPr lang="es-AR" sz="3200" b="1" dirty="0">
              <a:solidFill>
                <a:schemeClr val="bg2">
                  <a:lumMod val="75000"/>
                  <a:lumOff val="25000"/>
                </a:schemeClr>
              </a:solidFill>
            </a:endParaRPr>
          </a:p>
        </p:txBody>
      </p:sp>
      <p:pic>
        <p:nvPicPr>
          <p:cNvPr id="19" name="Picture 18">
            <a:extLst>
              <a:ext uri="{FF2B5EF4-FFF2-40B4-BE49-F238E27FC236}">
                <a16:creationId xmlns:a16="http://schemas.microsoft.com/office/drawing/2014/main" id="{69608C85-6C11-4B86-9986-BFAB8E353801}"/>
              </a:ext>
            </a:extLst>
          </p:cNvPr>
          <p:cNvPicPr>
            <a:picLocks noChangeAspect="1"/>
          </p:cNvPicPr>
          <p:nvPr/>
        </p:nvPicPr>
        <p:blipFill>
          <a:blip r:embed="rId4"/>
          <a:stretch>
            <a:fillRect/>
          </a:stretch>
        </p:blipFill>
        <p:spPr>
          <a:xfrm>
            <a:off x="9326819" y="3135086"/>
            <a:ext cx="2413667" cy="2348128"/>
          </a:xfrm>
          <a:prstGeom prst="rect">
            <a:avLst/>
          </a:prstGeom>
        </p:spPr>
      </p:pic>
      <p:sp>
        <p:nvSpPr>
          <p:cNvPr id="20" name="TextBox 19">
            <a:extLst>
              <a:ext uri="{FF2B5EF4-FFF2-40B4-BE49-F238E27FC236}">
                <a16:creationId xmlns:a16="http://schemas.microsoft.com/office/drawing/2014/main" id="{102CB358-5978-4800-8178-54217CAED958}"/>
              </a:ext>
            </a:extLst>
          </p:cNvPr>
          <p:cNvSpPr txBox="1"/>
          <p:nvPr/>
        </p:nvSpPr>
        <p:spPr>
          <a:xfrm>
            <a:off x="842855" y="3515573"/>
            <a:ext cx="7761213" cy="2585323"/>
          </a:xfrm>
          <a:prstGeom prst="rect">
            <a:avLst/>
          </a:prstGeom>
          <a:noFill/>
        </p:spPr>
        <p:txBody>
          <a:bodyPr wrap="square" rtlCol="0">
            <a:spAutoFit/>
          </a:bodyPr>
          <a:lstStyle/>
          <a:p>
            <a:r>
              <a:rPr lang="en-US" dirty="0">
                <a:solidFill>
                  <a:schemeClr val="tx2">
                    <a:lumMod val="75000"/>
                  </a:schemeClr>
                </a:solidFill>
              </a:rPr>
              <a:t>Buscar más allá de la solución inmediata a un problema.</a:t>
            </a:r>
          </a:p>
          <a:p>
            <a:endParaRPr lang="en-US" dirty="0">
              <a:solidFill>
                <a:schemeClr val="tx2">
                  <a:lumMod val="75000"/>
                </a:schemeClr>
              </a:solidFill>
            </a:endParaRPr>
          </a:p>
          <a:p>
            <a:endParaRPr lang="en-US" dirty="0">
              <a:solidFill>
                <a:schemeClr val="tx2">
                  <a:lumMod val="75000"/>
                </a:schemeClr>
              </a:solidFill>
            </a:endParaRPr>
          </a:p>
          <a:p>
            <a:r>
              <a:rPr lang="en-US" dirty="0">
                <a:solidFill>
                  <a:schemeClr val="tx2">
                    <a:lumMod val="75000"/>
                  </a:schemeClr>
                </a:solidFill>
              </a:rPr>
              <a:t>Las necesidades son difíciles de detectar.</a:t>
            </a:r>
            <a:br>
              <a:rPr lang="en-US" dirty="0">
                <a:solidFill>
                  <a:schemeClr val="tx2">
                    <a:lumMod val="75000"/>
                  </a:schemeClr>
                </a:solidFill>
              </a:rPr>
            </a:br>
            <a:r>
              <a:rPr lang="en-US" dirty="0">
                <a:solidFill>
                  <a:schemeClr val="tx2">
                    <a:lumMod val="75000"/>
                  </a:schemeClr>
                </a:solidFill>
              </a:rPr>
              <a:t>Descubrir necesidades de manera confiable requiere de un esfuerzo de investigación organizado.</a:t>
            </a:r>
          </a:p>
          <a:p>
            <a:endParaRPr lang="en-US" dirty="0">
              <a:solidFill>
                <a:schemeClr val="tx2">
                  <a:lumMod val="75000"/>
                </a:schemeClr>
              </a:solidFill>
            </a:endParaRPr>
          </a:p>
          <a:p>
            <a:endParaRPr lang="en-US" dirty="0">
              <a:solidFill>
                <a:schemeClr val="tx2">
                  <a:lumMod val="75000"/>
                </a:schemeClr>
              </a:solidFill>
            </a:endParaRPr>
          </a:p>
          <a:p>
            <a:endParaRPr lang="es-AR" b="1" dirty="0">
              <a:solidFill>
                <a:schemeClr val="tx2">
                  <a:lumMod val="75000"/>
                </a:schemeClr>
              </a:solidFill>
            </a:endParaRPr>
          </a:p>
        </p:txBody>
      </p:sp>
    </p:spTree>
    <p:extLst>
      <p:ext uri="{BB962C8B-B14F-4D97-AF65-F5344CB8AC3E}">
        <p14:creationId xmlns:p14="http://schemas.microsoft.com/office/powerpoint/2010/main" val="4219768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9</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1" name="CuadroTexto 8">
            <a:extLst>
              <a:ext uri="{FF2B5EF4-FFF2-40B4-BE49-F238E27FC236}">
                <a16:creationId xmlns:a16="http://schemas.microsoft.com/office/drawing/2014/main" id="{432804CB-1DC6-4096-91CF-5BAD445435A8}"/>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EMPATIZAR</a:t>
            </a:r>
            <a:endParaRPr lang="es-AR" sz="3200" b="1" dirty="0"/>
          </a:p>
        </p:txBody>
      </p:sp>
      <p:sp>
        <p:nvSpPr>
          <p:cNvPr id="12" name="TextBox 11">
            <a:extLst>
              <a:ext uri="{FF2B5EF4-FFF2-40B4-BE49-F238E27FC236}">
                <a16:creationId xmlns:a16="http://schemas.microsoft.com/office/drawing/2014/main" id="{3262D962-6FA6-439B-84C4-C06FD8DEBBC4}"/>
              </a:ext>
            </a:extLst>
          </p:cNvPr>
          <p:cNvSpPr txBox="1"/>
          <p:nvPr/>
        </p:nvSpPr>
        <p:spPr>
          <a:xfrm>
            <a:off x="182880" y="1754046"/>
            <a:ext cx="4060521" cy="584775"/>
          </a:xfrm>
          <a:prstGeom prst="rect">
            <a:avLst/>
          </a:prstGeom>
          <a:noFill/>
        </p:spPr>
        <p:txBody>
          <a:bodyPr wrap="square" rtlCol="0">
            <a:spAutoFit/>
          </a:bodyPr>
          <a:lstStyle/>
          <a:p>
            <a:pPr algn="ctr"/>
            <a:r>
              <a:rPr lang="en-US" sz="3200" b="1" dirty="0">
                <a:solidFill>
                  <a:schemeClr val="bg2">
                    <a:lumMod val="75000"/>
                    <a:lumOff val="25000"/>
                  </a:schemeClr>
                </a:solidFill>
              </a:rPr>
              <a:t>REUNIR DATOS</a:t>
            </a:r>
            <a:endParaRPr lang="es-AR" sz="3200" b="1" dirty="0">
              <a:solidFill>
                <a:schemeClr val="bg2">
                  <a:lumMod val="75000"/>
                  <a:lumOff val="25000"/>
                </a:schemeClr>
              </a:solidFill>
            </a:endParaRPr>
          </a:p>
        </p:txBody>
      </p:sp>
      <p:sp>
        <p:nvSpPr>
          <p:cNvPr id="4" name="TextBox 3">
            <a:extLst>
              <a:ext uri="{FF2B5EF4-FFF2-40B4-BE49-F238E27FC236}">
                <a16:creationId xmlns:a16="http://schemas.microsoft.com/office/drawing/2014/main" id="{1B7994D0-01F2-4DA5-87DC-ED5BFC9E4B3E}"/>
              </a:ext>
            </a:extLst>
          </p:cNvPr>
          <p:cNvSpPr txBox="1"/>
          <p:nvPr/>
        </p:nvSpPr>
        <p:spPr>
          <a:xfrm>
            <a:off x="977507" y="2717346"/>
            <a:ext cx="8403771" cy="369332"/>
          </a:xfrm>
          <a:prstGeom prst="rect">
            <a:avLst/>
          </a:prstGeom>
          <a:noFill/>
        </p:spPr>
        <p:txBody>
          <a:bodyPr wrap="square" rtlCol="0">
            <a:spAutoFit/>
          </a:bodyPr>
          <a:lstStyle/>
          <a:p>
            <a:r>
              <a:rPr lang="es-AR" dirty="0">
                <a:solidFill>
                  <a:schemeClr val="bg2">
                    <a:lumMod val="75000"/>
                    <a:lumOff val="25000"/>
                  </a:schemeClr>
                </a:solidFill>
              </a:rPr>
              <a:t>Un buen medio para recopilar información son las entrevistas</a:t>
            </a:r>
          </a:p>
        </p:txBody>
      </p:sp>
      <p:sp>
        <p:nvSpPr>
          <p:cNvPr id="15" name="TextBox 14">
            <a:extLst>
              <a:ext uri="{FF2B5EF4-FFF2-40B4-BE49-F238E27FC236}">
                <a16:creationId xmlns:a16="http://schemas.microsoft.com/office/drawing/2014/main" id="{11959B8C-49D6-4A7F-ABAB-4A439E1D31D9}"/>
              </a:ext>
            </a:extLst>
          </p:cNvPr>
          <p:cNvSpPr txBox="1"/>
          <p:nvPr/>
        </p:nvSpPr>
        <p:spPr>
          <a:xfrm>
            <a:off x="977506" y="3429000"/>
            <a:ext cx="8403771" cy="1354217"/>
          </a:xfrm>
          <a:prstGeom prst="rect">
            <a:avLst/>
          </a:prstGeom>
          <a:noFill/>
        </p:spPr>
        <p:txBody>
          <a:bodyPr wrap="square" rtlCol="0">
            <a:spAutoFit/>
          </a:bodyPr>
          <a:lstStyle/>
          <a:p>
            <a:r>
              <a:rPr lang="es-AR" b="1" dirty="0">
                <a:solidFill>
                  <a:schemeClr val="bg2">
                    <a:lumMod val="75000"/>
                    <a:lumOff val="25000"/>
                  </a:schemeClr>
                </a:solidFill>
              </a:rPr>
              <a:t>¿Quienes son tus usuarios extremos</a:t>
            </a:r>
            <a:r>
              <a:rPr lang="es-AR" sz="2000" b="1" dirty="0">
                <a:solidFill>
                  <a:schemeClr val="bg2">
                    <a:lumMod val="75000"/>
                    <a:lumOff val="25000"/>
                  </a:schemeClr>
                </a:solidFill>
              </a:rPr>
              <a:t>?</a:t>
            </a:r>
          </a:p>
          <a:p>
            <a:endParaRPr lang="es-AR" sz="600" dirty="0">
              <a:solidFill>
                <a:schemeClr val="bg2">
                  <a:lumMod val="75000"/>
                  <a:lumOff val="25000"/>
                </a:schemeClr>
              </a:solidFill>
            </a:endParaRPr>
          </a:p>
          <a:p>
            <a:r>
              <a:rPr lang="es-AR" dirty="0">
                <a:solidFill>
                  <a:schemeClr val="bg2">
                    <a:lumMod val="75000"/>
                    <a:lumOff val="25000"/>
                  </a:schemeClr>
                </a:solidFill>
              </a:rPr>
              <a:t>Son las personas que en algún aspecto de tu proyecto su comportamiento y sentimientos son amplificados. Ellos ayudan a identificar incongruencias o datos interesantes para desarrollar hallazgos.</a:t>
            </a:r>
          </a:p>
        </p:txBody>
      </p:sp>
      <p:pic>
        <p:nvPicPr>
          <p:cNvPr id="16" name="Picture 15">
            <a:extLst>
              <a:ext uri="{FF2B5EF4-FFF2-40B4-BE49-F238E27FC236}">
                <a16:creationId xmlns:a16="http://schemas.microsoft.com/office/drawing/2014/main" id="{B254F7C6-83F0-4F89-82E4-EE60EBD0A514}"/>
              </a:ext>
            </a:extLst>
          </p:cNvPr>
          <p:cNvPicPr>
            <a:picLocks noChangeAspect="1"/>
          </p:cNvPicPr>
          <p:nvPr/>
        </p:nvPicPr>
        <p:blipFill>
          <a:blip r:embed="rId3"/>
          <a:stretch>
            <a:fillRect/>
          </a:stretch>
        </p:blipFill>
        <p:spPr>
          <a:xfrm>
            <a:off x="8293690" y="1560325"/>
            <a:ext cx="4060521" cy="4997564"/>
          </a:xfrm>
          <a:prstGeom prst="rect">
            <a:avLst/>
          </a:prstGeom>
        </p:spPr>
      </p:pic>
      <p:sp>
        <p:nvSpPr>
          <p:cNvPr id="17" name="TextBox 16">
            <a:extLst>
              <a:ext uri="{FF2B5EF4-FFF2-40B4-BE49-F238E27FC236}">
                <a16:creationId xmlns:a16="http://schemas.microsoft.com/office/drawing/2014/main" id="{B995870B-E47A-4C53-842B-83191E01C61A}"/>
              </a:ext>
            </a:extLst>
          </p:cNvPr>
          <p:cNvSpPr txBox="1"/>
          <p:nvPr/>
        </p:nvSpPr>
        <p:spPr>
          <a:xfrm>
            <a:off x="977505" y="5134928"/>
            <a:ext cx="8403771" cy="369332"/>
          </a:xfrm>
          <a:prstGeom prst="rect">
            <a:avLst/>
          </a:prstGeom>
          <a:noFill/>
        </p:spPr>
        <p:txBody>
          <a:bodyPr wrap="square" rtlCol="0">
            <a:spAutoFit/>
          </a:bodyPr>
          <a:lstStyle/>
          <a:p>
            <a:r>
              <a:rPr lang="es-AR" dirty="0">
                <a:solidFill>
                  <a:schemeClr val="bg2">
                    <a:lumMod val="75000"/>
                    <a:lumOff val="25000"/>
                  </a:schemeClr>
                </a:solidFill>
              </a:rPr>
              <a:t>Prestar atención a lo que </a:t>
            </a:r>
            <a:r>
              <a:rPr lang="es-AR" b="1" dirty="0">
                <a:solidFill>
                  <a:schemeClr val="bg2">
                    <a:lumMod val="75000"/>
                    <a:lumOff val="25000"/>
                  </a:schemeClr>
                </a:solidFill>
              </a:rPr>
              <a:t>dice</a:t>
            </a:r>
            <a:r>
              <a:rPr lang="es-AR" dirty="0">
                <a:solidFill>
                  <a:schemeClr val="bg2">
                    <a:lumMod val="75000"/>
                    <a:lumOff val="25000"/>
                  </a:schemeClr>
                </a:solidFill>
              </a:rPr>
              <a:t>, </a:t>
            </a:r>
            <a:r>
              <a:rPr lang="es-AR" b="1" dirty="0">
                <a:solidFill>
                  <a:schemeClr val="bg2">
                    <a:lumMod val="75000"/>
                    <a:lumOff val="25000"/>
                  </a:schemeClr>
                </a:solidFill>
              </a:rPr>
              <a:t>hace</a:t>
            </a:r>
            <a:r>
              <a:rPr lang="es-AR" dirty="0">
                <a:solidFill>
                  <a:schemeClr val="bg2">
                    <a:lumMod val="75000"/>
                    <a:lumOff val="25000"/>
                  </a:schemeClr>
                </a:solidFill>
              </a:rPr>
              <a:t>, </a:t>
            </a:r>
            <a:r>
              <a:rPr lang="es-AR" b="1" dirty="0">
                <a:solidFill>
                  <a:schemeClr val="bg2">
                    <a:lumMod val="75000"/>
                    <a:lumOff val="25000"/>
                  </a:schemeClr>
                </a:solidFill>
              </a:rPr>
              <a:t>piensa</a:t>
            </a:r>
            <a:r>
              <a:rPr lang="es-AR" dirty="0">
                <a:solidFill>
                  <a:schemeClr val="bg2">
                    <a:lumMod val="75000"/>
                    <a:lumOff val="25000"/>
                  </a:schemeClr>
                </a:solidFill>
              </a:rPr>
              <a:t> y </a:t>
            </a:r>
            <a:r>
              <a:rPr lang="es-AR" b="1" dirty="0">
                <a:solidFill>
                  <a:schemeClr val="bg2">
                    <a:lumMod val="75000"/>
                    <a:lumOff val="25000"/>
                  </a:schemeClr>
                </a:solidFill>
              </a:rPr>
              <a:t>siente</a:t>
            </a:r>
            <a:r>
              <a:rPr lang="es-AR" dirty="0">
                <a:solidFill>
                  <a:schemeClr val="bg2">
                    <a:lumMod val="75000"/>
                    <a:lumOff val="25000"/>
                  </a:schemeClr>
                </a:solidFill>
              </a:rPr>
              <a:t>.</a:t>
            </a:r>
          </a:p>
        </p:txBody>
      </p:sp>
    </p:spTree>
    <p:extLst>
      <p:ext uri="{BB962C8B-B14F-4D97-AF65-F5344CB8AC3E}">
        <p14:creationId xmlns:p14="http://schemas.microsoft.com/office/powerpoint/2010/main" val="4281199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10</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extBox 9">
            <a:extLst>
              <a:ext uri="{FF2B5EF4-FFF2-40B4-BE49-F238E27FC236}">
                <a16:creationId xmlns:a16="http://schemas.microsoft.com/office/drawing/2014/main" id="{628DD575-4E5C-4C41-AB2B-78A3606465F2}"/>
              </a:ext>
            </a:extLst>
          </p:cNvPr>
          <p:cNvSpPr txBox="1"/>
          <p:nvPr/>
        </p:nvSpPr>
        <p:spPr>
          <a:xfrm>
            <a:off x="851564" y="2756354"/>
            <a:ext cx="4930927" cy="1477328"/>
          </a:xfrm>
          <a:prstGeom prst="rect">
            <a:avLst/>
          </a:prstGeom>
          <a:noFill/>
        </p:spPr>
        <p:txBody>
          <a:bodyPr wrap="square" rtlCol="0">
            <a:spAutoFit/>
          </a:bodyPr>
          <a:lstStyle/>
          <a:p>
            <a:r>
              <a:rPr lang="es-AR" dirty="0">
                <a:solidFill>
                  <a:schemeClr val="bg2">
                    <a:lumMod val="75000"/>
                    <a:lumOff val="25000"/>
                  </a:schemeClr>
                </a:solidFill>
              </a:rPr>
              <a:t>Hay que entender qué es importante y organizar los datos por afinidades, agrupando la información y encontrando relaciones.</a:t>
            </a:r>
          </a:p>
          <a:p>
            <a:endParaRPr lang="es-AR" dirty="0">
              <a:solidFill>
                <a:schemeClr val="bg2">
                  <a:lumMod val="75000"/>
                  <a:lumOff val="25000"/>
                </a:schemeClr>
              </a:solidFill>
            </a:endParaRPr>
          </a:p>
        </p:txBody>
      </p:sp>
      <p:sp>
        <p:nvSpPr>
          <p:cNvPr id="11" name="CuadroTexto 8">
            <a:extLst>
              <a:ext uri="{FF2B5EF4-FFF2-40B4-BE49-F238E27FC236}">
                <a16:creationId xmlns:a16="http://schemas.microsoft.com/office/drawing/2014/main" id="{FEF1755F-0A9D-4C63-AB48-0A1A47B73521}"/>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EMPATIZAR</a:t>
            </a:r>
            <a:endParaRPr lang="es-AR" sz="3200" b="1" dirty="0"/>
          </a:p>
        </p:txBody>
      </p:sp>
      <p:sp>
        <p:nvSpPr>
          <p:cNvPr id="12" name="TextBox 11">
            <a:extLst>
              <a:ext uri="{FF2B5EF4-FFF2-40B4-BE49-F238E27FC236}">
                <a16:creationId xmlns:a16="http://schemas.microsoft.com/office/drawing/2014/main" id="{0B34C018-7510-4BFA-B617-AD2B4FC45FA1}"/>
              </a:ext>
            </a:extLst>
          </p:cNvPr>
          <p:cNvSpPr txBox="1"/>
          <p:nvPr/>
        </p:nvSpPr>
        <p:spPr>
          <a:xfrm>
            <a:off x="452846" y="1756218"/>
            <a:ext cx="4060521" cy="584775"/>
          </a:xfrm>
          <a:prstGeom prst="rect">
            <a:avLst/>
          </a:prstGeom>
          <a:noFill/>
        </p:spPr>
        <p:txBody>
          <a:bodyPr wrap="square" rtlCol="0">
            <a:spAutoFit/>
          </a:bodyPr>
          <a:lstStyle/>
          <a:p>
            <a:pPr algn="ctr"/>
            <a:r>
              <a:rPr lang="en-US" sz="3200" b="1" dirty="0">
                <a:solidFill>
                  <a:schemeClr val="bg2">
                    <a:lumMod val="75000"/>
                    <a:lumOff val="25000"/>
                  </a:schemeClr>
                </a:solidFill>
              </a:rPr>
              <a:t>MAPA DE EMPATÍA</a:t>
            </a:r>
            <a:endParaRPr lang="es-AR" sz="3200" b="1" dirty="0">
              <a:solidFill>
                <a:schemeClr val="bg2">
                  <a:lumMod val="75000"/>
                  <a:lumOff val="25000"/>
                </a:schemeClr>
              </a:solidFill>
            </a:endParaRPr>
          </a:p>
        </p:txBody>
      </p:sp>
      <p:pic>
        <p:nvPicPr>
          <p:cNvPr id="5" name="Picture 4">
            <a:extLst>
              <a:ext uri="{FF2B5EF4-FFF2-40B4-BE49-F238E27FC236}">
                <a16:creationId xmlns:a16="http://schemas.microsoft.com/office/drawing/2014/main" id="{21EE2B3F-5E87-4308-952D-1B63492B9F2A}"/>
              </a:ext>
            </a:extLst>
          </p:cNvPr>
          <p:cNvPicPr>
            <a:picLocks noChangeAspect="1"/>
          </p:cNvPicPr>
          <p:nvPr/>
        </p:nvPicPr>
        <p:blipFill>
          <a:blip r:embed="rId3"/>
          <a:stretch>
            <a:fillRect/>
          </a:stretch>
        </p:blipFill>
        <p:spPr>
          <a:xfrm>
            <a:off x="5979703" y="1756218"/>
            <a:ext cx="5450880" cy="4060905"/>
          </a:xfrm>
          <a:prstGeom prst="rect">
            <a:avLst/>
          </a:prstGeom>
        </p:spPr>
      </p:pic>
      <p:sp>
        <p:nvSpPr>
          <p:cNvPr id="13" name="TextBox 12">
            <a:extLst>
              <a:ext uri="{FF2B5EF4-FFF2-40B4-BE49-F238E27FC236}">
                <a16:creationId xmlns:a16="http://schemas.microsoft.com/office/drawing/2014/main" id="{B241F997-11B5-4E4E-943B-5A1CE5C52A87}"/>
              </a:ext>
            </a:extLst>
          </p:cNvPr>
          <p:cNvSpPr txBox="1"/>
          <p:nvPr/>
        </p:nvSpPr>
        <p:spPr>
          <a:xfrm>
            <a:off x="851563" y="4216685"/>
            <a:ext cx="4930927" cy="1600438"/>
          </a:xfrm>
          <a:prstGeom prst="rect">
            <a:avLst/>
          </a:prstGeom>
          <a:noFill/>
        </p:spPr>
        <p:txBody>
          <a:bodyPr wrap="square" rtlCol="0">
            <a:spAutoFit/>
          </a:bodyPr>
          <a:lstStyle/>
          <a:p>
            <a:r>
              <a:rPr lang="es-AR" sz="1400" b="1" dirty="0">
                <a:solidFill>
                  <a:schemeClr val="bg2">
                    <a:lumMod val="75000"/>
                    <a:lumOff val="25000"/>
                  </a:schemeClr>
                </a:solidFill>
              </a:rPr>
              <a:t>Dice: </a:t>
            </a:r>
            <a:r>
              <a:rPr lang="es-AR" sz="1400" dirty="0">
                <a:solidFill>
                  <a:schemeClr val="bg2">
                    <a:lumMod val="75000"/>
                    <a:lumOff val="25000"/>
                  </a:schemeClr>
                </a:solidFill>
              </a:rPr>
              <a:t>Cuales son alguna de las definiciones o frases que te usuario dice?</a:t>
            </a:r>
          </a:p>
          <a:p>
            <a:r>
              <a:rPr lang="es-AR" sz="1400" b="1" dirty="0">
                <a:solidFill>
                  <a:schemeClr val="bg2">
                    <a:lumMod val="75000"/>
                    <a:lumOff val="25000"/>
                  </a:schemeClr>
                </a:solidFill>
              </a:rPr>
              <a:t>Hace: </a:t>
            </a:r>
            <a:r>
              <a:rPr lang="es-AR" sz="1400" dirty="0">
                <a:solidFill>
                  <a:schemeClr val="bg2">
                    <a:lumMod val="75000"/>
                    <a:lumOff val="25000"/>
                  </a:schemeClr>
                </a:solidFill>
              </a:rPr>
              <a:t>Que acciones y comportamientos notas en él?</a:t>
            </a:r>
          </a:p>
          <a:p>
            <a:r>
              <a:rPr lang="es-AR" sz="1400" b="1" dirty="0">
                <a:solidFill>
                  <a:schemeClr val="bg2">
                    <a:lumMod val="75000"/>
                    <a:lumOff val="25000"/>
                  </a:schemeClr>
                </a:solidFill>
              </a:rPr>
              <a:t>Piensa: </a:t>
            </a:r>
            <a:r>
              <a:rPr lang="es-AR" sz="1400" dirty="0">
                <a:solidFill>
                  <a:schemeClr val="bg2">
                    <a:lumMod val="75000"/>
                    <a:lumOff val="25000"/>
                  </a:schemeClr>
                </a:solidFill>
              </a:rPr>
              <a:t>Que podría estar pensando tu usuario? Que te dice eso acerca de lo que cree? </a:t>
            </a:r>
          </a:p>
          <a:p>
            <a:r>
              <a:rPr lang="es-AR" sz="1400" b="1" dirty="0">
                <a:solidFill>
                  <a:schemeClr val="bg2">
                    <a:lumMod val="75000"/>
                    <a:lumOff val="25000"/>
                  </a:schemeClr>
                </a:solidFill>
              </a:rPr>
              <a:t>Siente: </a:t>
            </a:r>
            <a:r>
              <a:rPr lang="es-AR" sz="1400" dirty="0">
                <a:solidFill>
                  <a:schemeClr val="bg2">
                    <a:lumMod val="75000"/>
                    <a:lumOff val="25000"/>
                  </a:schemeClr>
                </a:solidFill>
              </a:rPr>
              <a:t>Qué emociones podría estar sintiendo tu usuario?</a:t>
            </a:r>
            <a:endParaRPr lang="es-AR" sz="1400" b="1" dirty="0">
              <a:solidFill>
                <a:schemeClr val="bg2">
                  <a:lumMod val="75000"/>
                  <a:lumOff val="25000"/>
                </a:schemeClr>
              </a:solidFill>
            </a:endParaRPr>
          </a:p>
        </p:txBody>
      </p:sp>
    </p:spTree>
    <p:extLst>
      <p:ext uri="{BB962C8B-B14F-4D97-AF65-F5344CB8AC3E}">
        <p14:creationId xmlns:p14="http://schemas.microsoft.com/office/powerpoint/2010/main" val="2395281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11</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extBox 9">
            <a:extLst>
              <a:ext uri="{FF2B5EF4-FFF2-40B4-BE49-F238E27FC236}">
                <a16:creationId xmlns:a16="http://schemas.microsoft.com/office/drawing/2014/main" id="{628DD575-4E5C-4C41-AB2B-78A3606465F2}"/>
              </a:ext>
            </a:extLst>
          </p:cNvPr>
          <p:cNvSpPr txBox="1"/>
          <p:nvPr/>
        </p:nvSpPr>
        <p:spPr>
          <a:xfrm>
            <a:off x="977509" y="4220195"/>
            <a:ext cx="9700822" cy="923330"/>
          </a:xfrm>
          <a:prstGeom prst="rect">
            <a:avLst/>
          </a:prstGeom>
          <a:noFill/>
        </p:spPr>
        <p:txBody>
          <a:bodyPr wrap="square" rtlCol="0">
            <a:spAutoFit/>
          </a:bodyPr>
          <a:lstStyle/>
          <a:p>
            <a:r>
              <a:rPr lang="es-AR" dirty="0">
                <a:solidFill>
                  <a:schemeClr val="bg2">
                    <a:lumMod val="75000"/>
                    <a:lumOff val="25000"/>
                  </a:schemeClr>
                </a:solidFill>
              </a:rPr>
              <a:t>La información recolectada solo tiene utilidad al ser analizada. En la segunda etapa se deben filtrar todos los datos importantes para crear las </a:t>
            </a:r>
            <a:r>
              <a:rPr lang="es-AR" b="1" dirty="0">
                <a:solidFill>
                  <a:schemeClr val="bg2">
                    <a:lumMod val="75000"/>
                    <a:lumOff val="25000"/>
                  </a:schemeClr>
                </a:solidFill>
              </a:rPr>
              <a:t>conclusiones que guiarán el trabajo.</a:t>
            </a:r>
            <a:r>
              <a:rPr lang="es-AR" dirty="0">
                <a:solidFill>
                  <a:schemeClr val="bg2">
                    <a:lumMod val="75000"/>
                    <a:lumOff val="25000"/>
                  </a:schemeClr>
                </a:solidFill>
              </a:rPr>
              <a:t> Junto a esto, se especificarán los problemas que necesitan solución.</a:t>
            </a:r>
          </a:p>
        </p:txBody>
      </p:sp>
      <p:sp>
        <p:nvSpPr>
          <p:cNvPr id="13" name="TextBox 12">
            <a:extLst>
              <a:ext uri="{FF2B5EF4-FFF2-40B4-BE49-F238E27FC236}">
                <a16:creationId xmlns:a16="http://schemas.microsoft.com/office/drawing/2014/main" id="{FE8AE092-1F23-4242-8C54-478CED8A7933}"/>
              </a:ext>
            </a:extLst>
          </p:cNvPr>
          <p:cNvSpPr txBox="1"/>
          <p:nvPr/>
        </p:nvSpPr>
        <p:spPr>
          <a:xfrm>
            <a:off x="3312883" y="2637805"/>
            <a:ext cx="7896525" cy="369332"/>
          </a:xfrm>
          <a:prstGeom prst="rect">
            <a:avLst/>
          </a:prstGeom>
          <a:noFill/>
        </p:spPr>
        <p:txBody>
          <a:bodyPr wrap="square" rtlCol="0">
            <a:spAutoFit/>
          </a:bodyPr>
          <a:lstStyle/>
          <a:p>
            <a:r>
              <a:rPr lang="es-AR" dirty="0">
                <a:solidFill>
                  <a:schemeClr val="bg2">
                    <a:lumMod val="75000"/>
                    <a:lumOff val="25000"/>
                  </a:schemeClr>
                </a:solidFill>
              </a:rPr>
              <a:t>Focalizarse en un desafío significativo</a:t>
            </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DEFINIR</a:t>
            </a:r>
            <a:endParaRPr lang="es-AR" sz="3200" b="1" dirty="0"/>
          </a:p>
        </p:txBody>
      </p:sp>
      <p:sp>
        <p:nvSpPr>
          <p:cNvPr id="17" name="Hexagon 16">
            <a:extLst>
              <a:ext uri="{FF2B5EF4-FFF2-40B4-BE49-F238E27FC236}">
                <a16:creationId xmlns:a16="http://schemas.microsoft.com/office/drawing/2014/main" id="{1B2574D2-DC94-4F94-A95C-CA052C251D74}"/>
              </a:ext>
            </a:extLst>
          </p:cNvPr>
          <p:cNvSpPr/>
          <p:nvPr/>
        </p:nvSpPr>
        <p:spPr>
          <a:xfrm>
            <a:off x="977507" y="2042851"/>
            <a:ext cx="1820091" cy="1569044"/>
          </a:xfrm>
          <a:prstGeom prst="hexagon">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TextBox 17">
            <a:extLst>
              <a:ext uri="{FF2B5EF4-FFF2-40B4-BE49-F238E27FC236}">
                <a16:creationId xmlns:a16="http://schemas.microsoft.com/office/drawing/2014/main" id="{FB3FAEC7-A92F-4B4F-A1CD-A3C0BC48B2FB}"/>
              </a:ext>
            </a:extLst>
          </p:cNvPr>
          <p:cNvSpPr txBox="1"/>
          <p:nvPr/>
        </p:nvSpPr>
        <p:spPr>
          <a:xfrm>
            <a:off x="1112459" y="2617523"/>
            <a:ext cx="1550186" cy="400110"/>
          </a:xfrm>
          <a:prstGeom prst="rect">
            <a:avLst/>
          </a:prstGeom>
          <a:noFill/>
        </p:spPr>
        <p:txBody>
          <a:bodyPr wrap="square" rtlCol="0">
            <a:spAutoFit/>
          </a:bodyPr>
          <a:lstStyle/>
          <a:p>
            <a:pPr algn="ctr"/>
            <a:r>
              <a:rPr lang="en-US" sz="2000" b="1" dirty="0"/>
              <a:t>DEFINIR</a:t>
            </a:r>
            <a:endParaRPr lang="es-AR" sz="2000" b="1" dirty="0"/>
          </a:p>
        </p:txBody>
      </p:sp>
    </p:spTree>
    <p:extLst>
      <p:ext uri="{BB962C8B-B14F-4D97-AF65-F5344CB8AC3E}">
        <p14:creationId xmlns:p14="http://schemas.microsoft.com/office/powerpoint/2010/main" val="3683516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12</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DEFINIR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1637151" y="2505670"/>
            <a:ext cx="5031406" cy="923330"/>
          </a:xfrm>
          <a:prstGeom prst="rect">
            <a:avLst/>
          </a:prstGeom>
          <a:noFill/>
        </p:spPr>
        <p:txBody>
          <a:bodyPr wrap="square" rtlCol="0">
            <a:spAutoFit/>
          </a:bodyPr>
          <a:lstStyle/>
          <a:p>
            <a:pPr marL="285750" indent="-285750">
              <a:buFont typeface="Wingdings" panose="05000000000000000000" pitchFamily="2" charset="2"/>
              <a:buChar char="Ø"/>
            </a:pPr>
            <a:r>
              <a:rPr lang="es-AR" dirty="0">
                <a:solidFill>
                  <a:schemeClr val="tx2">
                    <a:lumMod val="75000"/>
                  </a:schemeClr>
                </a:solidFill>
              </a:rPr>
              <a:t>Tensiones</a:t>
            </a:r>
          </a:p>
          <a:p>
            <a:pPr marL="285750" indent="-285750">
              <a:buFont typeface="Wingdings" panose="05000000000000000000" pitchFamily="2" charset="2"/>
              <a:buChar char="Ø"/>
            </a:pPr>
            <a:r>
              <a:rPr lang="es-AR" dirty="0">
                <a:solidFill>
                  <a:schemeClr val="tx2">
                    <a:lumMod val="75000"/>
                  </a:schemeClr>
                </a:solidFill>
              </a:rPr>
              <a:t>Contradicciones</a:t>
            </a:r>
          </a:p>
          <a:p>
            <a:pPr marL="285750" indent="-285750">
              <a:buFont typeface="Wingdings" panose="05000000000000000000" pitchFamily="2" charset="2"/>
              <a:buChar char="Ø"/>
            </a:pPr>
            <a:r>
              <a:rPr lang="es-AR" dirty="0">
                <a:solidFill>
                  <a:schemeClr val="tx2">
                    <a:lumMod val="75000"/>
                  </a:schemeClr>
                </a:solidFill>
              </a:rPr>
              <a:t>Sorpresas</a:t>
            </a:r>
          </a:p>
        </p:txBody>
      </p:sp>
      <p:sp>
        <p:nvSpPr>
          <p:cNvPr id="11" name="TextBox 10">
            <a:extLst>
              <a:ext uri="{FF2B5EF4-FFF2-40B4-BE49-F238E27FC236}">
                <a16:creationId xmlns:a16="http://schemas.microsoft.com/office/drawing/2014/main" id="{426A1453-D9B5-4B1C-8DAC-F1C9BE87AE65}"/>
              </a:ext>
            </a:extLst>
          </p:cNvPr>
          <p:cNvSpPr txBox="1"/>
          <p:nvPr/>
        </p:nvSpPr>
        <p:spPr>
          <a:xfrm>
            <a:off x="452846" y="1756218"/>
            <a:ext cx="4060521" cy="584775"/>
          </a:xfrm>
          <a:prstGeom prst="rect">
            <a:avLst/>
          </a:prstGeom>
          <a:noFill/>
        </p:spPr>
        <p:txBody>
          <a:bodyPr wrap="square" rtlCol="0">
            <a:spAutoFit/>
          </a:bodyPr>
          <a:lstStyle/>
          <a:p>
            <a:pPr algn="ctr"/>
            <a:r>
              <a:rPr lang="en-US" sz="3200" b="1" dirty="0">
                <a:solidFill>
                  <a:schemeClr val="bg2">
                    <a:lumMod val="75000"/>
                    <a:lumOff val="25000"/>
                  </a:schemeClr>
                </a:solidFill>
              </a:rPr>
              <a:t>HALLAZGOS</a:t>
            </a:r>
            <a:endParaRPr lang="es-AR" sz="3200" b="1" dirty="0">
              <a:solidFill>
                <a:schemeClr val="bg2">
                  <a:lumMod val="75000"/>
                  <a:lumOff val="25000"/>
                </a:schemeClr>
              </a:solidFill>
            </a:endParaRPr>
          </a:p>
        </p:txBody>
      </p:sp>
      <p:pic>
        <p:nvPicPr>
          <p:cNvPr id="15" name="Picture 14">
            <a:extLst>
              <a:ext uri="{FF2B5EF4-FFF2-40B4-BE49-F238E27FC236}">
                <a16:creationId xmlns:a16="http://schemas.microsoft.com/office/drawing/2014/main" id="{B76900E5-D155-474E-93E2-DAEDBD28EFA4}"/>
              </a:ext>
            </a:extLst>
          </p:cNvPr>
          <p:cNvPicPr>
            <a:picLocks noChangeAspect="1"/>
          </p:cNvPicPr>
          <p:nvPr/>
        </p:nvPicPr>
        <p:blipFill>
          <a:blip r:embed="rId3"/>
          <a:stretch>
            <a:fillRect/>
          </a:stretch>
        </p:blipFill>
        <p:spPr>
          <a:xfrm>
            <a:off x="6171792" y="1899352"/>
            <a:ext cx="5567362" cy="3958046"/>
          </a:xfrm>
          <a:prstGeom prst="rect">
            <a:avLst/>
          </a:prstGeom>
        </p:spPr>
      </p:pic>
      <p:sp>
        <p:nvSpPr>
          <p:cNvPr id="16" name="TextBox 15">
            <a:extLst>
              <a:ext uri="{FF2B5EF4-FFF2-40B4-BE49-F238E27FC236}">
                <a16:creationId xmlns:a16="http://schemas.microsoft.com/office/drawing/2014/main" id="{9166394E-E053-4073-B98A-15796F23D36C}"/>
              </a:ext>
            </a:extLst>
          </p:cNvPr>
          <p:cNvSpPr txBox="1"/>
          <p:nvPr/>
        </p:nvSpPr>
        <p:spPr>
          <a:xfrm>
            <a:off x="1637151" y="4204627"/>
            <a:ext cx="3953752" cy="1200329"/>
          </a:xfrm>
          <a:prstGeom prst="rect">
            <a:avLst/>
          </a:prstGeom>
          <a:noFill/>
        </p:spPr>
        <p:txBody>
          <a:bodyPr wrap="square" rtlCol="0">
            <a:spAutoFit/>
          </a:bodyPr>
          <a:lstStyle/>
          <a:p>
            <a:r>
              <a:rPr lang="es-AR" dirty="0">
                <a:solidFill>
                  <a:schemeClr val="tx2">
                    <a:lumMod val="75000"/>
                  </a:schemeClr>
                </a:solidFill>
              </a:rPr>
              <a:t>En base a lo que encontramos en el mapa de empatía, nos preguntamos si estos son hallazgos.</a:t>
            </a:r>
          </a:p>
        </p:txBody>
      </p:sp>
    </p:spTree>
    <p:extLst>
      <p:ext uri="{BB962C8B-B14F-4D97-AF65-F5344CB8AC3E}">
        <p14:creationId xmlns:p14="http://schemas.microsoft.com/office/powerpoint/2010/main" val="2266473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13</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DEFINIR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977508" y="2925527"/>
            <a:ext cx="5031406" cy="2308324"/>
          </a:xfrm>
          <a:prstGeom prst="rect">
            <a:avLst/>
          </a:prstGeom>
          <a:noFill/>
        </p:spPr>
        <p:txBody>
          <a:bodyPr wrap="square" rtlCol="0">
            <a:spAutoFit/>
          </a:bodyPr>
          <a:lstStyle/>
          <a:p>
            <a:r>
              <a:rPr lang="es-AR" dirty="0">
                <a:solidFill>
                  <a:schemeClr val="tx2">
                    <a:lumMod val="75000"/>
                  </a:schemeClr>
                </a:solidFill>
              </a:rPr>
              <a:t>Identificar usuarios, necesidades y hallazgos, combinándolos para crear un POV (Point of view).</a:t>
            </a:r>
          </a:p>
          <a:p>
            <a:endParaRPr lang="es-AR" dirty="0">
              <a:solidFill>
                <a:schemeClr val="tx2">
                  <a:lumMod val="75000"/>
                </a:schemeClr>
              </a:solidFill>
            </a:endParaRPr>
          </a:p>
          <a:p>
            <a:r>
              <a:rPr lang="es-AR" dirty="0">
                <a:solidFill>
                  <a:schemeClr val="tx2">
                    <a:lumMod val="75000"/>
                  </a:schemeClr>
                </a:solidFill>
              </a:rPr>
              <a:t>La declaración POV se crea al dar sentido a quiénes son los usuarios, cuáles son sus necesidades y las ideas que provienen de las observaciones realizadas.</a:t>
            </a:r>
          </a:p>
        </p:txBody>
      </p:sp>
      <p:sp>
        <p:nvSpPr>
          <p:cNvPr id="11" name="TextBox 10">
            <a:extLst>
              <a:ext uri="{FF2B5EF4-FFF2-40B4-BE49-F238E27FC236}">
                <a16:creationId xmlns:a16="http://schemas.microsoft.com/office/drawing/2014/main" id="{426A1453-D9B5-4B1C-8DAC-F1C9BE87AE65}"/>
              </a:ext>
            </a:extLst>
          </p:cNvPr>
          <p:cNvSpPr txBox="1"/>
          <p:nvPr/>
        </p:nvSpPr>
        <p:spPr>
          <a:xfrm>
            <a:off x="452846" y="1756218"/>
            <a:ext cx="4060521" cy="584775"/>
          </a:xfrm>
          <a:prstGeom prst="rect">
            <a:avLst/>
          </a:prstGeom>
          <a:noFill/>
        </p:spPr>
        <p:txBody>
          <a:bodyPr wrap="square" rtlCol="0">
            <a:spAutoFit/>
          </a:bodyPr>
          <a:lstStyle/>
          <a:p>
            <a:pPr algn="ctr"/>
            <a:r>
              <a:rPr lang="en-US" sz="3200" b="1" dirty="0">
                <a:solidFill>
                  <a:schemeClr val="bg2">
                    <a:lumMod val="75000"/>
                    <a:lumOff val="25000"/>
                  </a:schemeClr>
                </a:solidFill>
              </a:rPr>
              <a:t>PUNTOS DE VISTA</a:t>
            </a:r>
            <a:endParaRPr lang="es-AR" sz="3200" b="1" dirty="0">
              <a:solidFill>
                <a:schemeClr val="bg2">
                  <a:lumMod val="75000"/>
                  <a:lumOff val="25000"/>
                </a:schemeClr>
              </a:solidFill>
            </a:endParaRPr>
          </a:p>
        </p:txBody>
      </p:sp>
      <p:pic>
        <p:nvPicPr>
          <p:cNvPr id="13" name="Picture 12">
            <a:extLst>
              <a:ext uri="{FF2B5EF4-FFF2-40B4-BE49-F238E27FC236}">
                <a16:creationId xmlns:a16="http://schemas.microsoft.com/office/drawing/2014/main" id="{2F17D81E-8903-466B-BB1F-382654CDC1C8}"/>
              </a:ext>
            </a:extLst>
          </p:cNvPr>
          <p:cNvPicPr>
            <a:picLocks noChangeAspect="1"/>
          </p:cNvPicPr>
          <p:nvPr/>
        </p:nvPicPr>
        <p:blipFill>
          <a:blip r:embed="rId3"/>
          <a:stretch>
            <a:fillRect/>
          </a:stretch>
        </p:blipFill>
        <p:spPr>
          <a:xfrm>
            <a:off x="6627096" y="1825812"/>
            <a:ext cx="5112058" cy="3408039"/>
          </a:xfrm>
          <a:prstGeom prst="rect">
            <a:avLst/>
          </a:prstGeom>
        </p:spPr>
      </p:pic>
    </p:spTree>
    <p:extLst>
      <p:ext uri="{BB962C8B-B14F-4D97-AF65-F5344CB8AC3E}">
        <p14:creationId xmlns:p14="http://schemas.microsoft.com/office/powerpoint/2010/main" val="4184516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14</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extBox 9">
            <a:extLst>
              <a:ext uri="{FF2B5EF4-FFF2-40B4-BE49-F238E27FC236}">
                <a16:creationId xmlns:a16="http://schemas.microsoft.com/office/drawing/2014/main" id="{628DD575-4E5C-4C41-AB2B-78A3606465F2}"/>
              </a:ext>
            </a:extLst>
          </p:cNvPr>
          <p:cNvSpPr txBox="1"/>
          <p:nvPr/>
        </p:nvSpPr>
        <p:spPr>
          <a:xfrm>
            <a:off x="977509" y="4220195"/>
            <a:ext cx="9700822" cy="1477328"/>
          </a:xfrm>
          <a:prstGeom prst="rect">
            <a:avLst/>
          </a:prstGeom>
          <a:noFill/>
        </p:spPr>
        <p:txBody>
          <a:bodyPr wrap="square" rtlCol="0">
            <a:spAutoFit/>
          </a:bodyPr>
          <a:lstStyle/>
          <a:p>
            <a:r>
              <a:rPr lang="es-AR" dirty="0">
                <a:solidFill>
                  <a:schemeClr val="bg2">
                    <a:lumMod val="75000"/>
                    <a:lumOff val="25000"/>
                  </a:schemeClr>
                </a:solidFill>
              </a:rPr>
              <a:t>Se estimula el pensamiento, se debe contar con un equipo multidisciplinario donde todos aporten desde su visión particular. Una técnica común es hacer </a:t>
            </a:r>
            <a:r>
              <a:rPr lang="es-AR" b="1" dirty="0">
                <a:solidFill>
                  <a:schemeClr val="bg2">
                    <a:lumMod val="75000"/>
                    <a:lumOff val="25000"/>
                  </a:schemeClr>
                </a:solidFill>
              </a:rPr>
              <a:t>brainstorming </a:t>
            </a:r>
            <a:r>
              <a:rPr lang="es-AR" dirty="0">
                <a:solidFill>
                  <a:schemeClr val="bg2">
                    <a:lumMod val="75000"/>
                    <a:lumOff val="25000"/>
                  </a:schemeClr>
                </a:solidFill>
              </a:rPr>
              <a:t>con representaciones visuales para explorar nuevas alternativas. Luego, se analizan las distintas propuestas para seleccionar el mejor enfoque de cada una. Finalmente, se traducen en conclusiones que lleven a la selección final de las posibles soluciones.</a:t>
            </a:r>
          </a:p>
        </p:txBody>
      </p:sp>
      <p:sp>
        <p:nvSpPr>
          <p:cNvPr id="13" name="TextBox 12">
            <a:extLst>
              <a:ext uri="{FF2B5EF4-FFF2-40B4-BE49-F238E27FC236}">
                <a16:creationId xmlns:a16="http://schemas.microsoft.com/office/drawing/2014/main" id="{FE8AE092-1F23-4242-8C54-478CED8A7933}"/>
              </a:ext>
            </a:extLst>
          </p:cNvPr>
          <p:cNvSpPr txBox="1"/>
          <p:nvPr/>
        </p:nvSpPr>
        <p:spPr>
          <a:xfrm>
            <a:off x="3312883" y="2637805"/>
            <a:ext cx="7896525" cy="369332"/>
          </a:xfrm>
          <a:prstGeom prst="rect">
            <a:avLst/>
          </a:prstGeom>
          <a:noFill/>
        </p:spPr>
        <p:txBody>
          <a:bodyPr wrap="square" rtlCol="0">
            <a:spAutoFit/>
          </a:bodyPr>
          <a:lstStyle/>
          <a:p>
            <a:r>
              <a:rPr lang="es-AR" dirty="0">
                <a:solidFill>
                  <a:schemeClr val="bg2">
                    <a:lumMod val="75000"/>
                    <a:lumOff val="25000"/>
                  </a:schemeClr>
                </a:solidFill>
              </a:rPr>
              <a:t>Un vez definido el problema se deben idear soluciones.</a:t>
            </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IDEAR</a:t>
            </a:r>
            <a:endParaRPr lang="es-AR" sz="3200" b="1" dirty="0"/>
          </a:p>
        </p:txBody>
      </p:sp>
      <p:sp>
        <p:nvSpPr>
          <p:cNvPr id="12" name="Hexagon 11">
            <a:extLst>
              <a:ext uri="{FF2B5EF4-FFF2-40B4-BE49-F238E27FC236}">
                <a16:creationId xmlns:a16="http://schemas.microsoft.com/office/drawing/2014/main" id="{A91AD758-98B2-4FB4-A493-497E40C66D05}"/>
              </a:ext>
            </a:extLst>
          </p:cNvPr>
          <p:cNvSpPr/>
          <p:nvPr/>
        </p:nvSpPr>
        <p:spPr>
          <a:xfrm>
            <a:off x="851564" y="2054685"/>
            <a:ext cx="1820091" cy="1569044"/>
          </a:xfrm>
          <a:prstGeom prst="hexagon">
            <a:avLst/>
          </a:prstGeom>
          <a:solidFill>
            <a:srgbClr val="F6B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TextBox 14">
            <a:extLst>
              <a:ext uri="{FF2B5EF4-FFF2-40B4-BE49-F238E27FC236}">
                <a16:creationId xmlns:a16="http://schemas.microsoft.com/office/drawing/2014/main" id="{C17F2FA4-3AEE-4EFE-AC7E-9FBA985A63F6}"/>
              </a:ext>
            </a:extLst>
          </p:cNvPr>
          <p:cNvSpPr txBox="1"/>
          <p:nvPr/>
        </p:nvSpPr>
        <p:spPr>
          <a:xfrm>
            <a:off x="986517" y="2608074"/>
            <a:ext cx="1550186" cy="400110"/>
          </a:xfrm>
          <a:prstGeom prst="rect">
            <a:avLst/>
          </a:prstGeom>
          <a:noFill/>
        </p:spPr>
        <p:txBody>
          <a:bodyPr wrap="square" rtlCol="0">
            <a:spAutoFit/>
          </a:bodyPr>
          <a:lstStyle/>
          <a:p>
            <a:pPr algn="ctr"/>
            <a:r>
              <a:rPr lang="en-US" sz="2000" b="1" dirty="0"/>
              <a:t>IDEAR</a:t>
            </a:r>
            <a:endParaRPr lang="es-AR" sz="2000" b="1" dirty="0"/>
          </a:p>
        </p:txBody>
      </p:sp>
    </p:spTree>
    <p:extLst>
      <p:ext uri="{BB962C8B-B14F-4D97-AF65-F5344CB8AC3E}">
        <p14:creationId xmlns:p14="http://schemas.microsoft.com/office/powerpoint/2010/main" val="1483898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15</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IDEAR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1042320" y="2413337"/>
            <a:ext cx="8644320" cy="2031325"/>
          </a:xfrm>
          <a:prstGeom prst="rect">
            <a:avLst/>
          </a:prstGeom>
          <a:noFill/>
        </p:spPr>
        <p:txBody>
          <a:bodyPr wrap="square" rtlCol="0">
            <a:spAutoFit/>
          </a:bodyPr>
          <a:lstStyle/>
          <a:p>
            <a:r>
              <a:rPr lang="es-AR" dirty="0">
                <a:solidFill>
                  <a:schemeClr val="bg2">
                    <a:lumMod val="75000"/>
                    <a:lumOff val="25000"/>
                  </a:schemeClr>
                </a:solidFill>
              </a:rPr>
              <a:t>Ahora que tenemos el enunciado del problema, es hora de que reformulemos </a:t>
            </a:r>
            <a:r>
              <a:rPr lang="es-ES" dirty="0">
                <a:solidFill>
                  <a:schemeClr val="bg2">
                    <a:lumMod val="75000"/>
                    <a:lumOff val="25000"/>
                  </a:schemeClr>
                </a:solidFill>
              </a:rPr>
              <a:t>como preguntas agregando "Cómo podríamos" al principio. Es una buena idea pasar mucho tiempo obteniendo los HMW correctos primero, antes de comenzar a generar ideas.</a:t>
            </a:r>
          </a:p>
          <a:p>
            <a:endParaRPr lang="es-ES" dirty="0">
              <a:solidFill>
                <a:schemeClr val="bg2">
                  <a:lumMod val="75000"/>
                  <a:lumOff val="25000"/>
                </a:schemeClr>
              </a:solidFill>
            </a:endParaRPr>
          </a:p>
          <a:p>
            <a:r>
              <a:rPr lang="es-ES" dirty="0">
                <a:solidFill>
                  <a:schemeClr val="bg2">
                    <a:lumMod val="75000"/>
                    <a:lumOff val="25000"/>
                  </a:schemeClr>
                </a:solidFill>
              </a:rPr>
              <a:t>El objetivo es encontrar oportunidades para el diseño, por lo que si las ideas sugieren varias preguntas sobre cómo podríamos, eso es genial.</a:t>
            </a:r>
            <a:endParaRPr lang="es-AR" dirty="0">
              <a:solidFill>
                <a:schemeClr val="bg2">
                  <a:lumMod val="75000"/>
                  <a:lumOff val="25000"/>
                </a:schemeClr>
              </a:solidFill>
            </a:endParaRPr>
          </a:p>
        </p:txBody>
      </p:sp>
      <p:sp>
        <p:nvSpPr>
          <p:cNvPr id="11" name="TextBox 10">
            <a:extLst>
              <a:ext uri="{FF2B5EF4-FFF2-40B4-BE49-F238E27FC236}">
                <a16:creationId xmlns:a16="http://schemas.microsoft.com/office/drawing/2014/main" id="{908CD097-542C-4249-9583-312FE166A69C}"/>
              </a:ext>
            </a:extLst>
          </p:cNvPr>
          <p:cNvSpPr txBox="1"/>
          <p:nvPr/>
        </p:nvSpPr>
        <p:spPr>
          <a:xfrm>
            <a:off x="452846" y="1756218"/>
            <a:ext cx="9823268" cy="584775"/>
          </a:xfrm>
          <a:prstGeom prst="rect">
            <a:avLst/>
          </a:prstGeom>
          <a:noFill/>
        </p:spPr>
        <p:txBody>
          <a:bodyPr wrap="square" rtlCol="0">
            <a:spAutoFit/>
          </a:bodyPr>
          <a:lstStyle/>
          <a:p>
            <a:r>
              <a:rPr lang="es-AR" sz="3200" b="1" dirty="0">
                <a:solidFill>
                  <a:schemeClr val="bg2">
                    <a:lumMod val="75000"/>
                    <a:lumOff val="25000"/>
                  </a:schemeClr>
                </a:solidFill>
              </a:rPr>
              <a:t>“CÓMO PODRÍAMOS”: DE DEFINIR A IDEAR</a:t>
            </a:r>
            <a:endParaRPr lang="en-US" sz="3200" b="1" dirty="0">
              <a:solidFill>
                <a:schemeClr val="bg2">
                  <a:lumMod val="75000"/>
                  <a:lumOff val="25000"/>
                </a:schemeClr>
              </a:solidFill>
            </a:endParaRPr>
          </a:p>
        </p:txBody>
      </p:sp>
      <p:pic>
        <p:nvPicPr>
          <p:cNvPr id="5" name="Picture 4">
            <a:extLst>
              <a:ext uri="{FF2B5EF4-FFF2-40B4-BE49-F238E27FC236}">
                <a16:creationId xmlns:a16="http://schemas.microsoft.com/office/drawing/2014/main" id="{D148DCE0-A6F1-47EA-BA4D-45945169793A}"/>
              </a:ext>
            </a:extLst>
          </p:cNvPr>
          <p:cNvPicPr>
            <a:picLocks noChangeAspect="1"/>
          </p:cNvPicPr>
          <p:nvPr/>
        </p:nvPicPr>
        <p:blipFill>
          <a:blip r:embed="rId3"/>
          <a:stretch>
            <a:fillRect/>
          </a:stretch>
        </p:blipFill>
        <p:spPr>
          <a:xfrm>
            <a:off x="4739314" y="4485662"/>
            <a:ext cx="4882515" cy="1886802"/>
          </a:xfrm>
          <a:prstGeom prst="rect">
            <a:avLst/>
          </a:prstGeom>
        </p:spPr>
      </p:pic>
    </p:spTree>
    <p:extLst>
      <p:ext uri="{BB962C8B-B14F-4D97-AF65-F5344CB8AC3E}">
        <p14:creationId xmlns:p14="http://schemas.microsoft.com/office/powerpoint/2010/main" val="2057699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16</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IDEAR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1042493" y="2872380"/>
            <a:ext cx="8644320" cy="2585323"/>
          </a:xfrm>
          <a:prstGeom prst="rect">
            <a:avLst/>
          </a:prstGeom>
          <a:noFill/>
        </p:spPr>
        <p:txBody>
          <a:bodyPr wrap="square" rtlCol="0">
            <a:spAutoFit/>
          </a:bodyPr>
          <a:lstStyle/>
          <a:p>
            <a:pPr marL="285750" indent="-285750">
              <a:buFont typeface="Wingdings" panose="05000000000000000000" pitchFamily="2" charset="2"/>
              <a:buChar char="Ø"/>
            </a:pPr>
            <a:r>
              <a:rPr lang="es-AR" dirty="0">
                <a:solidFill>
                  <a:schemeClr val="bg2">
                    <a:lumMod val="75000"/>
                    <a:lumOff val="25000"/>
                  </a:schemeClr>
                </a:solidFill>
              </a:rPr>
              <a:t>Dividir el POV en partes</a:t>
            </a:r>
          </a:p>
          <a:p>
            <a:pPr marL="285750" indent="-285750">
              <a:buFont typeface="Wingdings" panose="05000000000000000000" pitchFamily="2" charset="2"/>
              <a:buChar char="Ø"/>
            </a:pPr>
            <a:r>
              <a:rPr lang="es-AR" dirty="0">
                <a:solidFill>
                  <a:schemeClr val="bg2">
                    <a:lumMod val="75000"/>
                    <a:lumOff val="25000"/>
                  </a:schemeClr>
                </a:solidFill>
              </a:rPr>
              <a:t>Amplificar lo bueno. Remover lo malo</a:t>
            </a:r>
          </a:p>
          <a:p>
            <a:pPr marL="285750" indent="-285750">
              <a:buFont typeface="Wingdings" panose="05000000000000000000" pitchFamily="2" charset="2"/>
              <a:buChar char="Ø"/>
            </a:pPr>
            <a:r>
              <a:rPr lang="es-AR" dirty="0">
                <a:solidFill>
                  <a:schemeClr val="bg2">
                    <a:lumMod val="75000"/>
                    <a:lumOff val="25000"/>
                  </a:schemeClr>
                </a:solidFill>
              </a:rPr>
              <a:t>Explorar lo opuesto</a:t>
            </a:r>
          </a:p>
          <a:p>
            <a:pPr marL="285750" indent="-285750">
              <a:buFont typeface="Wingdings" panose="05000000000000000000" pitchFamily="2" charset="2"/>
              <a:buChar char="Ø"/>
            </a:pPr>
            <a:r>
              <a:rPr lang="es-AR" dirty="0">
                <a:solidFill>
                  <a:schemeClr val="bg2">
                    <a:lumMod val="75000"/>
                    <a:lumOff val="25000"/>
                  </a:schemeClr>
                </a:solidFill>
              </a:rPr>
              <a:t>Cuestionar los supuestos</a:t>
            </a:r>
          </a:p>
          <a:p>
            <a:pPr marL="285750" indent="-285750">
              <a:buFont typeface="Wingdings" panose="05000000000000000000" pitchFamily="2" charset="2"/>
              <a:buChar char="Ø"/>
            </a:pPr>
            <a:r>
              <a:rPr lang="es-AR" dirty="0">
                <a:solidFill>
                  <a:schemeClr val="bg2">
                    <a:lumMod val="75000"/>
                    <a:lumOff val="25000"/>
                  </a:schemeClr>
                </a:solidFill>
              </a:rPr>
              <a:t>Aprovechar los adjetivos</a:t>
            </a:r>
          </a:p>
          <a:p>
            <a:pPr marL="285750" indent="-285750">
              <a:buFont typeface="Wingdings" panose="05000000000000000000" pitchFamily="2" charset="2"/>
              <a:buChar char="Ø"/>
            </a:pPr>
            <a:r>
              <a:rPr lang="es-AR" dirty="0">
                <a:solidFill>
                  <a:schemeClr val="bg2">
                    <a:lumMod val="75000"/>
                    <a:lumOff val="25000"/>
                  </a:schemeClr>
                </a:solidFill>
              </a:rPr>
              <a:t>Identificar los recursos inesperados</a:t>
            </a:r>
          </a:p>
          <a:p>
            <a:pPr marL="285750" indent="-285750">
              <a:buFont typeface="Wingdings" panose="05000000000000000000" pitchFamily="2" charset="2"/>
              <a:buChar char="Ø"/>
            </a:pPr>
            <a:r>
              <a:rPr lang="es-AR" dirty="0">
                <a:solidFill>
                  <a:schemeClr val="bg2">
                    <a:lumMod val="75000"/>
                    <a:lumOff val="25000"/>
                  </a:schemeClr>
                </a:solidFill>
              </a:rPr>
              <a:t>Crear una analogía a partir de la necesidad o el contexto</a:t>
            </a:r>
          </a:p>
          <a:p>
            <a:pPr marL="285750" indent="-285750">
              <a:buFont typeface="Wingdings" panose="05000000000000000000" pitchFamily="2" charset="2"/>
              <a:buChar char="Ø"/>
            </a:pPr>
            <a:r>
              <a:rPr lang="es-AR" dirty="0">
                <a:solidFill>
                  <a:schemeClr val="bg2">
                    <a:lumMod val="75000"/>
                    <a:lumOff val="25000"/>
                  </a:schemeClr>
                </a:solidFill>
              </a:rPr>
              <a:t>Cambiar un status quo</a:t>
            </a:r>
          </a:p>
          <a:p>
            <a:pPr marL="285750" indent="-285750">
              <a:buFont typeface="Wingdings" panose="05000000000000000000" pitchFamily="2" charset="2"/>
              <a:buChar char="Ø"/>
            </a:pPr>
            <a:endParaRPr lang="es-AR" dirty="0">
              <a:solidFill>
                <a:schemeClr val="bg2">
                  <a:lumMod val="75000"/>
                  <a:lumOff val="25000"/>
                </a:schemeClr>
              </a:solidFill>
            </a:endParaRPr>
          </a:p>
        </p:txBody>
      </p:sp>
      <p:sp>
        <p:nvSpPr>
          <p:cNvPr id="11" name="TextBox 10">
            <a:extLst>
              <a:ext uri="{FF2B5EF4-FFF2-40B4-BE49-F238E27FC236}">
                <a16:creationId xmlns:a16="http://schemas.microsoft.com/office/drawing/2014/main" id="{908CD097-542C-4249-9583-312FE166A69C}"/>
              </a:ext>
            </a:extLst>
          </p:cNvPr>
          <p:cNvSpPr txBox="1"/>
          <p:nvPr/>
        </p:nvSpPr>
        <p:spPr>
          <a:xfrm>
            <a:off x="452846" y="1756218"/>
            <a:ext cx="9823268" cy="584775"/>
          </a:xfrm>
          <a:prstGeom prst="rect">
            <a:avLst/>
          </a:prstGeom>
          <a:noFill/>
        </p:spPr>
        <p:txBody>
          <a:bodyPr wrap="square" rtlCol="0">
            <a:spAutoFit/>
          </a:bodyPr>
          <a:lstStyle/>
          <a:p>
            <a:r>
              <a:rPr lang="es-AR" sz="3200" b="1" dirty="0">
                <a:solidFill>
                  <a:schemeClr val="bg2">
                    <a:lumMod val="75000"/>
                    <a:lumOff val="25000"/>
                  </a:schemeClr>
                </a:solidFill>
              </a:rPr>
              <a:t>COMO ANALIZAR LOS POV</a:t>
            </a:r>
            <a:endParaRPr lang="en-US" sz="3200" b="1" dirty="0">
              <a:solidFill>
                <a:schemeClr val="bg2">
                  <a:lumMod val="75000"/>
                  <a:lumOff val="25000"/>
                </a:schemeClr>
              </a:solidFill>
            </a:endParaRPr>
          </a:p>
        </p:txBody>
      </p:sp>
    </p:spTree>
    <p:extLst>
      <p:ext uri="{BB962C8B-B14F-4D97-AF65-F5344CB8AC3E}">
        <p14:creationId xmlns:p14="http://schemas.microsoft.com/office/powerpoint/2010/main" val="2599928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17</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extBox 9">
            <a:extLst>
              <a:ext uri="{FF2B5EF4-FFF2-40B4-BE49-F238E27FC236}">
                <a16:creationId xmlns:a16="http://schemas.microsoft.com/office/drawing/2014/main" id="{628DD575-4E5C-4C41-AB2B-78A3606465F2}"/>
              </a:ext>
            </a:extLst>
          </p:cNvPr>
          <p:cNvSpPr txBox="1"/>
          <p:nvPr/>
        </p:nvSpPr>
        <p:spPr>
          <a:xfrm>
            <a:off x="977509" y="4220195"/>
            <a:ext cx="9700822" cy="2031325"/>
          </a:xfrm>
          <a:prstGeom prst="rect">
            <a:avLst/>
          </a:prstGeom>
          <a:noFill/>
        </p:spPr>
        <p:txBody>
          <a:bodyPr wrap="square" rtlCol="0">
            <a:spAutoFit/>
          </a:bodyPr>
          <a:lstStyle/>
          <a:p>
            <a:r>
              <a:rPr lang="es-AR" dirty="0">
                <a:solidFill>
                  <a:schemeClr val="bg2">
                    <a:lumMod val="75000"/>
                    <a:lumOff val="25000"/>
                  </a:schemeClr>
                </a:solidFill>
              </a:rPr>
              <a:t>Acabamos de generar muchas ideas. Al prototipar, hacemos que estas converjan. Y den lugar a una realidad tangible que puede construirse de muy divisas formas.</a:t>
            </a:r>
          </a:p>
          <a:p>
            <a:r>
              <a:rPr lang="es-AR" dirty="0">
                <a:solidFill>
                  <a:schemeClr val="bg2">
                    <a:lumMod val="75000"/>
                    <a:lumOff val="25000"/>
                  </a:schemeClr>
                </a:solidFill>
              </a:rPr>
              <a:t>Un prototipo es un ensayo rápido y barato. Una </a:t>
            </a:r>
            <a:r>
              <a:rPr lang="es-AR" dirty="0" err="1">
                <a:solidFill>
                  <a:schemeClr val="bg2">
                    <a:lumMod val="75000"/>
                    <a:lumOff val="25000"/>
                  </a:schemeClr>
                </a:solidFill>
              </a:rPr>
              <a:t>tangibilización</a:t>
            </a:r>
            <a:r>
              <a:rPr lang="es-AR" dirty="0">
                <a:solidFill>
                  <a:schemeClr val="bg2">
                    <a:lumMod val="75000"/>
                    <a:lumOff val="25000"/>
                  </a:schemeClr>
                </a:solidFill>
              </a:rPr>
              <a:t> de las ideas.</a:t>
            </a:r>
            <a:br>
              <a:rPr lang="es-AR" dirty="0">
                <a:solidFill>
                  <a:schemeClr val="bg2">
                    <a:lumMod val="75000"/>
                    <a:lumOff val="25000"/>
                  </a:schemeClr>
                </a:solidFill>
              </a:rPr>
            </a:br>
            <a:r>
              <a:rPr lang="es-AR" dirty="0">
                <a:solidFill>
                  <a:schemeClr val="bg2">
                    <a:lumMod val="75000"/>
                    <a:lumOff val="25000"/>
                  </a:schemeClr>
                </a:solidFill>
              </a:rPr>
              <a:t>La gran ventaja  que supone </a:t>
            </a:r>
            <a:r>
              <a:rPr lang="es-AR" b="1" dirty="0">
                <a:solidFill>
                  <a:schemeClr val="bg2">
                    <a:lumMod val="75000"/>
                    <a:lumOff val="25000"/>
                  </a:schemeClr>
                </a:solidFill>
              </a:rPr>
              <a:t>“fallar rápido para acertar pronto”</a:t>
            </a:r>
            <a:r>
              <a:rPr lang="es-AR" dirty="0">
                <a:solidFill>
                  <a:schemeClr val="bg2">
                    <a:lumMod val="75000"/>
                    <a:lumOff val="25000"/>
                  </a:schemeClr>
                </a:solidFill>
              </a:rPr>
              <a:t> la creación de prototipos nos conecta con otras cuestiones interesantes. Una de ellas es la de ponernos en contacto con una forma de trabajo a la que no estamos acostumbrados: la de ejecutar para pensar.</a:t>
            </a:r>
          </a:p>
        </p:txBody>
      </p:sp>
      <p:sp>
        <p:nvSpPr>
          <p:cNvPr id="13" name="TextBox 12">
            <a:extLst>
              <a:ext uri="{FF2B5EF4-FFF2-40B4-BE49-F238E27FC236}">
                <a16:creationId xmlns:a16="http://schemas.microsoft.com/office/drawing/2014/main" id="{FE8AE092-1F23-4242-8C54-478CED8A7933}"/>
              </a:ext>
            </a:extLst>
          </p:cNvPr>
          <p:cNvSpPr txBox="1"/>
          <p:nvPr/>
        </p:nvSpPr>
        <p:spPr>
          <a:xfrm>
            <a:off x="3312883" y="2637805"/>
            <a:ext cx="7896525" cy="369332"/>
          </a:xfrm>
          <a:prstGeom prst="rect">
            <a:avLst/>
          </a:prstGeom>
          <a:noFill/>
        </p:spPr>
        <p:txBody>
          <a:bodyPr wrap="square" rtlCol="0">
            <a:spAutoFit/>
          </a:bodyPr>
          <a:lstStyle/>
          <a:p>
            <a:r>
              <a:rPr lang="es-AR" dirty="0">
                <a:solidFill>
                  <a:schemeClr val="bg2">
                    <a:lumMod val="75000"/>
                    <a:lumOff val="25000"/>
                  </a:schemeClr>
                </a:solidFill>
              </a:rPr>
              <a:t>Hay que ejecutar para pensar.</a:t>
            </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PROTOTIPAR</a:t>
            </a:r>
            <a:endParaRPr lang="es-AR" sz="3200" b="1" dirty="0"/>
          </a:p>
        </p:txBody>
      </p:sp>
      <p:sp>
        <p:nvSpPr>
          <p:cNvPr id="16" name="Hexagon 15">
            <a:extLst>
              <a:ext uri="{FF2B5EF4-FFF2-40B4-BE49-F238E27FC236}">
                <a16:creationId xmlns:a16="http://schemas.microsoft.com/office/drawing/2014/main" id="{42539558-1335-4417-9971-A14603BE6708}"/>
              </a:ext>
            </a:extLst>
          </p:cNvPr>
          <p:cNvSpPr/>
          <p:nvPr/>
        </p:nvSpPr>
        <p:spPr>
          <a:xfrm>
            <a:off x="1020127" y="2054685"/>
            <a:ext cx="1820091" cy="1569044"/>
          </a:xfrm>
          <a:prstGeom prst="hexag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TextBox 16">
            <a:extLst>
              <a:ext uri="{FF2B5EF4-FFF2-40B4-BE49-F238E27FC236}">
                <a16:creationId xmlns:a16="http://schemas.microsoft.com/office/drawing/2014/main" id="{8B77BA50-EA6C-41D3-A8DF-F271392164F4}"/>
              </a:ext>
            </a:extLst>
          </p:cNvPr>
          <p:cNvSpPr txBox="1"/>
          <p:nvPr/>
        </p:nvSpPr>
        <p:spPr>
          <a:xfrm>
            <a:off x="977507" y="2622416"/>
            <a:ext cx="1905330" cy="400110"/>
          </a:xfrm>
          <a:prstGeom prst="rect">
            <a:avLst/>
          </a:prstGeom>
          <a:noFill/>
        </p:spPr>
        <p:txBody>
          <a:bodyPr wrap="square" rtlCol="0">
            <a:spAutoFit/>
          </a:bodyPr>
          <a:lstStyle/>
          <a:p>
            <a:pPr algn="ctr"/>
            <a:r>
              <a:rPr lang="en-US" sz="2000" b="1" dirty="0"/>
              <a:t>PROTOTIPAR</a:t>
            </a:r>
            <a:endParaRPr lang="es-AR" sz="2000" b="1" dirty="0"/>
          </a:p>
        </p:txBody>
      </p:sp>
    </p:spTree>
    <p:extLst>
      <p:ext uri="{BB962C8B-B14F-4D97-AF65-F5344CB8AC3E}">
        <p14:creationId xmlns:p14="http://schemas.microsoft.com/office/powerpoint/2010/main" val="2668252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18</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PROTOTIPAR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977508" y="2568538"/>
            <a:ext cx="9823268" cy="3139321"/>
          </a:xfrm>
          <a:prstGeom prst="rect">
            <a:avLst/>
          </a:prstGeom>
          <a:noFill/>
        </p:spPr>
        <p:txBody>
          <a:bodyPr wrap="square" rtlCol="0">
            <a:spAutoFit/>
          </a:bodyPr>
          <a:lstStyle/>
          <a:p>
            <a:r>
              <a:rPr lang="es-AR" dirty="0">
                <a:solidFill>
                  <a:schemeClr val="bg2">
                    <a:lumMod val="75000"/>
                    <a:lumOff val="25000"/>
                  </a:schemeClr>
                </a:solidFill>
              </a:rPr>
              <a:t>Van de más ágiles y baratas a otras más lentas y que implican algo más de trabajo e inversión.</a:t>
            </a:r>
          </a:p>
          <a:p>
            <a:endParaRPr lang="es-AR" dirty="0">
              <a:solidFill>
                <a:schemeClr val="bg2">
                  <a:lumMod val="75000"/>
                  <a:lumOff val="25000"/>
                </a:schemeClr>
              </a:solidFill>
            </a:endParaRPr>
          </a:p>
          <a:p>
            <a:pPr marL="285750" indent="-285750">
              <a:buFont typeface="Wingdings" panose="05000000000000000000" pitchFamily="2" charset="2"/>
              <a:buChar char="Ø"/>
            </a:pPr>
            <a:r>
              <a:rPr lang="es-AR" sz="1600" b="1" dirty="0">
                <a:solidFill>
                  <a:schemeClr val="bg2">
                    <a:lumMod val="75000"/>
                    <a:lumOff val="25000"/>
                  </a:schemeClr>
                </a:solidFill>
              </a:rPr>
              <a:t>Rol </a:t>
            </a:r>
            <a:r>
              <a:rPr lang="es-AR" sz="1600" b="1" dirty="0" err="1">
                <a:solidFill>
                  <a:schemeClr val="bg2">
                    <a:lumMod val="75000"/>
                    <a:lumOff val="25000"/>
                  </a:schemeClr>
                </a:solidFill>
              </a:rPr>
              <a:t>playing</a:t>
            </a:r>
            <a:r>
              <a:rPr lang="es-AR" sz="1600" b="1" dirty="0">
                <a:solidFill>
                  <a:schemeClr val="bg2">
                    <a:lumMod val="75000"/>
                    <a:lumOff val="25000"/>
                  </a:schemeClr>
                </a:solidFill>
              </a:rPr>
              <a:t>:</a:t>
            </a:r>
            <a:r>
              <a:rPr lang="es-AR" sz="1600" dirty="0">
                <a:solidFill>
                  <a:schemeClr val="bg2">
                    <a:lumMod val="75000"/>
                    <a:lumOff val="25000"/>
                  </a:schemeClr>
                </a:solidFill>
              </a:rPr>
              <a:t> Para prototipar a veces solo es necesaria una representación de la forma de uso de un producto. O de un servicio. Se trata de simular la interacción incluyendo las características que resultan relevantes para el usuario.</a:t>
            </a:r>
          </a:p>
          <a:p>
            <a:pPr marL="285750" indent="-285750">
              <a:buFont typeface="Wingdings" panose="05000000000000000000" pitchFamily="2" charset="2"/>
              <a:buChar char="Ø"/>
            </a:pPr>
            <a:r>
              <a:rPr lang="es-AR" sz="1600" b="1" dirty="0">
                <a:solidFill>
                  <a:schemeClr val="bg2">
                    <a:lumMod val="75000"/>
                    <a:lumOff val="25000"/>
                  </a:schemeClr>
                </a:solidFill>
              </a:rPr>
              <a:t>Storyboard: </a:t>
            </a:r>
            <a:r>
              <a:rPr lang="es-AR" sz="1600" dirty="0">
                <a:solidFill>
                  <a:schemeClr val="bg2">
                    <a:lumMod val="75000"/>
                    <a:lumOff val="25000"/>
                  </a:schemeClr>
                </a:solidFill>
              </a:rPr>
              <a:t>Este prototipo gráfico representa la interacción del usuario con el producto o servicio. En él, se recoge “la película” que cuenta sus funcionalidades  y cómo estas dan solución a necesidades del usuario.</a:t>
            </a:r>
          </a:p>
          <a:p>
            <a:pPr marL="285750" indent="-285750">
              <a:buFont typeface="Wingdings" panose="05000000000000000000" pitchFamily="2" charset="2"/>
              <a:buChar char="Ø"/>
            </a:pPr>
            <a:r>
              <a:rPr lang="es-AR" sz="1600" b="1" dirty="0">
                <a:solidFill>
                  <a:schemeClr val="bg2">
                    <a:lumMod val="75000"/>
                    <a:lumOff val="25000"/>
                  </a:schemeClr>
                </a:solidFill>
              </a:rPr>
              <a:t>Pantallazos: </a:t>
            </a:r>
            <a:r>
              <a:rPr lang="es-AR" sz="1600" dirty="0">
                <a:solidFill>
                  <a:schemeClr val="bg2">
                    <a:lumMod val="75000"/>
                    <a:lumOff val="25000"/>
                  </a:schemeClr>
                </a:solidFill>
              </a:rPr>
              <a:t>Diseñamos pantallazos que nos permitan no solo recoger la historia del producto o servicio, sino también como se integran dentro de una web. Simula la navegación que el usuario va a encontrar en la aplicación.</a:t>
            </a:r>
          </a:p>
        </p:txBody>
      </p:sp>
      <p:sp>
        <p:nvSpPr>
          <p:cNvPr id="12" name="TextBox 11">
            <a:extLst>
              <a:ext uri="{FF2B5EF4-FFF2-40B4-BE49-F238E27FC236}">
                <a16:creationId xmlns:a16="http://schemas.microsoft.com/office/drawing/2014/main" id="{117724DB-15A7-43E5-9522-572B22CA7ED2}"/>
              </a:ext>
            </a:extLst>
          </p:cNvPr>
          <p:cNvSpPr txBox="1"/>
          <p:nvPr/>
        </p:nvSpPr>
        <p:spPr>
          <a:xfrm>
            <a:off x="452846" y="1756218"/>
            <a:ext cx="9823268" cy="584775"/>
          </a:xfrm>
          <a:prstGeom prst="rect">
            <a:avLst/>
          </a:prstGeom>
          <a:noFill/>
        </p:spPr>
        <p:txBody>
          <a:bodyPr wrap="square" rtlCol="0">
            <a:spAutoFit/>
          </a:bodyPr>
          <a:lstStyle/>
          <a:p>
            <a:r>
              <a:rPr lang="es-AR" sz="3200" b="1" dirty="0">
                <a:solidFill>
                  <a:schemeClr val="bg2">
                    <a:lumMod val="75000"/>
                    <a:lumOff val="25000"/>
                  </a:schemeClr>
                </a:solidFill>
              </a:rPr>
              <a:t>LAS DISTINTAS FORMAS DE PROTOTIPAR</a:t>
            </a:r>
            <a:endParaRPr lang="en-US" sz="3200" b="1" dirty="0">
              <a:solidFill>
                <a:schemeClr val="bg2">
                  <a:lumMod val="75000"/>
                  <a:lumOff val="25000"/>
                </a:schemeClr>
              </a:solidFill>
            </a:endParaRPr>
          </a:p>
        </p:txBody>
      </p:sp>
    </p:spTree>
    <p:extLst>
      <p:ext uri="{BB962C8B-B14F-4D97-AF65-F5344CB8AC3E}">
        <p14:creationId xmlns:p14="http://schemas.microsoft.com/office/powerpoint/2010/main" val="2219839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19</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D46C8959-8775-4EB3-912C-4D1DBDEFF9C8}"/>
              </a:ext>
            </a:extLst>
          </p:cNvPr>
          <p:cNvSpPr txBox="1"/>
          <p:nvPr/>
        </p:nvSpPr>
        <p:spPr>
          <a:xfrm>
            <a:off x="977508" y="220533"/>
            <a:ext cx="7961510"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PROTOTIPAR</a:t>
            </a:r>
            <a:endParaRPr lang="es-AR" sz="3200" b="1" dirty="0"/>
          </a:p>
        </p:txBody>
      </p:sp>
      <p:sp>
        <p:nvSpPr>
          <p:cNvPr id="10" name="TextBox 9">
            <a:extLst>
              <a:ext uri="{FF2B5EF4-FFF2-40B4-BE49-F238E27FC236}">
                <a16:creationId xmlns:a16="http://schemas.microsoft.com/office/drawing/2014/main" id="{628DD575-4E5C-4C41-AB2B-78A3606465F2}"/>
              </a:ext>
            </a:extLst>
          </p:cNvPr>
          <p:cNvSpPr txBox="1"/>
          <p:nvPr/>
        </p:nvSpPr>
        <p:spPr>
          <a:xfrm>
            <a:off x="977508" y="2568538"/>
            <a:ext cx="9823268" cy="1969770"/>
          </a:xfrm>
          <a:prstGeom prst="rect">
            <a:avLst/>
          </a:prstGeom>
          <a:noFill/>
        </p:spPr>
        <p:txBody>
          <a:bodyPr wrap="square" rtlCol="0">
            <a:spAutoFit/>
          </a:bodyPr>
          <a:lstStyle/>
          <a:p>
            <a:r>
              <a:rPr lang="es-AR" dirty="0">
                <a:solidFill>
                  <a:schemeClr val="bg2">
                    <a:lumMod val="75000"/>
                    <a:lumOff val="25000"/>
                  </a:schemeClr>
                </a:solidFill>
              </a:rPr>
              <a:t>Si es cierto que una imagen vale más que mil palabras, </a:t>
            </a:r>
            <a:r>
              <a:rPr lang="es-AR" b="1" dirty="0">
                <a:solidFill>
                  <a:schemeClr val="bg2">
                    <a:lumMod val="75000"/>
                    <a:lumOff val="25000"/>
                  </a:schemeClr>
                </a:solidFill>
              </a:rPr>
              <a:t>un prototipo vale más que muchas imágenes</a:t>
            </a:r>
            <a:r>
              <a:rPr lang="es-AR" dirty="0">
                <a:solidFill>
                  <a:schemeClr val="bg2">
                    <a:lumMod val="75000"/>
                    <a:lumOff val="25000"/>
                  </a:schemeClr>
                </a:solidFill>
              </a:rPr>
              <a:t>. O las potencia y les otorga un sentido.</a:t>
            </a:r>
          </a:p>
          <a:p>
            <a:r>
              <a:rPr lang="es-AR" dirty="0">
                <a:solidFill>
                  <a:schemeClr val="bg2">
                    <a:lumMod val="75000"/>
                    <a:lumOff val="25000"/>
                  </a:schemeClr>
                </a:solidFill>
              </a:rPr>
              <a:t>Decimos que prototipar es avanzar porque, cada vez que mostramos algo completo a un usuario, </a:t>
            </a:r>
            <a:r>
              <a:rPr lang="es-AR" b="1" dirty="0">
                <a:solidFill>
                  <a:schemeClr val="bg2">
                    <a:lumMod val="75000"/>
                    <a:lumOff val="25000"/>
                  </a:schemeClr>
                </a:solidFill>
              </a:rPr>
              <a:t>le damos la oportunidad de que nos devuelva </a:t>
            </a:r>
            <a:r>
              <a:rPr lang="es-AR" b="1" dirty="0" err="1">
                <a:solidFill>
                  <a:schemeClr val="bg2">
                    <a:lumMod val="75000"/>
                    <a:lumOff val="25000"/>
                  </a:schemeClr>
                </a:solidFill>
              </a:rPr>
              <a:t>feedback</a:t>
            </a:r>
            <a:r>
              <a:rPr lang="es-AR" dirty="0">
                <a:solidFill>
                  <a:schemeClr val="bg2">
                    <a:lumMod val="75000"/>
                    <a:lumOff val="25000"/>
                  </a:schemeClr>
                </a:solidFill>
              </a:rPr>
              <a:t>.</a:t>
            </a:r>
          </a:p>
          <a:p>
            <a:endParaRPr lang="es-AR" sz="1600" dirty="0">
              <a:solidFill>
                <a:schemeClr val="bg2">
                  <a:lumMod val="75000"/>
                  <a:lumOff val="25000"/>
                </a:schemeClr>
              </a:solidFill>
            </a:endParaRPr>
          </a:p>
          <a:p>
            <a:endParaRPr lang="es-AR" sz="1600" dirty="0">
              <a:solidFill>
                <a:schemeClr val="bg2">
                  <a:lumMod val="75000"/>
                  <a:lumOff val="25000"/>
                </a:schemeClr>
              </a:solidFill>
            </a:endParaRPr>
          </a:p>
          <a:p>
            <a:r>
              <a:rPr lang="es-AR" dirty="0">
                <a:solidFill>
                  <a:schemeClr val="bg2">
                    <a:lumMod val="75000"/>
                    <a:lumOff val="25000"/>
                  </a:schemeClr>
                </a:solidFill>
              </a:rPr>
              <a:t>Establecemos un puente entre nosotros y el usuario.</a:t>
            </a:r>
          </a:p>
        </p:txBody>
      </p:sp>
      <p:sp>
        <p:nvSpPr>
          <p:cNvPr id="12" name="TextBox 11">
            <a:extLst>
              <a:ext uri="{FF2B5EF4-FFF2-40B4-BE49-F238E27FC236}">
                <a16:creationId xmlns:a16="http://schemas.microsoft.com/office/drawing/2014/main" id="{117724DB-15A7-43E5-9522-572B22CA7ED2}"/>
              </a:ext>
            </a:extLst>
          </p:cNvPr>
          <p:cNvSpPr txBox="1"/>
          <p:nvPr/>
        </p:nvSpPr>
        <p:spPr>
          <a:xfrm>
            <a:off x="452846" y="1756218"/>
            <a:ext cx="9823268" cy="584775"/>
          </a:xfrm>
          <a:prstGeom prst="rect">
            <a:avLst/>
          </a:prstGeom>
          <a:noFill/>
        </p:spPr>
        <p:txBody>
          <a:bodyPr wrap="square" rtlCol="0">
            <a:spAutoFit/>
          </a:bodyPr>
          <a:lstStyle/>
          <a:p>
            <a:r>
              <a:rPr lang="es-AR" sz="3200" b="1" dirty="0">
                <a:solidFill>
                  <a:schemeClr val="bg2">
                    <a:lumMod val="75000"/>
                    <a:lumOff val="25000"/>
                  </a:schemeClr>
                </a:solidFill>
              </a:rPr>
              <a:t>PROTOTIPAR ES AVANZAR</a:t>
            </a:r>
            <a:endParaRPr lang="en-US" sz="3200" b="1" dirty="0">
              <a:solidFill>
                <a:schemeClr val="bg2">
                  <a:lumMod val="75000"/>
                  <a:lumOff val="25000"/>
                </a:schemeClr>
              </a:solidFill>
            </a:endParaRPr>
          </a:p>
        </p:txBody>
      </p:sp>
      <p:pic>
        <p:nvPicPr>
          <p:cNvPr id="5" name="Picture 4">
            <a:extLst>
              <a:ext uri="{FF2B5EF4-FFF2-40B4-BE49-F238E27FC236}">
                <a16:creationId xmlns:a16="http://schemas.microsoft.com/office/drawing/2014/main" id="{E59EFC08-400D-4B33-8C0E-B8161D40F65B}"/>
              </a:ext>
            </a:extLst>
          </p:cNvPr>
          <p:cNvPicPr>
            <a:picLocks noChangeAspect="1"/>
          </p:cNvPicPr>
          <p:nvPr/>
        </p:nvPicPr>
        <p:blipFill>
          <a:blip r:embed="rId3"/>
          <a:stretch>
            <a:fillRect/>
          </a:stretch>
        </p:blipFill>
        <p:spPr>
          <a:xfrm>
            <a:off x="7022588" y="3857329"/>
            <a:ext cx="4885509" cy="2405929"/>
          </a:xfrm>
          <a:prstGeom prst="rect">
            <a:avLst/>
          </a:prstGeom>
        </p:spPr>
      </p:pic>
    </p:spTree>
    <p:extLst>
      <p:ext uri="{BB962C8B-B14F-4D97-AF65-F5344CB8AC3E}">
        <p14:creationId xmlns:p14="http://schemas.microsoft.com/office/powerpoint/2010/main" val="2988340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20</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TextBox 9">
            <a:extLst>
              <a:ext uri="{FF2B5EF4-FFF2-40B4-BE49-F238E27FC236}">
                <a16:creationId xmlns:a16="http://schemas.microsoft.com/office/drawing/2014/main" id="{628DD575-4E5C-4C41-AB2B-78A3606465F2}"/>
              </a:ext>
            </a:extLst>
          </p:cNvPr>
          <p:cNvSpPr txBox="1"/>
          <p:nvPr/>
        </p:nvSpPr>
        <p:spPr>
          <a:xfrm>
            <a:off x="977509" y="4220195"/>
            <a:ext cx="9700822" cy="923330"/>
          </a:xfrm>
          <a:prstGeom prst="rect">
            <a:avLst/>
          </a:prstGeom>
          <a:noFill/>
        </p:spPr>
        <p:txBody>
          <a:bodyPr wrap="square" rtlCol="0">
            <a:spAutoFit/>
          </a:bodyPr>
          <a:lstStyle/>
          <a:p>
            <a:r>
              <a:rPr lang="es-AR" dirty="0">
                <a:solidFill>
                  <a:schemeClr val="bg2">
                    <a:lumMod val="75000"/>
                    <a:lumOff val="25000"/>
                  </a:schemeClr>
                </a:solidFill>
              </a:rPr>
              <a:t>La última etapa consiste en realizar pruebas con usuarios finales usando los prototipos. De esta forma se verá la eficiencia de la solución y las dificultades que experimentan las personas al interactuar con el producto o servicio.</a:t>
            </a:r>
          </a:p>
        </p:txBody>
      </p:sp>
      <p:sp>
        <p:nvSpPr>
          <p:cNvPr id="13" name="TextBox 12">
            <a:extLst>
              <a:ext uri="{FF2B5EF4-FFF2-40B4-BE49-F238E27FC236}">
                <a16:creationId xmlns:a16="http://schemas.microsoft.com/office/drawing/2014/main" id="{FE8AE092-1F23-4242-8C54-478CED8A7933}"/>
              </a:ext>
            </a:extLst>
          </p:cNvPr>
          <p:cNvSpPr txBox="1"/>
          <p:nvPr/>
        </p:nvSpPr>
        <p:spPr>
          <a:xfrm>
            <a:off x="3312883" y="2637805"/>
            <a:ext cx="7896525" cy="369332"/>
          </a:xfrm>
          <a:prstGeom prst="rect">
            <a:avLst/>
          </a:prstGeom>
          <a:noFill/>
        </p:spPr>
        <p:txBody>
          <a:bodyPr wrap="square" rtlCol="0">
            <a:spAutoFit/>
          </a:bodyPr>
          <a:lstStyle/>
          <a:p>
            <a:r>
              <a:rPr lang="es-AR" dirty="0">
                <a:solidFill>
                  <a:schemeClr val="bg2">
                    <a:lumMod val="75000"/>
                    <a:lumOff val="25000"/>
                  </a:schemeClr>
                </a:solidFill>
              </a:rPr>
              <a:t>Es el momento de mostrar al usuario lo diseñado para él.</a:t>
            </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PROBAR</a:t>
            </a:r>
            <a:endParaRPr lang="es-AR" sz="3200" b="1" dirty="0"/>
          </a:p>
        </p:txBody>
      </p:sp>
      <p:sp>
        <p:nvSpPr>
          <p:cNvPr id="12" name="Hexagon 11">
            <a:extLst>
              <a:ext uri="{FF2B5EF4-FFF2-40B4-BE49-F238E27FC236}">
                <a16:creationId xmlns:a16="http://schemas.microsoft.com/office/drawing/2014/main" id="{A1CD65BE-3F2E-4C5C-92DC-5B284EECC4A5}"/>
              </a:ext>
            </a:extLst>
          </p:cNvPr>
          <p:cNvSpPr/>
          <p:nvPr/>
        </p:nvSpPr>
        <p:spPr>
          <a:xfrm>
            <a:off x="977507" y="2071947"/>
            <a:ext cx="1820091" cy="1569044"/>
          </a:xfrm>
          <a:prstGeom prst="hexagon">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TextBox 14">
            <a:extLst>
              <a:ext uri="{FF2B5EF4-FFF2-40B4-BE49-F238E27FC236}">
                <a16:creationId xmlns:a16="http://schemas.microsoft.com/office/drawing/2014/main" id="{5BAA8408-9B25-48FA-9363-89D1CE2A9A69}"/>
              </a:ext>
            </a:extLst>
          </p:cNvPr>
          <p:cNvSpPr txBox="1"/>
          <p:nvPr/>
        </p:nvSpPr>
        <p:spPr>
          <a:xfrm>
            <a:off x="1112459" y="2622358"/>
            <a:ext cx="1550186" cy="400110"/>
          </a:xfrm>
          <a:prstGeom prst="rect">
            <a:avLst/>
          </a:prstGeom>
          <a:noFill/>
        </p:spPr>
        <p:txBody>
          <a:bodyPr wrap="square" rtlCol="0">
            <a:spAutoFit/>
          </a:bodyPr>
          <a:lstStyle/>
          <a:p>
            <a:pPr algn="ctr"/>
            <a:r>
              <a:rPr lang="en-US" sz="2000" b="1" dirty="0"/>
              <a:t>PROBAR</a:t>
            </a:r>
            <a:endParaRPr lang="es-AR" sz="2000" b="1" dirty="0"/>
          </a:p>
        </p:txBody>
      </p:sp>
    </p:spTree>
    <p:extLst>
      <p:ext uri="{BB962C8B-B14F-4D97-AF65-F5344CB8AC3E}">
        <p14:creationId xmlns:p14="http://schemas.microsoft.com/office/powerpoint/2010/main" val="3351534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21</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r>
              <a:rPr lang="es-AR" sz="3200" b="1" spc="300" dirty="0">
                <a:latin typeface="Raleway" panose="020B0503030101060003" pitchFamily="34" charset="0"/>
              </a:rPr>
              <a:t> </a:t>
            </a:r>
            <a:r>
              <a:rPr lang="en-US" sz="3200" b="1" dirty="0"/>
              <a:t>- PROBAR</a:t>
            </a:r>
            <a:endParaRPr lang="es-AR" sz="3200" b="1" dirty="0"/>
          </a:p>
        </p:txBody>
      </p:sp>
      <p:sp>
        <p:nvSpPr>
          <p:cNvPr id="16" name="TextBox 15">
            <a:extLst>
              <a:ext uri="{FF2B5EF4-FFF2-40B4-BE49-F238E27FC236}">
                <a16:creationId xmlns:a16="http://schemas.microsoft.com/office/drawing/2014/main" id="{2D29DE7F-A9A8-4B7E-BB6E-21F9F81012CB}"/>
              </a:ext>
            </a:extLst>
          </p:cNvPr>
          <p:cNvSpPr txBox="1"/>
          <p:nvPr/>
        </p:nvSpPr>
        <p:spPr>
          <a:xfrm>
            <a:off x="977508" y="2568538"/>
            <a:ext cx="9823268" cy="3908762"/>
          </a:xfrm>
          <a:prstGeom prst="rect">
            <a:avLst/>
          </a:prstGeom>
          <a:noFill/>
        </p:spPr>
        <p:txBody>
          <a:bodyPr wrap="square" rtlCol="0">
            <a:spAutoFit/>
          </a:bodyPr>
          <a:lstStyle/>
          <a:p>
            <a:r>
              <a:rPr lang="es-AR" dirty="0">
                <a:solidFill>
                  <a:schemeClr val="bg2">
                    <a:lumMod val="75000"/>
                    <a:lumOff val="25000"/>
                  </a:schemeClr>
                </a:solidFill>
              </a:rPr>
              <a:t>Recibimos </a:t>
            </a:r>
            <a:r>
              <a:rPr lang="es-AR" dirty="0" err="1">
                <a:solidFill>
                  <a:schemeClr val="bg2">
                    <a:lumMod val="75000"/>
                    <a:lumOff val="25000"/>
                  </a:schemeClr>
                </a:solidFill>
              </a:rPr>
              <a:t>feedback</a:t>
            </a:r>
            <a:r>
              <a:rPr lang="es-AR" dirty="0">
                <a:solidFill>
                  <a:schemeClr val="bg2">
                    <a:lumMod val="75000"/>
                    <a:lumOff val="25000"/>
                  </a:schemeClr>
                </a:solidFill>
              </a:rPr>
              <a:t> del usuario, en el proceso</a:t>
            </a:r>
            <a:r>
              <a:rPr lang="es-AR" b="1" dirty="0">
                <a:solidFill>
                  <a:schemeClr val="bg2">
                    <a:lumMod val="75000"/>
                    <a:lumOff val="25000"/>
                  </a:schemeClr>
                </a:solidFill>
              </a:rPr>
              <a:t> hemos anotado sus</a:t>
            </a:r>
            <a:r>
              <a:rPr lang="es-AR" dirty="0">
                <a:solidFill>
                  <a:schemeClr val="bg2">
                    <a:lumMod val="75000"/>
                    <a:lumOff val="25000"/>
                  </a:schemeClr>
                </a:solidFill>
              </a:rPr>
              <a:t> </a:t>
            </a:r>
            <a:r>
              <a:rPr lang="es-AR" b="1" dirty="0">
                <a:solidFill>
                  <a:schemeClr val="bg2">
                    <a:lumMod val="75000"/>
                    <a:lumOff val="25000"/>
                  </a:schemeClr>
                </a:solidFill>
              </a:rPr>
              <a:t>reacciones</a:t>
            </a:r>
            <a:r>
              <a:rPr lang="es-AR" dirty="0">
                <a:solidFill>
                  <a:schemeClr val="bg2">
                    <a:lumMod val="75000"/>
                    <a:lumOff val="25000"/>
                  </a:schemeClr>
                </a:solidFill>
              </a:rPr>
              <a:t>. Escuchando su opinión sobre el diseño y observando también su comunicación no verbal. El </a:t>
            </a:r>
            <a:r>
              <a:rPr lang="es-AR" dirty="0" err="1">
                <a:solidFill>
                  <a:schemeClr val="bg2">
                    <a:lumMod val="75000"/>
                    <a:lumOff val="25000"/>
                  </a:schemeClr>
                </a:solidFill>
              </a:rPr>
              <a:t>feedback</a:t>
            </a:r>
            <a:r>
              <a:rPr lang="es-AR" dirty="0">
                <a:solidFill>
                  <a:schemeClr val="bg2">
                    <a:lumMod val="75000"/>
                    <a:lumOff val="25000"/>
                  </a:schemeClr>
                </a:solidFill>
              </a:rPr>
              <a:t> del usuario da lugar básicamente a tres escenarios posibles:</a:t>
            </a:r>
          </a:p>
          <a:p>
            <a:endParaRPr lang="es-AR" sz="1600" dirty="0">
              <a:solidFill>
                <a:schemeClr val="bg2">
                  <a:lumMod val="75000"/>
                  <a:lumOff val="25000"/>
                </a:schemeClr>
              </a:solidFill>
            </a:endParaRPr>
          </a:p>
          <a:p>
            <a:pPr marL="342900" indent="-342900">
              <a:buFont typeface="+mj-lt"/>
              <a:buAutoNum type="arabicPeriod"/>
            </a:pPr>
            <a:r>
              <a:rPr lang="es-AR" sz="1600" b="1" dirty="0">
                <a:solidFill>
                  <a:schemeClr val="bg2">
                    <a:lumMod val="75000"/>
                    <a:lumOff val="25000"/>
                  </a:schemeClr>
                </a:solidFill>
              </a:rPr>
              <a:t>Pasar a producción:</a:t>
            </a:r>
            <a:r>
              <a:rPr lang="es-AR" sz="1600" dirty="0">
                <a:solidFill>
                  <a:schemeClr val="bg2">
                    <a:lumMod val="75000"/>
                    <a:lumOff val="25000"/>
                  </a:schemeClr>
                </a:solidFill>
              </a:rPr>
              <a:t> El </a:t>
            </a:r>
            <a:r>
              <a:rPr lang="es-AR" sz="1600" dirty="0" err="1">
                <a:solidFill>
                  <a:schemeClr val="bg2">
                    <a:lumMod val="75000"/>
                    <a:lumOff val="25000"/>
                  </a:schemeClr>
                </a:solidFill>
              </a:rPr>
              <a:t>feedback</a:t>
            </a:r>
            <a:r>
              <a:rPr lang="es-AR" sz="1600" dirty="0">
                <a:solidFill>
                  <a:schemeClr val="bg2">
                    <a:lumMod val="75000"/>
                    <a:lumOff val="25000"/>
                  </a:schemeClr>
                </a:solidFill>
              </a:rPr>
              <a:t> ha sido muy satisfactorio y vamos a pasar a la fase de producción. El producto va a empezar a fabricarse. Y si se trata de una solución o proceso, dará comienzo su implementación.</a:t>
            </a:r>
          </a:p>
          <a:p>
            <a:pPr marL="342900" indent="-342900">
              <a:buFont typeface="+mj-lt"/>
              <a:buAutoNum type="arabicPeriod"/>
            </a:pPr>
            <a:r>
              <a:rPr lang="es-AR" sz="1600" b="1" dirty="0">
                <a:solidFill>
                  <a:schemeClr val="bg2">
                    <a:lumMod val="75000"/>
                    <a:lumOff val="25000"/>
                  </a:schemeClr>
                </a:solidFill>
              </a:rPr>
              <a:t>Iterar: </a:t>
            </a:r>
            <a:r>
              <a:rPr lang="es-AR" sz="1600" dirty="0">
                <a:solidFill>
                  <a:schemeClr val="bg2">
                    <a:lumMod val="75000"/>
                    <a:lumOff val="25000"/>
                  </a:schemeClr>
                </a:solidFill>
              </a:rPr>
              <a:t>Es la más habitual. Con la validación hemos obtenido un </a:t>
            </a:r>
            <a:r>
              <a:rPr lang="es-AR" sz="1600" dirty="0" err="1">
                <a:solidFill>
                  <a:schemeClr val="bg2">
                    <a:lumMod val="75000"/>
                    <a:lumOff val="25000"/>
                  </a:schemeClr>
                </a:solidFill>
              </a:rPr>
              <a:t>feedback</a:t>
            </a:r>
            <a:r>
              <a:rPr lang="es-AR" sz="1600" dirty="0">
                <a:solidFill>
                  <a:schemeClr val="bg2">
                    <a:lumMod val="75000"/>
                    <a:lumOff val="25000"/>
                  </a:schemeClr>
                </a:solidFill>
              </a:rPr>
              <a:t> que nos ha mostrado qué es aquello que valora el usuario de nuestro prototipo y qué no. Ahora debemos elegir sobre qué parte volvemos a trabajar hasta una nueva validación.</a:t>
            </a:r>
          </a:p>
          <a:p>
            <a:pPr marL="342900" indent="-342900">
              <a:buFont typeface="+mj-lt"/>
              <a:buAutoNum type="arabicPeriod"/>
            </a:pPr>
            <a:r>
              <a:rPr lang="es-AR" sz="1600" b="1" dirty="0">
                <a:solidFill>
                  <a:schemeClr val="bg2">
                    <a:lumMod val="75000"/>
                    <a:lumOff val="25000"/>
                  </a:schemeClr>
                </a:solidFill>
              </a:rPr>
              <a:t>Abandonar el proceso:</a:t>
            </a:r>
            <a:r>
              <a:rPr lang="es-AR" sz="1600" dirty="0">
                <a:solidFill>
                  <a:schemeClr val="bg2">
                    <a:lumMod val="75000"/>
                    <a:lumOff val="25000"/>
                  </a:schemeClr>
                </a:solidFill>
              </a:rPr>
              <a:t> Por la cuestión que sea, no vamos a continuar con el diseño del producto o servicio. Una razón puede ser comprobar que no hay mercado para nuestro producto o servicio. Otra que las validaciones con el usuario nos muestran un </a:t>
            </a:r>
            <a:r>
              <a:rPr lang="es-AR" sz="1600" dirty="0" err="1">
                <a:solidFill>
                  <a:schemeClr val="bg2">
                    <a:lumMod val="75000"/>
                    <a:lumOff val="25000"/>
                  </a:schemeClr>
                </a:solidFill>
              </a:rPr>
              <a:t>feedback</a:t>
            </a:r>
            <a:r>
              <a:rPr lang="es-AR" sz="1600" dirty="0">
                <a:solidFill>
                  <a:schemeClr val="bg2">
                    <a:lumMod val="75000"/>
                    <a:lumOff val="25000"/>
                  </a:schemeClr>
                </a:solidFill>
              </a:rPr>
              <a:t> muy negativo. Sea cual sea el motivo, el proceso se interrumpe. Y dejamos de diseñar.</a:t>
            </a:r>
          </a:p>
          <a:p>
            <a:endParaRPr lang="es-AR" dirty="0">
              <a:solidFill>
                <a:schemeClr val="bg2">
                  <a:lumMod val="75000"/>
                  <a:lumOff val="25000"/>
                </a:schemeClr>
              </a:solidFill>
            </a:endParaRPr>
          </a:p>
        </p:txBody>
      </p:sp>
      <p:sp>
        <p:nvSpPr>
          <p:cNvPr id="17" name="TextBox 16">
            <a:extLst>
              <a:ext uri="{FF2B5EF4-FFF2-40B4-BE49-F238E27FC236}">
                <a16:creationId xmlns:a16="http://schemas.microsoft.com/office/drawing/2014/main" id="{E496E192-E3B4-41AD-A7AC-4331BEE1E070}"/>
              </a:ext>
            </a:extLst>
          </p:cNvPr>
          <p:cNvSpPr txBox="1"/>
          <p:nvPr/>
        </p:nvSpPr>
        <p:spPr>
          <a:xfrm>
            <a:off x="452846" y="1756218"/>
            <a:ext cx="9823268" cy="584775"/>
          </a:xfrm>
          <a:prstGeom prst="rect">
            <a:avLst/>
          </a:prstGeom>
          <a:noFill/>
        </p:spPr>
        <p:txBody>
          <a:bodyPr wrap="square" rtlCol="0">
            <a:spAutoFit/>
          </a:bodyPr>
          <a:lstStyle/>
          <a:p>
            <a:r>
              <a:rPr lang="es-AR" sz="3200" b="1" dirty="0">
                <a:solidFill>
                  <a:schemeClr val="bg2">
                    <a:lumMod val="75000"/>
                    <a:lumOff val="25000"/>
                  </a:schemeClr>
                </a:solidFill>
              </a:rPr>
              <a:t>QUÉ HACER DESPUÉS DE VALIDAR</a:t>
            </a:r>
            <a:endParaRPr lang="en-US" sz="3200" b="1" dirty="0">
              <a:solidFill>
                <a:schemeClr val="bg2">
                  <a:lumMod val="75000"/>
                  <a:lumOff val="25000"/>
                </a:schemeClr>
              </a:solidFill>
            </a:endParaRPr>
          </a:p>
        </p:txBody>
      </p:sp>
    </p:spTree>
    <p:extLst>
      <p:ext uri="{BB962C8B-B14F-4D97-AF65-F5344CB8AC3E}">
        <p14:creationId xmlns:p14="http://schemas.microsoft.com/office/powerpoint/2010/main" val="4010857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0D645E5-8620-4B43-972E-D2FAB43496ED}"/>
              </a:ext>
            </a:extLst>
          </p:cNvPr>
          <p:cNvSpPr>
            <a:spLocks noGrp="1"/>
          </p:cNvSpPr>
          <p:nvPr>
            <p:ph type="ftr" sz="quarter" idx="11"/>
          </p:nvPr>
        </p:nvSpPr>
        <p:spPr>
          <a:xfrm>
            <a:off x="977509" y="6340477"/>
            <a:ext cx="8644320" cy="365125"/>
          </a:xfrm>
        </p:spPr>
        <p:txBody>
          <a:bodyPr/>
          <a:lstStyle/>
          <a:p>
            <a:r>
              <a:rPr lang="es-AR" dirty="0">
                <a:solidFill>
                  <a:schemeClr val="bg2">
                    <a:lumMod val="50000"/>
                    <a:lumOff val="50000"/>
                  </a:schemeClr>
                </a:solidFill>
              </a:rPr>
              <a:t>Métodos ágiles para aplicaciones web</a:t>
            </a:r>
            <a:endParaRPr lang="en-US" dirty="0">
              <a:solidFill>
                <a:schemeClr val="bg2">
                  <a:lumMod val="50000"/>
                  <a:lumOff val="50000"/>
                </a:schemeClr>
              </a:solidFill>
            </a:endParaRPr>
          </a:p>
        </p:txBody>
      </p:sp>
      <p:sp>
        <p:nvSpPr>
          <p:cNvPr id="3" name="Marcador de número de diapositiva 2">
            <a:extLst>
              <a:ext uri="{FF2B5EF4-FFF2-40B4-BE49-F238E27FC236}">
                <a16:creationId xmlns:a16="http://schemas.microsoft.com/office/drawing/2014/main" id="{8A44864A-E2FF-4D69-9890-A20D8D0BC4A5}"/>
              </a:ext>
            </a:extLst>
          </p:cNvPr>
          <p:cNvSpPr>
            <a:spLocks noGrp="1"/>
          </p:cNvSpPr>
          <p:nvPr>
            <p:ph type="sldNum" sz="quarter" idx="12"/>
          </p:nvPr>
        </p:nvSpPr>
        <p:spPr>
          <a:xfrm>
            <a:off x="10678331" y="6137940"/>
            <a:ext cx="1062155" cy="567661"/>
          </a:xfrm>
        </p:spPr>
        <p:txBody>
          <a:bodyPr/>
          <a:lstStyle/>
          <a:p>
            <a:fld id="{D57F1E4F-1CFF-5643-939E-217C01CDF565}" type="slidenum">
              <a:rPr lang="en-US" smtClean="0">
                <a:solidFill>
                  <a:schemeClr val="bg2">
                    <a:lumMod val="50000"/>
                    <a:lumOff val="50000"/>
                  </a:schemeClr>
                </a:solidFill>
              </a:rPr>
              <a:pPr/>
              <a:t>22</a:t>
            </a:fld>
            <a:endParaRPr lang="en-US" dirty="0">
              <a:solidFill>
                <a:schemeClr val="bg2">
                  <a:lumMod val="50000"/>
                  <a:lumOff val="50000"/>
                </a:schemeClr>
              </a:solidFill>
            </a:endParaRPr>
          </a:p>
        </p:txBody>
      </p:sp>
      <p:pic>
        <p:nvPicPr>
          <p:cNvPr id="6" name="Imagen 5">
            <a:extLst>
              <a:ext uri="{FF2B5EF4-FFF2-40B4-BE49-F238E27FC236}">
                <a16:creationId xmlns:a16="http://schemas.microsoft.com/office/drawing/2014/main" id="{F868BB12-A955-4A5C-B8C9-8FF11E7CDDD6}"/>
              </a:ext>
            </a:extLst>
          </p:cNvPr>
          <p:cNvPicPr>
            <a:picLocks noChangeAspect="1"/>
          </p:cNvPicPr>
          <p:nvPr/>
        </p:nvPicPr>
        <p:blipFill>
          <a:blip r:embed="rId2"/>
          <a:stretch>
            <a:fillRect/>
          </a:stretch>
        </p:blipFill>
        <p:spPr>
          <a:xfrm>
            <a:off x="283903" y="6161187"/>
            <a:ext cx="567661" cy="567661"/>
          </a:xfrm>
          <a:prstGeom prst="rect">
            <a:avLst/>
          </a:prstGeom>
        </p:spPr>
      </p:pic>
      <p:sp>
        <p:nvSpPr>
          <p:cNvPr id="7" name="Rectángulo 6">
            <a:extLst>
              <a:ext uri="{FF2B5EF4-FFF2-40B4-BE49-F238E27FC236}">
                <a16:creationId xmlns:a16="http://schemas.microsoft.com/office/drawing/2014/main" id="{7BB349D0-B2B8-48FB-8B2E-EB1E60E1660A}"/>
              </a:ext>
            </a:extLst>
          </p:cNvPr>
          <p:cNvSpPr/>
          <p:nvPr/>
        </p:nvSpPr>
        <p:spPr>
          <a:xfrm>
            <a:off x="0" y="-57150"/>
            <a:ext cx="12192000" cy="11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Rectángulo: esquinas redondeadas 7">
            <a:extLst>
              <a:ext uri="{FF2B5EF4-FFF2-40B4-BE49-F238E27FC236}">
                <a16:creationId xmlns:a16="http://schemas.microsoft.com/office/drawing/2014/main" id="{24A65E9F-01C0-4278-AD3F-84DE8220C0C0}"/>
              </a:ext>
            </a:extLst>
          </p:cNvPr>
          <p:cNvSpPr/>
          <p:nvPr/>
        </p:nvSpPr>
        <p:spPr>
          <a:xfrm rot="18968429">
            <a:off x="1053436" y="460726"/>
            <a:ext cx="1167430" cy="68916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CuadroTexto 8">
            <a:extLst>
              <a:ext uri="{FF2B5EF4-FFF2-40B4-BE49-F238E27FC236}">
                <a16:creationId xmlns:a16="http://schemas.microsoft.com/office/drawing/2014/main" id="{A0DF334D-B277-413E-882E-2356950FB82B}"/>
              </a:ext>
            </a:extLst>
          </p:cNvPr>
          <p:cNvSpPr txBox="1"/>
          <p:nvPr/>
        </p:nvSpPr>
        <p:spPr>
          <a:xfrm>
            <a:off x="977507" y="220533"/>
            <a:ext cx="10352343" cy="584775"/>
          </a:xfrm>
          <a:prstGeom prst="rect">
            <a:avLst/>
          </a:prstGeom>
          <a:noFill/>
        </p:spPr>
        <p:txBody>
          <a:bodyPr wrap="square" rtlCol="0">
            <a:spAutoFit/>
          </a:bodyPr>
          <a:lstStyle/>
          <a:p>
            <a:r>
              <a:rPr lang="en-US" sz="3200" b="1" spc="300" dirty="0">
                <a:latin typeface="Raleway" panose="020B0503030101060003" pitchFamily="34" charset="0"/>
              </a:rPr>
              <a:t>DESIGN THINKING</a:t>
            </a:r>
            <a:endParaRPr lang="es-AR" sz="3200" b="1" dirty="0"/>
          </a:p>
        </p:txBody>
      </p:sp>
      <p:sp>
        <p:nvSpPr>
          <p:cNvPr id="17" name="TextBox 16">
            <a:extLst>
              <a:ext uri="{FF2B5EF4-FFF2-40B4-BE49-F238E27FC236}">
                <a16:creationId xmlns:a16="http://schemas.microsoft.com/office/drawing/2014/main" id="{E496E192-E3B4-41AD-A7AC-4331BEE1E070}"/>
              </a:ext>
            </a:extLst>
          </p:cNvPr>
          <p:cNvSpPr txBox="1"/>
          <p:nvPr/>
        </p:nvSpPr>
        <p:spPr>
          <a:xfrm>
            <a:off x="0" y="3075057"/>
            <a:ext cx="12192000" cy="707886"/>
          </a:xfrm>
          <a:prstGeom prst="rect">
            <a:avLst/>
          </a:prstGeom>
          <a:noFill/>
        </p:spPr>
        <p:txBody>
          <a:bodyPr wrap="square" rtlCol="0">
            <a:spAutoFit/>
          </a:bodyPr>
          <a:lstStyle/>
          <a:p>
            <a:pPr algn="ctr"/>
            <a:r>
              <a:rPr lang="es-AR" sz="4000" b="1" dirty="0">
                <a:solidFill>
                  <a:schemeClr val="bg2">
                    <a:lumMod val="75000"/>
                    <a:lumOff val="25000"/>
                  </a:schemeClr>
                </a:solidFill>
              </a:rPr>
              <a:t>¿PREGUNTAS?</a:t>
            </a:r>
            <a:endParaRPr lang="en-US" sz="4000" b="1" dirty="0">
              <a:solidFill>
                <a:schemeClr val="bg2">
                  <a:lumMod val="75000"/>
                  <a:lumOff val="25000"/>
                </a:schemeClr>
              </a:solidFill>
            </a:endParaRPr>
          </a:p>
        </p:txBody>
      </p:sp>
    </p:spTree>
    <p:extLst>
      <p:ext uri="{BB962C8B-B14F-4D97-AF65-F5344CB8AC3E}">
        <p14:creationId xmlns:p14="http://schemas.microsoft.com/office/powerpoint/2010/main" val="12388631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2F4A21B-80B9-40F1-8308-E0B7F0FE0B09}">
  <ds:schemaRefs>
    <ds:schemaRef ds:uri="http://schemas.microsoft.com/sharepoint/v3/contenttype/forms"/>
  </ds:schemaRefs>
</ds:datastoreItem>
</file>

<file path=customXml/itemProps2.xml><?xml version="1.0" encoding="utf-8"?>
<ds:datastoreItem xmlns:ds="http://schemas.openxmlformats.org/officeDocument/2006/customXml" ds:itemID="{0F051B7F-F45F-4FBB-974B-85B568B21B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E96646-423E-4354-94C2-1A28227BF07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Slice</Template>
  <TotalTime>0</TotalTime>
  <Words>1600</Words>
  <Application>Microsoft Office PowerPoint</Application>
  <PresentationFormat>Widescreen</PresentationFormat>
  <Paragraphs>165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Calibri</vt:lpstr>
      <vt:lpstr>Century Gothic</vt:lpstr>
      <vt:lpstr>Raleway</vt:lpstr>
      <vt:lpstr>Wingdings</vt:lpstr>
      <vt:lpstr>Wingdings 2</vt:lpstr>
      <vt:lpstr>Quotable</vt:lpstr>
      <vt:lpstr>DESIGN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2019-11-26T21:18:25Z</dcterms:created>
  <dcterms:modified xsi:type="dcterms:W3CDTF">2019-11-28T04:00:51Z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