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8" r:id="rId2"/>
    <p:sldId id="269" r:id="rId3"/>
    <p:sldId id="280" r:id="rId4"/>
    <p:sldId id="279" r:id="rId5"/>
    <p:sldId id="270" r:id="rId6"/>
    <p:sldId id="271" r:id="rId7"/>
    <p:sldId id="272" r:id="rId8"/>
    <p:sldId id="273" r:id="rId9"/>
    <p:sldId id="275" r:id="rId10"/>
    <p:sldId id="276" r:id="rId11"/>
    <p:sldId id="277" r:id="rId12"/>
    <p:sldId id="274" r:id="rId13"/>
    <p:sldId id="278" r:id="rId14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213E01-EC01-4C81-BE74-C4571998C7B7}" type="datetimeFigureOut">
              <a:rPr lang="es-AR" smtClean="0"/>
              <a:t>22/5/2025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232288-130D-416D-B8C8-314BEAB8673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1495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0729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6103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3359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1623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67288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9498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43896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95770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24080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77031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48901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0097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1311A-CF28-4912-9C63-2CE31314C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4545EA-62F4-4F37-87C6-D2B1059A1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6B6DFE-C6DA-4C29-BBC0-2CEA20D12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4DF9-CAA4-4643-8A79-7240116F819F}" type="datetimeFigureOut">
              <a:rPr lang="es-AR" smtClean="0"/>
              <a:t>22/5/2025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CF9766-7596-43FC-A8C9-7413A5C5A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A156D0-D7E3-49C6-9CE4-6FE8A572A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9AC1-C5BD-4301-A28E-38043DAA205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05747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B64FA6-9690-49D5-A575-6790C6D66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056CDE-4FD0-4307-B97B-BB84AE219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304C48-8571-4806-B6B4-747DBC826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4DF9-CAA4-4643-8A79-7240116F819F}" type="datetimeFigureOut">
              <a:rPr lang="es-AR" smtClean="0"/>
              <a:t>22/5/2025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C4EB60-3A56-4447-8A5A-DE7A3B0F2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7C259B-25D7-496F-9947-06D632B83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9AC1-C5BD-4301-A28E-38043DAA205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687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F04282-C2F8-471D-8FA2-8E38587ED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0A4A51-C8A7-4C39-B4B3-D74BAA3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97C756-CAD8-4BA2-B6F8-7FD48F853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4DF9-CAA4-4643-8A79-7240116F819F}" type="datetimeFigureOut">
              <a:rPr lang="es-AR" smtClean="0"/>
              <a:t>22/5/2025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C08537-B9CB-4FEB-96F3-A8EFD0D2C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2BAC83-5586-4715-9CCB-3FABA9F89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9AC1-C5BD-4301-A28E-38043DAA205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68766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C7A7E6-CA9D-4C8D-8B12-D20730DB5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054B47-7F57-4899-866E-B3EF5F682A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9A75D5-5D79-4EC6-BA27-69F7E9298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84737B-39D0-4818-8426-52F15E92B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4DF9-CAA4-4643-8A79-7240116F819F}" type="datetimeFigureOut">
              <a:rPr lang="es-AR" smtClean="0"/>
              <a:t>22/5/2025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5D4301-E4C6-4447-9185-1C3670B5B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08529B-9EF1-4463-BC9F-F8DAB20AD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9AC1-C5BD-4301-A28E-38043DAA205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88216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774CEE-C273-4CEC-876F-DFDB6EADB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610674-5A9C-4741-8B72-67508320D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C79614-11A7-42E6-ADC3-63D445FFD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437D12-C925-4BA5-8364-F1D09A2BD6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4B1DB58-B7B9-49BE-AE0B-0BFD319A17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2CD4199-577C-4EBD-AB92-8DFC5BDD4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4DF9-CAA4-4643-8A79-7240116F819F}" type="datetimeFigureOut">
              <a:rPr lang="es-AR" smtClean="0"/>
              <a:t>22/5/2025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2500925-3EDC-4BB0-9C3E-D2A5AE2AC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0CDEEE-2DCA-4E8A-BEEB-5A844F298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9AC1-C5BD-4301-A28E-38043DAA205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11527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61EC4-A8D5-4BD2-B45B-6928F26FB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0866A5-6B79-45FF-9C3F-EE691EE95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4DF9-CAA4-4643-8A79-7240116F819F}" type="datetimeFigureOut">
              <a:rPr lang="es-AR" smtClean="0"/>
              <a:t>22/5/2025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E47388C-1DB0-4E45-81D4-46B5AE28B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4DEDC82-BCEC-4EFB-A305-4082C9581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9AC1-C5BD-4301-A28E-38043DAA205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93429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1CE7820-5131-4BA1-B2F7-DE2CF4BE5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4DF9-CAA4-4643-8A79-7240116F819F}" type="datetimeFigureOut">
              <a:rPr lang="es-AR" smtClean="0"/>
              <a:t>22/5/2025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ABFE386-7512-474B-ABB5-12F21092B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849B103-4604-43A3-A631-7B4E1F002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9AC1-C5BD-4301-A28E-38043DAA205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0187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C2C54-2C05-4F71-84B3-E9630A40D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89A8A2-7778-4D96-9B2F-D2FFA7D20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4FDB61B-9A38-48EB-88F9-D58A1E70A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3C4379-2E39-4080-A880-B7D076BC4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4DF9-CAA4-4643-8A79-7240116F819F}" type="datetimeFigureOut">
              <a:rPr lang="es-AR" smtClean="0"/>
              <a:t>22/5/2025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6E5F73-831C-4BFF-8D0D-7C50B5913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6F43F1C-5821-4643-8E20-4A868454E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9AC1-C5BD-4301-A28E-38043DAA205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97718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438D6-8508-408A-8E49-0AE13E51D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6E6DB65-80FA-41AF-893D-A67FC43AEB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EC4F2EB-665B-46D0-865B-581FC58B69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EA597F-4FEB-4EBD-B1A7-DA2C6579D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4DF9-CAA4-4643-8A79-7240116F819F}" type="datetimeFigureOut">
              <a:rPr lang="es-AR" smtClean="0"/>
              <a:t>22/5/2025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CD9AD3-5887-4229-AC96-A5CFA4079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4A37A6-BA0F-4BD3-B23B-ABF945026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9AC1-C5BD-4301-A28E-38043DAA205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60553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4CD6F0-FD6E-44CC-9079-ADA401411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1DAEA15-E919-4CCD-A568-5D353B6EF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B66F42-D33E-43ED-9198-B7CC15B45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4DF9-CAA4-4643-8A79-7240116F819F}" type="datetimeFigureOut">
              <a:rPr lang="es-AR" smtClean="0"/>
              <a:t>22/5/2025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ADE12D-5500-4EA3-B7E7-4BABFF90A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1969FA-8D89-4182-896D-4154AB87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9AC1-C5BD-4301-A28E-38043DAA205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9860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9BC5B9-E35D-4D49-8D87-033AB56F1C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DB5A97A-3F33-42F0-A8BA-83E3CE3AC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698EBB-B363-4017-8716-FD3B6C2A1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4DF9-CAA4-4643-8A79-7240116F819F}" type="datetimeFigureOut">
              <a:rPr lang="es-AR" smtClean="0"/>
              <a:t>22/5/2025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6D67C8-64D6-4CD7-BB84-13E3F167B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2DAFBF-DB90-4354-92FB-1F63DAA4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9AC1-C5BD-4301-A28E-38043DAA205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87262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just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just">
              <a:spcBef>
                <a:spcPts val="2133"/>
              </a:spcBef>
              <a:spcAft>
                <a:spcPts val="0"/>
              </a:spcAft>
              <a:buSzPts val="1400"/>
              <a:buChar char="■"/>
              <a:defRPr sz="2267"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0966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173D932-1FE2-482D-A36E-C65EF0350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A151EE-31D1-4B54-9211-7B0FDAC27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CA38CD-B81F-4F0A-B360-20C679C2D6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84DF9-CAA4-4643-8A79-7240116F819F}" type="datetimeFigureOut">
              <a:rPr lang="es-AR" smtClean="0"/>
              <a:t>22/5/2025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BD36A9-1E10-4938-8032-6AECC88A87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096FCB-CA0D-4CBA-8AD4-A7F794BCE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A9AC1-C5BD-4301-A28E-38043DAA205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78763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Open Web </a:t>
            </a:r>
            <a:r>
              <a:rPr lang="es-AR" dirty="0" err="1"/>
              <a:t>Application</a:t>
            </a:r>
            <a:r>
              <a:rPr lang="es-AR" dirty="0"/>
              <a:t> Security Project:  Comunidad global sin fines de lucro enfocada en mejorar la seguridad del software. Provee recursos, herramientas y metodologías abiertas y gratuitas. Analiza los principales riesgos para desarrollo web, móvil, </a:t>
            </a:r>
            <a:r>
              <a:rPr lang="es-AR" dirty="0" err="1"/>
              <a:t>APIs</a:t>
            </a:r>
            <a:r>
              <a:rPr lang="es-AR" dirty="0"/>
              <a:t>, </a:t>
            </a:r>
            <a:r>
              <a:rPr lang="es-AR" dirty="0" err="1"/>
              <a:t>LLMs</a:t>
            </a:r>
            <a:r>
              <a:rPr lang="es-AR" dirty="0"/>
              <a:t>, </a:t>
            </a:r>
            <a:r>
              <a:rPr lang="es-AR" dirty="0" err="1"/>
              <a:t>Blockchain</a:t>
            </a:r>
            <a:r>
              <a:rPr lang="es-AR" dirty="0"/>
              <a:t>.</a:t>
            </a:r>
          </a:p>
          <a:p>
            <a:pPr marL="457200" indent="-457200" algn="l">
              <a:lnSpc>
                <a:spcPct val="100000"/>
              </a:lnSpc>
            </a:pPr>
            <a:r>
              <a:rPr lang="es-AR" dirty="0"/>
              <a:t>La Importancia de OWASP: </a:t>
            </a:r>
          </a:p>
          <a:p>
            <a:pPr marL="1066785" lvl="1" indent="-457200">
              <a:lnSpc>
                <a:spcPct val="100000"/>
              </a:lnSpc>
            </a:pPr>
            <a:r>
              <a:rPr lang="es-AR" dirty="0"/>
              <a:t>Estándar de la Industria: Referencia clave para desarrolladores y profesionales de seguridad.</a:t>
            </a:r>
          </a:p>
          <a:p>
            <a:pPr marL="1066785" lvl="1" indent="-457200">
              <a:lnSpc>
                <a:spcPct val="100000"/>
              </a:lnSpc>
            </a:pPr>
            <a:r>
              <a:rPr lang="es-AR" dirty="0"/>
              <a:t>Concientización: Ayuda a entender y mitigar los riesgos más críticos.</a:t>
            </a:r>
          </a:p>
          <a:p>
            <a:pPr marL="1066785" lvl="1" indent="-457200">
              <a:lnSpc>
                <a:spcPct val="100000"/>
              </a:lnSpc>
            </a:pPr>
            <a:r>
              <a:rPr lang="es-AR" dirty="0"/>
              <a:t>Evolución Constante: Sus listas y proyectos se actualizan para reflejar nuevas amenazas.</a:t>
            </a:r>
          </a:p>
          <a:p>
            <a:pPr marL="1066785" lvl="1" indent="-457200">
              <a:lnSpc>
                <a:spcPct val="100000"/>
              </a:lnSpc>
            </a:pPr>
            <a:r>
              <a:rPr lang="es-AR" dirty="0"/>
              <a:t>Enfoque Práctico: Guías accionables para prevenir vulnerabilidades.</a:t>
            </a:r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s-AR" b="1" dirty="0">
                <a:solidFill>
                  <a:srgbClr val="674EA7"/>
                </a:solidFill>
              </a:rPr>
              <a:t>¿Qué es OWASP? </a:t>
            </a:r>
            <a:endParaRPr b="1" dirty="0">
              <a:solidFill>
                <a:srgbClr val="674EA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b="1" dirty="0"/>
              <a:t>Aplicables a todos los ámbitos de desarrollo: </a:t>
            </a:r>
          </a:p>
          <a:p>
            <a:pPr marL="0" indent="0" algn="l">
              <a:lnSpc>
                <a:spcPct val="100000"/>
              </a:lnSpc>
              <a:buNone/>
            </a:pPr>
            <a:endParaRPr lang="es-AR" b="1" dirty="0"/>
          </a:p>
          <a:p>
            <a:pPr marL="457200" indent="-457200" algn="l">
              <a:lnSpc>
                <a:spcPct val="100000"/>
              </a:lnSpc>
            </a:pPr>
            <a:r>
              <a:rPr lang="es-AR" dirty="0" err="1"/>
              <a:t>Least</a:t>
            </a:r>
            <a:r>
              <a:rPr lang="es-AR" dirty="0"/>
              <a:t> </a:t>
            </a:r>
            <a:r>
              <a:rPr lang="es-AR" dirty="0" err="1"/>
              <a:t>Privilege</a:t>
            </a:r>
            <a:r>
              <a:rPr lang="es-AR" dirty="0"/>
              <a:t> (Principio del Menor Privilegio): Otorgar solo los permisos necesarios.</a:t>
            </a:r>
          </a:p>
          <a:p>
            <a:pPr marL="457200" indent="-457200" algn="l">
              <a:lnSpc>
                <a:spcPct val="100000"/>
              </a:lnSpc>
            </a:pPr>
            <a:r>
              <a:rPr lang="es-AR" dirty="0" err="1"/>
              <a:t>Defense</a:t>
            </a:r>
            <a:r>
              <a:rPr lang="es-AR" dirty="0"/>
              <a:t> in Depth (Defensa en Profundidad): Múltiples capas de seguridad.</a:t>
            </a:r>
          </a:p>
          <a:p>
            <a:pPr marL="457200" indent="-457200" algn="l">
              <a:lnSpc>
                <a:spcPct val="100000"/>
              </a:lnSpc>
            </a:pPr>
            <a:r>
              <a:rPr lang="es-AR" dirty="0" err="1"/>
              <a:t>Secure</a:t>
            </a:r>
            <a:r>
              <a:rPr lang="es-AR" dirty="0"/>
              <a:t> </a:t>
            </a:r>
            <a:r>
              <a:rPr lang="es-AR" dirty="0" err="1"/>
              <a:t>by</a:t>
            </a:r>
            <a:r>
              <a:rPr lang="es-AR" dirty="0"/>
              <a:t> </a:t>
            </a:r>
            <a:r>
              <a:rPr lang="es-AR" dirty="0" err="1"/>
              <a:t>Design</a:t>
            </a:r>
            <a:r>
              <a:rPr lang="es-AR" dirty="0"/>
              <a:t>: Integrar la seguridad desde las etapas iniciales del diseño.</a:t>
            </a:r>
          </a:p>
          <a:p>
            <a:pPr marL="457200" indent="-457200" algn="l">
              <a:lnSpc>
                <a:spcPct val="100000"/>
              </a:lnSpc>
            </a:pPr>
            <a:r>
              <a:rPr lang="es-AR" dirty="0" err="1"/>
              <a:t>Fail</a:t>
            </a:r>
            <a:r>
              <a:rPr lang="es-AR" dirty="0"/>
              <a:t> </a:t>
            </a:r>
            <a:r>
              <a:rPr lang="es-AR" dirty="0" err="1"/>
              <a:t>Securely</a:t>
            </a:r>
            <a:r>
              <a:rPr lang="es-AR" dirty="0"/>
              <a:t>: En caso de fallo, el sistema debe caer en un estado seguro.</a:t>
            </a:r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 err="1">
                <a:solidFill>
                  <a:srgbClr val="674EA7"/>
                </a:solidFill>
              </a:rPr>
              <a:t>Principios</a:t>
            </a:r>
            <a:r>
              <a:rPr lang="en-US" b="1" dirty="0">
                <a:solidFill>
                  <a:srgbClr val="674EA7"/>
                </a:solidFill>
              </a:rPr>
              <a:t> </a:t>
            </a:r>
            <a:r>
              <a:rPr lang="en-US" b="1" dirty="0" err="1">
                <a:solidFill>
                  <a:srgbClr val="674EA7"/>
                </a:solidFill>
              </a:rPr>
              <a:t>Transversales</a:t>
            </a:r>
            <a:r>
              <a:rPr lang="en-US" b="1" dirty="0">
                <a:solidFill>
                  <a:srgbClr val="674EA7"/>
                </a:solidFill>
              </a:rPr>
              <a:t> de </a:t>
            </a:r>
            <a:r>
              <a:rPr lang="en-US" b="1" dirty="0" err="1">
                <a:solidFill>
                  <a:srgbClr val="674EA7"/>
                </a:solidFill>
              </a:rPr>
              <a:t>Seguridad</a:t>
            </a:r>
            <a:endParaRPr b="1" dirty="0">
              <a:solidFill>
                <a:srgbClr val="674E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402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457200" indent="-457200" algn="l">
              <a:lnSpc>
                <a:spcPct val="100000"/>
              </a:lnSpc>
            </a:pPr>
            <a:r>
              <a:rPr lang="es-AR" dirty="0"/>
              <a:t>Principio de Confianza Cero (Zero Trust): No confiar en nada, verificar todo.</a:t>
            </a:r>
          </a:p>
          <a:p>
            <a:pPr marL="457200" indent="-457200" algn="l">
              <a:lnSpc>
                <a:spcPct val="100000"/>
              </a:lnSpc>
            </a:pPr>
            <a:r>
              <a:rPr lang="es-AR" dirty="0"/>
              <a:t>Validación de Entradas: Nunca confiar en los datos de entrada del usuario.</a:t>
            </a:r>
          </a:p>
          <a:p>
            <a:pPr marL="457200" indent="-457200" algn="l">
              <a:lnSpc>
                <a:spcPct val="100000"/>
              </a:lnSpc>
            </a:pPr>
            <a:r>
              <a:rPr lang="es-AR" dirty="0"/>
              <a:t>Actualizaciones y Parches: Mantener el software y componentes actualizados.</a:t>
            </a:r>
          </a:p>
          <a:p>
            <a:pPr marL="457200" indent="-457200" algn="l">
              <a:lnSpc>
                <a:spcPct val="100000"/>
              </a:lnSpc>
            </a:pPr>
            <a:r>
              <a:rPr lang="es-AR" dirty="0"/>
              <a:t>Monitoreo y </a:t>
            </a:r>
            <a:r>
              <a:rPr lang="es-AR" dirty="0" err="1"/>
              <a:t>Logging</a:t>
            </a:r>
            <a:r>
              <a:rPr lang="es-AR" dirty="0"/>
              <a:t>: Registrar y supervisar eventos de seguridad.</a:t>
            </a:r>
          </a:p>
          <a:p>
            <a:pPr marL="457200" indent="-457200" algn="l">
              <a:lnSpc>
                <a:spcPct val="100000"/>
              </a:lnSpc>
            </a:pPr>
            <a:r>
              <a:rPr lang="es-AR" dirty="0"/>
              <a:t>Auditorías y Pruebas de Penetración: Evaluar regularmente la seguridad.</a:t>
            </a:r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 err="1">
                <a:solidFill>
                  <a:srgbClr val="674EA7"/>
                </a:solidFill>
              </a:rPr>
              <a:t>Principios</a:t>
            </a:r>
            <a:r>
              <a:rPr lang="en-US" b="1" dirty="0">
                <a:solidFill>
                  <a:srgbClr val="674EA7"/>
                </a:solidFill>
              </a:rPr>
              <a:t> </a:t>
            </a:r>
            <a:r>
              <a:rPr lang="en-US" b="1" dirty="0" err="1">
                <a:solidFill>
                  <a:srgbClr val="674EA7"/>
                </a:solidFill>
              </a:rPr>
              <a:t>Transversales</a:t>
            </a:r>
            <a:r>
              <a:rPr lang="en-US" b="1" dirty="0">
                <a:solidFill>
                  <a:srgbClr val="674EA7"/>
                </a:solidFill>
              </a:rPr>
              <a:t> de </a:t>
            </a:r>
            <a:r>
              <a:rPr lang="en-US" b="1" dirty="0" err="1">
                <a:solidFill>
                  <a:srgbClr val="674EA7"/>
                </a:solidFill>
              </a:rPr>
              <a:t>Seguridad</a:t>
            </a:r>
            <a:r>
              <a:rPr lang="en-US" b="1" dirty="0">
                <a:solidFill>
                  <a:srgbClr val="674EA7"/>
                </a:solidFill>
              </a:rPr>
              <a:t> (cont.)</a:t>
            </a:r>
            <a:endParaRPr b="1" dirty="0">
              <a:solidFill>
                <a:srgbClr val="674E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041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b="1" dirty="0"/>
              <a:t>EJES PRINCIPALES</a:t>
            </a:r>
            <a:br>
              <a:rPr lang="es-AR" dirty="0"/>
            </a:br>
            <a:r>
              <a:rPr lang="es-AR" dirty="0"/>
              <a:t>A01:2021 - </a:t>
            </a:r>
            <a:r>
              <a:rPr lang="es-AR" dirty="0" err="1"/>
              <a:t>Broken</a:t>
            </a:r>
            <a:r>
              <a:rPr lang="es-AR" dirty="0"/>
              <a:t> Access Control: Errores en la gestión de permisos.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A02:2021 - </a:t>
            </a:r>
            <a:r>
              <a:rPr lang="es-AR" dirty="0" err="1"/>
              <a:t>Cryptographic</a:t>
            </a:r>
            <a:r>
              <a:rPr lang="es-AR" dirty="0"/>
              <a:t> </a:t>
            </a:r>
            <a:r>
              <a:rPr lang="es-AR" dirty="0" err="1"/>
              <a:t>Failures</a:t>
            </a:r>
            <a:r>
              <a:rPr lang="es-AR" dirty="0"/>
              <a:t>: Fallos en la encriptación de datos sensibles.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A03:2021 - </a:t>
            </a:r>
            <a:r>
              <a:rPr lang="es-AR" dirty="0" err="1"/>
              <a:t>Injection</a:t>
            </a:r>
            <a:r>
              <a:rPr lang="es-AR" dirty="0"/>
              <a:t>: Inyección de código (SQL, NoSQL, OS </a:t>
            </a:r>
            <a:r>
              <a:rPr lang="es-AR" dirty="0" err="1"/>
              <a:t>Command</a:t>
            </a:r>
            <a:r>
              <a:rPr lang="es-AR" dirty="0"/>
              <a:t>).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A04:2021 - </a:t>
            </a:r>
            <a:r>
              <a:rPr lang="es-AR" dirty="0" err="1"/>
              <a:t>Insecure</a:t>
            </a:r>
            <a:r>
              <a:rPr lang="es-AR" dirty="0"/>
              <a:t> </a:t>
            </a:r>
            <a:r>
              <a:rPr lang="es-AR" dirty="0" err="1"/>
              <a:t>Design</a:t>
            </a:r>
            <a:r>
              <a:rPr lang="es-AR" dirty="0"/>
              <a:t>: Fallas de diseño que abren la puerta a vulnerabilidades.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A05:2021 - Security </a:t>
            </a:r>
            <a:r>
              <a:rPr lang="es-AR" dirty="0" err="1"/>
              <a:t>Misconfiguration</a:t>
            </a:r>
            <a:r>
              <a:rPr lang="es-AR" dirty="0"/>
              <a:t>: Configuraciones de seguridad incorrectas o por defecto.</a:t>
            </a:r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>
                <a:solidFill>
                  <a:srgbClr val="674EA7"/>
                </a:solidFill>
              </a:rPr>
              <a:t>Top 10 Web Application Security Risks</a:t>
            </a:r>
            <a:endParaRPr b="1" dirty="0">
              <a:solidFill>
                <a:srgbClr val="674E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308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A06:2021 - Vulnerable and </a:t>
            </a:r>
            <a:r>
              <a:rPr lang="es-AR" dirty="0" err="1"/>
              <a:t>Outdated</a:t>
            </a:r>
            <a:r>
              <a:rPr lang="es-AR" dirty="0"/>
              <a:t> </a:t>
            </a:r>
            <a:r>
              <a:rPr lang="es-AR" dirty="0" err="1"/>
              <a:t>Components</a:t>
            </a:r>
            <a:r>
              <a:rPr lang="es-AR" dirty="0"/>
              <a:t>: Uso de librerías/componentes con vulnerabilidades conocidas.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A07:2021 - </a:t>
            </a:r>
            <a:r>
              <a:rPr lang="es-AR" dirty="0" err="1"/>
              <a:t>Identification</a:t>
            </a:r>
            <a:r>
              <a:rPr lang="es-AR" dirty="0"/>
              <a:t> and </a:t>
            </a:r>
            <a:r>
              <a:rPr lang="es-AR" dirty="0" err="1"/>
              <a:t>Authentication</a:t>
            </a:r>
            <a:r>
              <a:rPr lang="es-AR" dirty="0"/>
              <a:t> </a:t>
            </a:r>
            <a:r>
              <a:rPr lang="es-AR" dirty="0" err="1"/>
              <a:t>Failures</a:t>
            </a:r>
            <a:r>
              <a:rPr lang="es-AR" dirty="0"/>
              <a:t>: Fallas en la autenticación y gestión de sesiones.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A08:2021 - Software and Data </a:t>
            </a:r>
            <a:r>
              <a:rPr lang="es-AR" dirty="0" err="1"/>
              <a:t>Integrity</a:t>
            </a:r>
            <a:r>
              <a:rPr lang="es-AR" dirty="0"/>
              <a:t> </a:t>
            </a:r>
            <a:r>
              <a:rPr lang="es-AR" dirty="0" err="1"/>
              <a:t>Failures</a:t>
            </a:r>
            <a:r>
              <a:rPr lang="es-AR" dirty="0"/>
              <a:t>: Errores en la integridad del software y datos.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A09:2021 - Security </a:t>
            </a:r>
            <a:r>
              <a:rPr lang="es-AR" dirty="0" err="1"/>
              <a:t>Logging</a:t>
            </a:r>
            <a:r>
              <a:rPr lang="es-AR" dirty="0"/>
              <a:t> and </a:t>
            </a:r>
            <a:r>
              <a:rPr lang="es-AR" dirty="0" err="1"/>
              <a:t>Monitoring</a:t>
            </a:r>
            <a:r>
              <a:rPr lang="es-AR" dirty="0"/>
              <a:t> </a:t>
            </a:r>
            <a:r>
              <a:rPr lang="es-AR" dirty="0" err="1"/>
              <a:t>Failures</a:t>
            </a:r>
            <a:r>
              <a:rPr lang="es-AR" dirty="0"/>
              <a:t>: Falta de logs o monitoreo adecuado.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A10:2021 - Server-</a:t>
            </a:r>
            <a:r>
              <a:rPr lang="es-AR" dirty="0" err="1"/>
              <a:t>Side</a:t>
            </a:r>
            <a:r>
              <a:rPr lang="es-AR" dirty="0"/>
              <a:t> </a:t>
            </a:r>
            <a:r>
              <a:rPr lang="es-AR" dirty="0" err="1"/>
              <a:t>Request</a:t>
            </a:r>
            <a:r>
              <a:rPr lang="es-AR" dirty="0"/>
              <a:t> </a:t>
            </a:r>
            <a:r>
              <a:rPr lang="es-AR" dirty="0" err="1"/>
              <a:t>Forgery</a:t>
            </a:r>
            <a:r>
              <a:rPr lang="es-AR" dirty="0"/>
              <a:t> (SSRF): Un tipo de inyección que fuerza al servidor a hacer peticiones no autorizadas.</a:t>
            </a:r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>
                <a:solidFill>
                  <a:srgbClr val="674EA7"/>
                </a:solidFill>
              </a:rPr>
              <a:t>Top 10 Web Application Security Risks (cont.)</a:t>
            </a:r>
            <a:endParaRPr b="1" dirty="0">
              <a:solidFill>
                <a:srgbClr val="674E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5684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Mobile </a:t>
            </a:r>
            <a:r>
              <a:rPr lang="es-AR" dirty="0" err="1"/>
              <a:t>Application</a:t>
            </a:r>
            <a:r>
              <a:rPr lang="es-AR" dirty="0"/>
              <a:t> Security </a:t>
            </a:r>
            <a:r>
              <a:rPr lang="es-AR" dirty="0" err="1"/>
              <a:t>Verification</a:t>
            </a:r>
            <a:r>
              <a:rPr lang="es-AR" dirty="0"/>
              <a:t> Standard :Centrado en riesgos específicos del entorno móvil 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•	Ejes Principales: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M1: </a:t>
            </a:r>
            <a:r>
              <a:rPr lang="es-AR" dirty="0" err="1"/>
              <a:t>Improper</a:t>
            </a:r>
            <a:r>
              <a:rPr lang="es-AR" dirty="0"/>
              <a:t> </a:t>
            </a:r>
            <a:r>
              <a:rPr lang="es-AR" dirty="0" err="1"/>
              <a:t>Platform</a:t>
            </a:r>
            <a:r>
              <a:rPr lang="es-AR" dirty="0"/>
              <a:t> </a:t>
            </a:r>
            <a:r>
              <a:rPr lang="es-AR" dirty="0" err="1"/>
              <a:t>Usage</a:t>
            </a:r>
            <a:r>
              <a:rPr lang="es-AR" dirty="0"/>
              <a:t>: Uso incorrecto de funcionalidades de seguridad de la plataforma (Android/iOS).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M2: </a:t>
            </a:r>
            <a:r>
              <a:rPr lang="es-AR" dirty="0" err="1"/>
              <a:t>Insecure</a:t>
            </a:r>
            <a:r>
              <a:rPr lang="es-AR" dirty="0"/>
              <a:t> Data Storage: Almacenamiento inseguro de datos sensibles en el dispositivo.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M3: </a:t>
            </a:r>
            <a:r>
              <a:rPr lang="es-AR" dirty="0" err="1"/>
              <a:t>Insecure</a:t>
            </a:r>
            <a:r>
              <a:rPr lang="es-AR" dirty="0"/>
              <a:t> </a:t>
            </a:r>
            <a:r>
              <a:rPr lang="es-AR" dirty="0" err="1"/>
              <a:t>Communication</a:t>
            </a:r>
            <a:r>
              <a:rPr lang="es-AR" dirty="0"/>
              <a:t>: Comunicación no cifrada o mal protegida.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M4: </a:t>
            </a:r>
            <a:r>
              <a:rPr lang="es-AR" dirty="0" err="1"/>
              <a:t>Insecure</a:t>
            </a:r>
            <a:r>
              <a:rPr lang="es-AR" dirty="0"/>
              <a:t> </a:t>
            </a:r>
            <a:r>
              <a:rPr lang="es-AR" dirty="0" err="1"/>
              <a:t>Authentication</a:t>
            </a:r>
            <a:r>
              <a:rPr lang="es-AR" dirty="0"/>
              <a:t>/</a:t>
            </a:r>
            <a:r>
              <a:rPr lang="es-AR" dirty="0" err="1"/>
              <a:t>Authorization</a:t>
            </a:r>
            <a:r>
              <a:rPr lang="es-AR" dirty="0"/>
              <a:t>: Fallas en los mecanismos de autenticación/autorización.</a:t>
            </a:r>
          </a:p>
          <a:p>
            <a:pPr marL="0" indent="0" algn="l">
              <a:lnSpc>
                <a:spcPct val="100000"/>
              </a:lnSpc>
              <a:buNone/>
            </a:pPr>
            <a:endParaRPr lang="es-AR" dirty="0"/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/>
              <a:t>MASVS / Mobile Top 10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61854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sz="3000" dirty="0"/>
              <a:t>M5: </a:t>
            </a:r>
            <a:r>
              <a:rPr lang="es-AR" sz="3000" dirty="0" err="1"/>
              <a:t>Insufficient</a:t>
            </a:r>
            <a:r>
              <a:rPr lang="es-AR" sz="3000" dirty="0"/>
              <a:t> </a:t>
            </a:r>
            <a:r>
              <a:rPr lang="es-AR" sz="3000" dirty="0" err="1"/>
              <a:t>Cryptography</a:t>
            </a:r>
            <a:r>
              <a:rPr lang="es-AR" sz="3000" dirty="0"/>
              <a:t>: Uso débil o incorrecto de criptografía.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3000" dirty="0"/>
              <a:t>M6: </a:t>
            </a:r>
            <a:r>
              <a:rPr lang="es-AR" sz="3000" dirty="0" err="1"/>
              <a:t>Insecure</a:t>
            </a:r>
            <a:r>
              <a:rPr lang="es-AR" sz="3000" dirty="0"/>
              <a:t> </a:t>
            </a:r>
            <a:r>
              <a:rPr lang="es-AR" sz="3000" dirty="0" err="1"/>
              <a:t>Code</a:t>
            </a:r>
            <a:r>
              <a:rPr lang="es-AR" sz="3000" dirty="0"/>
              <a:t>: Código vulnerable (ej. inyección, </a:t>
            </a:r>
            <a:r>
              <a:rPr lang="es-AR" sz="3000" dirty="0" err="1"/>
              <a:t>overflows</a:t>
            </a:r>
            <a:r>
              <a:rPr lang="es-AR" sz="3000" dirty="0"/>
              <a:t>).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3000" dirty="0"/>
              <a:t>M7: </a:t>
            </a:r>
            <a:r>
              <a:rPr lang="es-AR" sz="3000" dirty="0" err="1"/>
              <a:t>Tampering</a:t>
            </a:r>
            <a:r>
              <a:rPr lang="es-AR" sz="3000" dirty="0"/>
              <a:t>: Dificultad para prevenir la alteración de la aplicación.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3000" dirty="0"/>
              <a:t>M8: Reverse </a:t>
            </a:r>
            <a:r>
              <a:rPr lang="es-AR" sz="3000" dirty="0" err="1"/>
              <a:t>Engineering</a:t>
            </a:r>
            <a:r>
              <a:rPr lang="es-AR" sz="3000" dirty="0"/>
              <a:t>: Facilidad para aplicar ingeniería inversa.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3000" dirty="0"/>
              <a:t>M9: </a:t>
            </a:r>
            <a:r>
              <a:rPr lang="es-AR" sz="3000" dirty="0" err="1"/>
              <a:t>Extraneous</a:t>
            </a:r>
            <a:r>
              <a:rPr lang="es-AR" sz="3000" dirty="0"/>
              <a:t> </a:t>
            </a:r>
            <a:r>
              <a:rPr lang="es-AR" sz="3000" dirty="0" err="1"/>
              <a:t>Functionality</a:t>
            </a:r>
            <a:r>
              <a:rPr lang="es-AR" sz="3000" dirty="0"/>
              <a:t>: Funcionalidad no necesaria o sensible expuesta.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3000" dirty="0"/>
              <a:t>M10: </a:t>
            </a:r>
            <a:r>
              <a:rPr lang="es-AR" sz="3000" dirty="0" err="1"/>
              <a:t>Lack</a:t>
            </a:r>
            <a:r>
              <a:rPr lang="es-AR" sz="3000" dirty="0"/>
              <a:t> </a:t>
            </a:r>
            <a:r>
              <a:rPr lang="es-AR" sz="3000" dirty="0" err="1"/>
              <a:t>of</a:t>
            </a:r>
            <a:r>
              <a:rPr lang="es-AR" sz="3000" dirty="0"/>
              <a:t> </a:t>
            </a:r>
            <a:r>
              <a:rPr lang="es-AR" sz="3000" dirty="0" err="1"/>
              <a:t>Binary</a:t>
            </a:r>
            <a:r>
              <a:rPr lang="es-AR" sz="3000" dirty="0"/>
              <a:t> </a:t>
            </a:r>
            <a:r>
              <a:rPr lang="es-AR" sz="3000" dirty="0" err="1"/>
              <a:t>Protections</a:t>
            </a:r>
            <a:r>
              <a:rPr lang="es-AR" sz="3000" dirty="0"/>
              <a:t>: Falta de protección del binario de la aplicación.</a:t>
            </a:r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/>
              <a:t>MASVS / Mobile Top 10 (cont.)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9280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sz="2400" dirty="0"/>
              <a:t>Vulnerabilidades comunes en </a:t>
            </a:r>
            <a:r>
              <a:rPr lang="es-AR" sz="2400" dirty="0" err="1"/>
              <a:t>APIs</a:t>
            </a:r>
            <a:r>
              <a:rPr lang="es-AR" sz="2400" dirty="0"/>
              <a:t> REST, </a:t>
            </a:r>
            <a:r>
              <a:rPr lang="es-AR" sz="2400" dirty="0" err="1"/>
              <a:t>GraphQL</a:t>
            </a:r>
            <a:r>
              <a:rPr lang="es-AR" sz="2400" dirty="0"/>
              <a:t>, etc.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dirty="0"/>
              <a:t>Las </a:t>
            </a:r>
            <a:r>
              <a:rPr lang="es-AR" sz="2400" dirty="0" err="1"/>
              <a:t>APIs</a:t>
            </a:r>
            <a:r>
              <a:rPr lang="es-AR" sz="2400" dirty="0"/>
              <a:t> son la "cara" de muchos servicios y un vector de ataque creciente.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dirty="0"/>
              <a:t> •	Ejes Principales: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API1:2023 - </a:t>
            </a:r>
            <a:r>
              <a:rPr lang="es-AR" sz="2400" b="1" dirty="0" err="1"/>
              <a:t>Broken</a:t>
            </a:r>
            <a:r>
              <a:rPr lang="es-AR" sz="2400" b="1" dirty="0"/>
              <a:t> </a:t>
            </a:r>
            <a:r>
              <a:rPr lang="es-AR" sz="2400" b="1" dirty="0" err="1"/>
              <a:t>Object</a:t>
            </a:r>
            <a:r>
              <a:rPr lang="es-AR" sz="2400" b="1" dirty="0"/>
              <a:t> </a:t>
            </a:r>
            <a:r>
              <a:rPr lang="es-AR" sz="2400" b="1" dirty="0" err="1"/>
              <a:t>Level</a:t>
            </a:r>
            <a:r>
              <a:rPr lang="es-AR" sz="2400" b="1" dirty="0"/>
              <a:t> </a:t>
            </a:r>
            <a:r>
              <a:rPr lang="es-AR" sz="2400" b="1" dirty="0" err="1"/>
              <a:t>Authorization</a:t>
            </a:r>
            <a:r>
              <a:rPr lang="es-AR" sz="2400" b="1" dirty="0"/>
              <a:t> (BOLA):</a:t>
            </a:r>
            <a:r>
              <a:rPr lang="es-AR" sz="2400" dirty="0"/>
              <a:t> No verificar si el usuario tiene permiso para acceder a un recurso específico.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API2:2023 - </a:t>
            </a:r>
            <a:r>
              <a:rPr lang="es-AR" sz="2400" b="1" dirty="0" err="1"/>
              <a:t>Broken</a:t>
            </a:r>
            <a:r>
              <a:rPr lang="es-AR" sz="2400" b="1" dirty="0"/>
              <a:t> </a:t>
            </a:r>
            <a:r>
              <a:rPr lang="es-AR" sz="2400" b="1" dirty="0" err="1"/>
              <a:t>Authentication</a:t>
            </a:r>
            <a:r>
              <a:rPr lang="es-AR" sz="2400" b="1" dirty="0"/>
              <a:t>:</a:t>
            </a:r>
            <a:r>
              <a:rPr lang="es-AR" sz="2400" dirty="0"/>
              <a:t> Fallas en la gestión de tokens, contraseñas, claves API.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API3:2023 - </a:t>
            </a:r>
            <a:r>
              <a:rPr lang="es-AR" sz="2400" b="1" dirty="0" err="1"/>
              <a:t>Broken</a:t>
            </a:r>
            <a:r>
              <a:rPr lang="es-AR" sz="2400" b="1" dirty="0"/>
              <a:t> </a:t>
            </a:r>
            <a:r>
              <a:rPr lang="es-AR" sz="2400" b="1" dirty="0" err="1"/>
              <a:t>Object</a:t>
            </a:r>
            <a:r>
              <a:rPr lang="es-AR" sz="2400" b="1" dirty="0"/>
              <a:t> </a:t>
            </a:r>
            <a:r>
              <a:rPr lang="es-AR" sz="2400" b="1" dirty="0" err="1"/>
              <a:t>Property</a:t>
            </a:r>
            <a:r>
              <a:rPr lang="es-AR" sz="2400" b="1" dirty="0"/>
              <a:t> </a:t>
            </a:r>
            <a:r>
              <a:rPr lang="es-AR" sz="2400" b="1" dirty="0" err="1"/>
              <a:t>Level</a:t>
            </a:r>
            <a:r>
              <a:rPr lang="es-AR" sz="2400" b="1" dirty="0"/>
              <a:t> </a:t>
            </a:r>
            <a:r>
              <a:rPr lang="es-AR" sz="2400" b="1" dirty="0" err="1"/>
              <a:t>Authorization</a:t>
            </a:r>
            <a:r>
              <a:rPr lang="es-AR" sz="2400" b="1" dirty="0"/>
              <a:t>:</a:t>
            </a:r>
            <a:r>
              <a:rPr lang="es-AR" sz="2400" dirty="0"/>
              <a:t> Autorización a nivel de propiedades de objetos, no solo objetos completos.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API4:2023 - </a:t>
            </a:r>
            <a:r>
              <a:rPr lang="es-AR" sz="2400" b="1" dirty="0" err="1"/>
              <a:t>Unrestricted</a:t>
            </a:r>
            <a:r>
              <a:rPr lang="es-AR" sz="2400" b="1" dirty="0"/>
              <a:t> </a:t>
            </a:r>
            <a:r>
              <a:rPr lang="es-AR" sz="2400" b="1" dirty="0" err="1"/>
              <a:t>Resource</a:t>
            </a:r>
            <a:r>
              <a:rPr lang="es-AR" sz="2400" b="1" dirty="0"/>
              <a:t> </a:t>
            </a:r>
            <a:r>
              <a:rPr lang="es-AR" sz="2400" b="1" dirty="0" err="1"/>
              <a:t>Consumption</a:t>
            </a:r>
            <a:r>
              <a:rPr lang="es-AR" sz="2400" b="1" dirty="0"/>
              <a:t>:</a:t>
            </a:r>
            <a:r>
              <a:rPr lang="es-AR" sz="2400" dirty="0"/>
              <a:t> Falta de límites en la cantidad de recursos que una API puede consumir (DoS).</a:t>
            </a:r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/>
              <a:t>OWASP API Security Top 10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5234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API5:2023 - </a:t>
            </a:r>
            <a:r>
              <a:rPr lang="es-AR" sz="2400" b="1" dirty="0" err="1"/>
              <a:t>Broken</a:t>
            </a:r>
            <a:r>
              <a:rPr lang="es-AR" sz="2400" b="1" dirty="0"/>
              <a:t> </a:t>
            </a:r>
            <a:r>
              <a:rPr lang="es-AR" sz="2400" b="1" dirty="0" err="1"/>
              <a:t>Function</a:t>
            </a:r>
            <a:r>
              <a:rPr lang="es-AR" sz="2400" b="1" dirty="0"/>
              <a:t> </a:t>
            </a:r>
            <a:r>
              <a:rPr lang="es-AR" sz="2400" b="1" dirty="0" err="1"/>
              <a:t>Level</a:t>
            </a:r>
            <a:r>
              <a:rPr lang="es-AR" sz="2400" b="1" dirty="0"/>
              <a:t> </a:t>
            </a:r>
            <a:r>
              <a:rPr lang="es-AR" sz="2400" b="1" dirty="0" err="1"/>
              <a:t>Authorization</a:t>
            </a:r>
            <a:r>
              <a:rPr lang="es-AR" sz="2400" b="1" dirty="0"/>
              <a:t> (BFLA):</a:t>
            </a:r>
            <a:r>
              <a:rPr lang="es-AR" sz="2400" dirty="0"/>
              <a:t> No verificar permisos para acceder a funciones/</a:t>
            </a:r>
            <a:r>
              <a:rPr lang="es-AR" sz="2400" dirty="0" err="1"/>
              <a:t>endpoints</a:t>
            </a:r>
            <a:r>
              <a:rPr lang="es-AR" sz="2400" dirty="0"/>
              <a:t> específicos.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API6:2023 - Server </a:t>
            </a:r>
            <a:r>
              <a:rPr lang="es-AR" sz="2400" b="1" dirty="0" err="1"/>
              <a:t>Side</a:t>
            </a:r>
            <a:r>
              <a:rPr lang="es-AR" sz="2400" b="1" dirty="0"/>
              <a:t> </a:t>
            </a:r>
            <a:r>
              <a:rPr lang="es-AR" sz="2400" b="1" dirty="0" err="1"/>
              <a:t>Request</a:t>
            </a:r>
            <a:r>
              <a:rPr lang="es-AR" sz="2400" b="1" dirty="0"/>
              <a:t> </a:t>
            </a:r>
            <a:r>
              <a:rPr lang="es-AR" sz="2400" b="1" dirty="0" err="1"/>
              <a:t>Forgery</a:t>
            </a:r>
            <a:r>
              <a:rPr lang="es-AR" sz="2400" b="1" dirty="0"/>
              <a:t> (SSRF):</a:t>
            </a:r>
            <a:r>
              <a:rPr lang="es-AR" sz="2400" dirty="0"/>
              <a:t> El servidor es engañado para hacer peticiones no autorizadas.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API7:2023 - Security </a:t>
            </a:r>
            <a:r>
              <a:rPr lang="es-AR" sz="2400" b="1" dirty="0" err="1"/>
              <a:t>Misconfiguration</a:t>
            </a:r>
            <a:r>
              <a:rPr lang="es-AR" sz="2400" b="1" dirty="0"/>
              <a:t>:</a:t>
            </a:r>
            <a:r>
              <a:rPr lang="es-AR" sz="2400" dirty="0"/>
              <a:t> Configuraciones inseguras en servidores, </a:t>
            </a:r>
            <a:r>
              <a:rPr lang="es-AR" sz="2400" dirty="0" err="1"/>
              <a:t>proxies</a:t>
            </a:r>
            <a:r>
              <a:rPr lang="es-AR" sz="2400" dirty="0"/>
              <a:t>, etc.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API8:2023 - </a:t>
            </a:r>
            <a:r>
              <a:rPr lang="es-AR" sz="2400" b="1" dirty="0" err="1"/>
              <a:t>Lack</a:t>
            </a:r>
            <a:r>
              <a:rPr lang="es-AR" sz="2400" b="1" dirty="0"/>
              <a:t> </a:t>
            </a:r>
            <a:r>
              <a:rPr lang="es-AR" sz="2400" b="1" dirty="0" err="1"/>
              <a:t>of</a:t>
            </a:r>
            <a:r>
              <a:rPr lang="es-AR" sz="2400" b="1" dirty="0"/>
              <a:t> </a:t>
            </a:r>
            <a:r>
              <a:rPr lang="es-AR" sz="2400" b="1" dirty="0" err="1"/>
              <a:t>Protection</a:t>
            </a:r>
            <a:r>
              <a:rPr lang="es-AR" sz="2400" b="1" dirty="0"/>
              <a:t> </a:t>
            </a:r>
            <a:r>
              <a:rPr lang="es-AR" sz="2400" b="1" dirty="0" err="1"/>
              <a:t>from</a:t>
            </a:r>
            <a:r>
              <a:rPr lang="es-AR" sz="2400" b="1" dirty="0"/>
              <a:t> </a:t>
            </a:r>
            <a:r>
              <a:rPr lang="es-AR" sz="2400" b="1" dirty="0" err="1"/>
              <a:t>Automated</a:t>
            </a:r>
            <a:r>
              <a:rPr lang="es-AR" sz="2400" b="1" dirty="0"/>
              <a:t> </a:t>
            </a:r>
            <a:r>
              <a:rPr lang="es-AR" sz="2400" b="1" dirty="0" err="1"/>
              <a:t>Threats</a:t>
            </a:r>
            <a:r>
              <a:rPr lang="es-AR" sz="2400" b="1" dirty="0"/>
              <a:t>:</a:t>
            </a:r>
            <a:r>
              <a:rPr lang="es-AR" sz="2400" dirty="0"/>
              <a:t> No hay mecanismos para detectar y mitigar ataques automatizados (</a:t>
            </a:r>
            <a:r>
              <a:rPr lang="es-AR" sz="2400" dirty="0" err="1"/>
              <a:t>bots</a:t>
            </a:r>
            <a:r>
              <a:rPr lang="es-AR" sz="2400" dirty="0"/>
              <a:t>).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API9:2023 - </a:t>
            </a:r>
            <a:r>
              <a:rPr lang="es-AR" sz="2400" b="1" dirty="0" err="1"/>
              <a:t>Improper</a:t>
            </a:r>
            <a:r>
              <a:rPr lang="es-AR" sz="2400" b="1" dirty="0"/>
              <a:t> </a:t>
            </a:r>
            <a:r>
              <a:rPr lang="es-AR" sz="2400" b="1" dirty="0" err="1"/>
              <a:t>Inventory</a:t>
            </a:r>
            <a:r>
              <a:rPr lang="es-AR" sz="2400" b="1" dirty="0"/>
              <a:t> Management:</a:t>
            </a:r>
            <a:r>
              <a:rPr lang="es-AR" sz="2400" dirty="0"/>
              <a:t> Falta de control sobre las versiones de </a:t>
            </a:r>
            <a:r>
              <a:rPr lang="es-AR" sz="2400" dirty="0" err="1"/>
              <a:t>APIs</a:t>
            </a:r>
            <a:r>
              <a:rPr lang="es-AR" sz="2400" dirty="0"/>
              <a:t> y </a:t>
            </a:r>
            <a:r>
              <a:rPr lang="es-AR" sz="2400" dirty="0" err="1"/>
              <a:t>endpoints</a:t>
            </a:r>
            <a:r>
              <a:rPr lang="es-AR" sz="2400" dirty="0"/>
              <a:t> expuestos.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b="1" dirty="0"/>
              <a:t>API10:2023 - </a:t>
            </a:r>
            <a:r>
              <a:rPr lang="es-AR" b="1" dirty="0" err="1"/>
              <a:t>Unsafe</a:t>
            </a:r>
            <a:r>
              <a:rPr lang="es-AR" b="1" dirty="0"/>
              <a:t> </a:t>
            </a:r>
            <a:r>
              <a:rPr lang="es-AR" b="1" dirty="0" err="1"/>
              <a:t>Consumption</a:t>
            </a:r>
            <a:r>
              <a:rPr lang="es-AR" b="1" dirty="0"/>
              <a:t> </a:t>
            </a:r>
            <a:r>
              <a:rPr lang="es-AR" b="1" dirty="0" err="1"/>
              <a:t>of</a:t>
            </a:r>
            <a:r>
              <a:rPr lang="es-AR" b="1" dirty="0"/>
              <a:t> </a:t>
            </a:r>
            <a:r>
              <a:rPr lang="es-AR" b="1" dirty="0" err="1"/>
              <a:t>APIs</a:t>
            </a:r>
            <a:r>
              <a:rPr lang="es-AR" b="1" dirty="0"/>
              <a:t>:</a:t>
            </a:r>
            <a:r>
              <a:rPr lang="es-AR" dirty="0"/>
              <a:t> Integrar </a:t>
            </a:r>
            <a:r>
              <a:rPr lang="es-AR" dirty="0" err="1"/>
              <a:t>APIs</a:t>
            </a:r>
            <a:r>
              <a:rPr lang="es-AR" dirty="0"/>
              <a:t> externas sin validar la seguridad de los datos recibidos.</a:t>
            </a:r>
            <a:endParaRPr lang="es-AR" sz="2000" dirty="0"/>
          </a:p>
          <a:p>
            <a:pPr marL="0" indent="0" algn="l">
              <a:lnSpc>
                <a:spcPct val="100000"/>
              </a:lnSpc>
              <a:buNone/>
            </a:pPr>
            <a:endParaRPr lang="es-AR" dirty="0"/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/>
              <a:t>OWASP API Security Top 10 (cont.)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97356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Seguridad en aplicaciones que integran Modelos de Lenguaje Grandes (</a:t>
            </a:r>
            <a:r>
              <a:rPr lang="es-AR" sz="2400" b="1" dirty="0" err="1"/>
              <a:t>LLMs</a:t>
            </a:r>
            <a:r>
              <a:rPr lang="es-AR" sz="2400" b="1" dirty="0"/>
              <a:t>).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Ejes Principales: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LLM01:2023 - </a:t>
            </a:r>
            <a:r>
              <a:rPr lang="es-AR" sz="2400" b="1" dirty="0" err="1"/>
              <a:t>Prompt</a:t>
            </a:r>
            <a:r>
              <a:rPr lang="es-AR" sz="2400" b="1" dirty="0"/>
              <a:t> </a:t>
            </a:r>
            <a:r>
              <a:rPr lang="es-AR" sz="2400" b="1" dirty="0" err="1"/>
              <a:t>Injection</a:t>
            </a:r>
            <a:r>
              <a:rPr lang="es-AR" sz="2400" b="1" dirty="0"/>
              <a:t>: Manipulación del LLM a través de inputs maliciosos para hacer que genere respuestas no deseadas o revele información.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LLM02:2023 - </a:t>
            </a:r>
            <a:r>
              <a:rPr lang="es-AR" sz="2400" b="1" dirty="0" err="1"/>
              <a:t>Insecure</a:t>
            </a:r>
            <a:r>
              <a:rPr lang="es-AR" sz="2400" b="1" dirty="0"/>
              <a:t> Output </a:t>
            </a:r>
            <a:r>
              <a:rPr lang="es-AR" sz="2400" b="1" dirty="0" err="1"/>
              <a:t>Handling</a:t>
            </a:r>
            <a:r>
              <a:rPr lang="es-AR" sz="2400" b="1" dirty="0"/>
              <a:t>: Salida del LLM no sanitizada, llevando a XSS o inyección de código.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LLM03:2023 - Training Data </a:t>
            </a:r>
            <a:r>
              <a:rPr lang="es-AR" sz="2400" b="1" dirty="0" err="1"/>
              <a:t>Poisoning</a:t>
            </a:r>
            <a:r>
              <a:rPr lang="es-AR" sz="2400" b="1" dirty="0"/>
              <a:t>: Manipulación del </a:t>
            </a:r>
            <a:r>
              <a:rPr lang="es-AR" sz="2400" b="1" dirty="0" err="1"/>
              <a:t>dataset</a:t>
            </a:r>
            <a:r>
              <a:rPr lang="es-AR" sz="2400" b="1" dirty="0"/>
              <a:t> de entrenamiento del LLM para introducir sesgos o vulnerabilidades.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LLM04:2023 - </a:t>
            </a:r>
            <a:r>
              <a:rPr lang="es-AR" sz="2400" b="1" dirty="0" err="1"/>
              <a:t>Model</a:t>
            </a:r>
            <a:r>
              <a:rPr lang="es-AR" sz="2400" b="1" dirty="0"/>
              <a:t> </a:t>
            </a:r>
            <a:r>
              <a:rPr lang="es-AR" sz="2400" b="1" dirty="0" err="1"/>
              <a:t>Denial</a:t>
            </a:r>
            <a:r>
              <a:rPr lang="es-AR" sz="2400" b="1" dirty="0"/>
              <a:t> </a:t>
            </a:r>
            <a:r>
              <a:rPr lang="es-AR" sz="2400" b="1" dirty="0" err="1"/>
              <a:t>of</a:t>
            </a:r>
            <a:r>
              <a:rPr lang="es-AR" sz="2400" b="1" dirty="0"/>
              <a:t> </a:t>
            </a:r>
            <a:r>
              <a:rPr lang="es-AR" sz="2400" b="1" dirty="0" err="1"/>
              <a:t>Service</a:t>
            </a:r>
            <a:r>
              <a:rPr lang="es-AR" sz="2400" b="1" dirty="0"/>
              <a:t>: Consumo excesivo de recursos por el LLM debido a inputs específicos.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LLM05:2023 - </a:t>
            </a:r>
            <a:r>
              <a:rPr lang="es-AR" sz="2400" b="1" dirty="0" err="1"/>
              <a:t>Supply</a:t>
            </a:r>
            <a:r>
              <a:rPr lang="es-AR" sz="2400" b="1" dirty="0"/>
              <a:t> </a:t>
            </a:r>
            <a:r>
              <a:rPr lang="es-AR" sz="2400" b="1" dirty="0" err="1"/>
              <a:t>Chain</a:t>
            </a:r>
            <a:r>
              <a:rPr lang="es-AR" sz="2400" b="1" dirty="0"/>
              <a:t> </a:t>
            </a:r>
            <a:r>
              <a:rPr lang="es-AR" sz="2400" b="1" dirty="0" err="1"/>
              <a:t>Vulnerabilities</a:t>
            </a:r>
            <a:r>
              <a:rPr lang="es-AR" sz="2400" b="1" dirty="0"/>
              <a:t>: Vulnerabilidades en la cadena de suministro de los componentes del LLM.</a:t>
            </a:r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/>
              <a:t>Top 10 for Large Language Model (LLM)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29540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LLM06:2023 - </a:t>
            </a:r>
            <a:r>
              <a:rPr lang="es-AR" sz="2400" b="1" dirty="0" err="1"/>
              <a:t>Sensitive</a:t>
            </a:r>
            <a:r>
              <a:rPr lang="es-AR" sz="2400" b="1" dirty="0"/>
              <a:t> </a:t>
            </a:r>
            <a:r>
              <a:rPr lang="es-AR" sz="2400" b="1" dirty="0" err="1"/>
              <a:t>Information</a:t>
            </a:r>
            <a:r>
              <a:rPr lang="es-AR" sz="2400" b="1" dirty="0"/>
              <a:t> </a:t>
            </a:r>
            <a:r>
              <a:rPr lang="es-AR" sz="2400" b="1" dirty="0" err="1"/>
              <a:t>Disclosure</a:t>
            </a:r>
            <a:r>
              <a:rPr lang="es-AR" sz="2400" b="1" dirty="0"/>
              <a:t>: El LLM revela información sensible accidentalmente (ej. datos de entrenamiento).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LLM07:2023 - </a:t>
            </a:r>
            <a:r>
              <a:rPr lang="es-AR" sz="2400" b="1" dirty="0" err="1"/>
              <a:t>Insecure</a:t>
            </a:r>
            <a:r>
              <a:rPr lang="es-AR" sz="2400" b="1" dirty="0"/>
              <a:t> Plugin </a:t>
            </a:r>
            <a:r>
              <a:rPr lang="es-AR" sz="2400" b="1" dirty="0" err="1"/>
              <a:t>Design</a:t>
            </a:r>
            <a:r>
              <a:rPr lang="es-AR" sz="2400" b="1" dirty="0"/>
              <a:t>: </a:t>
            </a:r>
            <a:r>
              <a:rPr lang="es-AR" sz="2400" b="1" dirty="0" err="1"/>
              <a:t>Plugins</a:t>
            </a:r>
            <a:r>
              <a:rPr lang="es-AR" sz="2400" b="1" dirty="0"/>
              <a:t> o extensiones del LLM con vulnerabilidades que pueden ser explotadas.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LLM08:2023 - </a:t>
            </a:r>
            <a:r>
              <a:rPr lang="es-AR" sz="2400" b="1" dirty="0" err="1"/>
              <a:t>Excessive</a:t>
            </a:r>
            <a:r>
              <a:rPr lang="es-AR" sz="2400" b="1" dirty="0"/>
              <a:t> Agency: El LLM tiene demasiados permisos o acceso a sistemas críticos.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LLM09:2023 - </a:t>
            </a:r>
            <a:r>
              <a:rPr lang="es-AR" sz="2400" b="1" dirty="0" err="1"/>
              <a:t>Overreliance</a:t>
            </a:r>
            <a:r>
              <a:rPr lang="es-AR" sz="2400" b="1" dirty="0"/>
              <a:t>: Dependencia excesiva del LLM para tareas críticas sin supervisión humana.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LLM10:2023 - </a:t>
            </a:r>
            <a:r>
              <a:rPr lang="es-AR" sz="2400" b="1" dirty="0" err="1"/>
              <a:t>Model</a:t>
            </a:r>
            <a:r>
              <a:rPr lang="es-AR" sz="2400" b="1" dirty="0"/>
              <a:t> </a:t>
            </a:r>
            <a:r>
              <a:rPr lang="es-AR" sz="2400" b="1" dirty="0" err="1"/>
              <a:t>Theft</a:t>
            </a:r>
            <a:r>
              <a:rPr lang="es-AR" sz="2400" b="1" dirty="0"/>
              <a:t>: Robo del modelo LLM o de sus pesos/parámetros</a:t>
            </a:r>
          </a:p>
          <a:p>
            <a:pPr marL="0" indent="0" algn="l">
              <a:lnSpc>
                <a:spcPct val="100000"/>
              </a:lnSpc>
              <a:buNone/>
            </a:pPr>
            <a:endParaRPr lang="es-AR" dirty="0"/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/>
              <a:t>Top 10 for Large Language Model (LLM) cont.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50303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/>
              <a:t>Blockchain Top 10 (Draft / Emerging)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B544EF-D267-4420-B57C-5F88652CC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s-AR" dirty="0"/>
              <a:t>Ejes Principales (</a:t>
            </a:r>
            <a:r>
              <a:rPr lang="fr-FR" dirty="0"/>
              <a:t>blockchain (smart </a:t>
            </a:r>
            <a:r>
              <a:rPr lang="fr-FR" dirty="0" err="1"/>
              <a:t>contracts</a:t>
            </a:r>
            <a:r>
              <a:rPr lang="fr-FR" dirty="0"/>
              <a:t>, </a:t>
            </a:r>
            <a:r>
              <a:rPr lang="fr-FR" dirty="0" err="1"/>
              <a:t>protocolos</a:t>
            </a:r>
            <a:r>
              <a:rPr lang="fr-FR" dirty="0"/>
              <a:t>, etc.)</a:t>
            </a:r>
            <a:r>
              <a:rPr lang="es-AR" dirty="0"/>
              <a:t>: </a:t>
            </a:r>
          </a:p>
          <a:p>
            <a:pPr marL="152396" indent="0">
              <a:buNone/>
            </a:pPr>
            <a:r>
              <a:rPr lang="es-AR" dirty="0"/>
              <a:t>1.	</a:t>
            </a:r>
            <a:r>
              <a:rPr lang="es-AR" dirty="0" err="1"/>
              <a:t>Reentrancy</a:t>
            </a:r>
            <a:r>
              <a:rPr lang="es-AR" dirty="0"/>
              <a:t>: Un contrato llama a otro que lo llama de nuevo antes de que el primero termine, drenando fondos.</a:t>
            </a:r>
          </a:p>
          <a:p>
            <a:pPr marL="152396" indent="0">
              <a:buNone/>
            </a:pPr>
            <a:r>
              <a:rPr lang="es-AR" dirty="0"/>
              <a:t>2.	</a:t>
            </a:r>
            <a:r>
              <a:rPr lang="es-AR" dirty="0" err="1"/>
              <a:t>Integer</a:t>
            </a:r>
            <a:r>
              <a:rPr lang="es-AR" dirty="0"/>
              <a:t> </a:t>
            </a:r>
            <a:r>
              <a:rPr lang="es-AR" dirty="0" err="1"/>
              <a:t>Overflow</a:t>
            </a:r>
            <a:r>
              <a:rPr lang="es-AR" dirty="0"/>
              <a:t>/</a:t>
            </a:r>
            <a:r>
              <a:rPr lang="es-AR" dirty="0" err="1"/>
              <a:t>Underflow</a:t>
            </a:r>
            <a:r>
              <a:rPr lang="es-AR" dirty="0"/>
              <a:t>: Operaciones aritméticas que superan los límites de tipo de dato, llevando a resultados inesperados y </a:t>
            </a:r>
            <a:r>
              <a:rPr lang="es-AR" dirty="0" err="1"/>
              <a:t>exploits</a:t>
            </a:r>
            <a:r>
              <a:rPr lang="es-AR" dirty="0"/>
              <a:t>.</a:t>
            </a:r>
          </a:p>
          <a:p>
            <a:pPr marL="152396" indent="0">
              <a:buNone/>
            </a:pPr>
            <a:r>
              <a:rPr lang="es-AR" dirty="0"/>
              <a:t>3.	Front-running: Atacantes observan transacciones pendientes y envían sus propias transacciones con un gas </a:t>
            </a:r>
            <a:r>
              <a:rPr lang="es-AR" dirty="0" err="1"/>
              <a:t>price</a:t>
            </a:r>
            <a:r>
              <a:rPr lang="es-AR" dirty="0"/>
              <a:t> más alto para que se ejecuten primero.</a:t>
            </a:r>
          </a:p>
          <a:p>
            <a:pPr marL="152396" indent="0">
              <a:buNone/>
            </a:pPr>
            <a:r>
              <a:rPr lang="es-AR" dirty="0"/>
              <a:t>4.	</a:t>
            </a:r>
            <a:r>
              <a:rPr lang="es-AR" dirty="0" err="1"/>
              <a:t>Denial</a:t>
            </a:r>
            <a:r>
              <a:rPr lang="es-AR" dirty="0"/>
              <a:t> </a:t>
            </a:r>
            <a:r>
              <a:rPr lang="es-AR" dirty="0" err="1"/>
              <a:t>of</a:t>
            </a:r>
            <a:r>
              <a:rPr lang="es-AR" dirty="0"/>
              <a:t> </a:t>
            </a:r>
            <a:r>
              <a:rPr lang="es-AR" dirty="0" err="1"/>
              <a:t>Service</a:t>
            </a:r>
            <a:r>
              <a:rPr lang="es-AR" dirty="0"/>
              <a:t> (DoS): Ataques que impiden que los usuarios legítimos interactúen con el contrato o la red.</a:t>
            </a:r>
          </a:p>
          <a:p>
            <a:pPr marL="152396" indent="0">
              <a:buNone/>
            </a:pPr>
            <a:r>
              <a:rPr lang="es-AR" dirty="0"/>
              <a:t>5.	Time </a:t>
            </a:r>
            <a:r>
              <a:rPr lang="es-AR" dirty="0" err="1"/>
              <a:t>Manipulation</a:t>
            </a:r>
            <a:r>
              <a:rPr lang="es-AR" dirty="0"/>
              <a:t> (</a:t>
            </a:r>
            <a:r>
              <a:rPr lang="es-AR" dirty="0" err="1"/>
              <a:t>Timestamp</a:t>
            </a:r>
            <a:r>
              <a:rPr lang="es-AR" dirty="0"/>
              <a:t> </a:t>
            </a:r>
            <a:r>
              <a:rPr lang="es-AR" dirty="0" err="1"/>
              <a:t>Dependence</a:t>
            </a:r>
            <a:r>
              <a:rPr lang="es-AR" dirty="0"/>
              <a:t>): Un contrato depende del </a:t>
            </a:r>
            <a:r>
              <a:rPr lang="es-AR" dirty="0" err="1"/>
              <a:t>timestamp</a:t>
            </a:r>
            <a:r>
              <a:rPr lang="es-AR" dirty="0"/>
              <a:t> del bloque, que puede ser manipulado por mineros.</a:t>
            </a:r>
          </a:p>
        </p:txBody>
      </p:sp>
    </p:spTree>
    <p:extLst>
      <p:ext uri="{BB962C8B-B14F-4D97-AF65-F5344CB8AC3E}">
        <p14:creationId xmlns:p14="http://schemas.microsoft.com/office/powerpoint/2010/main" val="2038731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/>
              <a:t>Blockchain Top 10 (Draft / Emerging) cont.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B544EF-D267-4420-B57C-5F88652CC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s-AR" dirty="0"/>
              <a:t>6.	Short </a:t>
            </a:r>
            <a:r>
              <a:rPr lang="es-AR" dirty="0" err="1"/>
              <a:t>Address</a:t>
            </a:r>
            <a:r>
              <a:rPr lang="es-AR" dirty="0"/>
              <a:t> </a:t>
            </a:r>
            <a:r>
              <a:rPr lang="es-AR" dirty="0" err="1"/>
              <a:t>Attack</a:t>
            </a:r>
            <a:r>
              <a:rPr lang="es-AR" dirty="0"/>
              <a:t>: Vulnerabilidad en contratos que no manejan correctamente direcciones incompletas.</a:t>
            </a:r>
          </a:p>
          <a:p>
            <a:pPr marL="152396" indent="0">
              <a:buNone/>
            </a:pPr>
            <a:r>
              <a:rPr lang="es-AR" dirty="0"/>
              <a:t>7.	</a:t>
            </a:r>
            <a:r>
              <a:rPr lang="es-AR" dirty="0" err="1"/>
              <a:t>Logic</a:t>
            </a:r>
            <a:r>
              <a:rPr lang="es-AR" dirty="0"/>
              <a:t> </a:t>
            </a:r>
            <a:r>
              <a:rPr lang="es-AR" dirty="0" err="1"/>
              <a:t>Errors</a:t>
            </a:r>
            <a:r>
              <a:rPr lang="es-AR" dirty="0"/>
              <a:t>: Errores en la lógica de negocio del contrato que pueden ser explotados.</a:t>
            </a:r>
          </a:p>
          <a:p>
            <a:pPr marL="152396" indent="0">
              <a:buNone/>
            </a:pPr>
            <a:r>
              <a:rPr lang="es-AR" dirty="0"/>
              <a:t>8.	Access Control </a:t>
            </a:r>
            <a:r>
              <a:rPr lang="es-AR" dirty="0" err="1"/>
              <a:t>Vulnerabilities</a:t>
            </a:r>
            <a:r>
              <a:rPr lang="es-AR" dirty="0"/>
              <a:t>: Fallas en la autorización de funciones críticas del contrato.</a:t>
            </a:r>
          </a:p>
          <a:p>
            <a:pPr marL="152396" indent="0">
              <a:buNone/>
            </a:pPr>
            <a:r>
              <a:rPr lang="es-AR" dirty="0"/>
              <a:t>9.	</a:t>
            </a:r>
            <a:r>
              <a:rPr lang="es-AR" dirty="0" err="1"/>
              <a:t>External</a:t>
            </a:r>
            <a:r>
              <a:rPr lang="es-AR" dirty="0"/>
              <a:t> </a:t>
            </a:r>
            <a:r>
              <a:rPr lang="es-AR" dirty="0" err="1"/>
              <a:t>Call</a:t>
            </a:r>
            <a:r>
              <a:rPr lang="es-AR" dirty="0"/>
              <a:t> </a:t>
            </a:r>
            <a:r>
              <a:rPr lang="es-AR" dirty="0" err="1"/>
              <a:t>Vulnerabilities</a:t>
            </a:r>
            <a:r>
              <a:rPr lang="es-AR" dirty="0"/>
              <a:t>: Inseguridad al interactuar con contratos externos.</a:t>
            </a:r>
          </a:p>
          <a:p>
            <a:pPr marL="152396" indent="0">
              <a:buNone/>
            </a:pPr>
            <a:r>
              <a:rPr lang="es-AR" dirty="0"/>
              <a:t>10.	</a:t>
            </a:r>
            <a:r>
              <a:rPr lang="es-AR" dirty="0" err="1"/>
              <a:t>Centralization</a:t>
            </a:r>
            <a:r>
              <a:rPr lang="es-AR" dirty="0"/>
              <a:t> </a:t>
            </a:r>
            <a:r>
              <a:rPr lang="es-AR" dirty="0" err="1"/>
              <a:t>Risks</a:t>
            </a:r>
            <a:r>
              <a:rPr lang="es-AR" dirty="0"/>
              <a:t>: Puntos de fallo centralizados en sistemas "descentralizados" (ej. oráculos centralizados).</a:t>
            </a:r>
          </a:p>
          <a:p>
            <a:pPr marL="152396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9056797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1292</Words>
  <Application>Microsoft Office PowerPoint</Application>
  <PresentationFormat>Panorámica</PresentationFormat>
  <Paragraphs>88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Tema de Office</vt:lpstr>
      <vt:lpstr>¿Qué es OWASP? </vt:lpstr>
      <vt:lpstr>Principios Transversales de Seguridad</vt:lpstr>
      <vt:lpstr>Principios Transversales de Seguridad (cont.)</vt:lpstr>
      <vt:lpstr>Top 10 Web Application Security Risks</vt:lpstr>
      <vt:lpstr>Top 10 Web Application Security Risks (cont.)</vt:lpstr>
      <vt:lpstr>MASVS / Mobile Top 10</vt:lpstr>
      <vt:lpstr>MASVS / Mobile Top 10 (cont.)</vt:lpstr>
      <vt:lpstr>OWASP API Security Top 10 </vt:lpstr>
      <vt:lpstr>OWASP API Security Top 10 (cont.) </vt:lpstr>
      <vt:lpstr>Top 10 for Large Language Model (LLM) </vt:lpstr>
      <vt:lpstr>Top 10 for Large Language Model (LLM) cont. </vt:lpstr>
      <vt:lpstr>Blockchain Top 10 (Draft / Emerging)</vt:lpstr>
      <vt:lpstr>Blockchain Top 10 (Draft / Emerging) cont.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Cespi2</dc:creator>
  <cp:lastModifiedBy>Cespi2</cp:lastModifiedBy>
  <cp:revision>7</cp:revision>
  <dcterms:created xsi:type="dcterms:W3CDTF">2025-05-22T21:18:28Z</dcterms:created>
  <dcterms:modified xsi:type="dcterms:W3CDTF">2025-05-22T21:56:28Z</dcterms:modified>
</cp:coreProperties>
</file>