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70" r:id="rId3"/>
    <p:sldId id="296" r:id="rId4"/>
    <p:sldId id="297" r:id="rId5"/>
    <p:sldId id="298" r:id="rId6"/>
    <p:sldId id="299" r:id="rId7"/>
    <p:sldId id="295" r:id="rId8"/>
    <p:sldId id="278" r:id="rId9"/>
    <p:sldId id="258" r:id="rId10"/>
    <p:sldId id="276" r:id="rId11"/>
    <p:sldId id="277" r:id="rId12"/>
    <p:sldId id="275" r:id="rId13"/>
    <p:sldId id="279" r:id="rId14"/>
    <p:sldId id="281" r:id="rId15"/>
    <p:sldId id="274" r:id="rId16"/>
    <p:sldId id="263" r:id="rId17"/>
    <p:sldId id="264" r:id="rId18"/>
    <p:sldId id="294" r:id="rId19"/>
    <p:sldId id="272" r:id="rId20"/>
    <p:sldId id="259" r:id="rId21"/>
    <p:sldId id="292" r:id="rId22"/>
    <p:sldId id="293" r:id="rId23"/>
    <p:sldId id="262" r:id="rId24"/>
    <p:sldId id="266" r:id="rId25"/>
    <p:sldId id="282" r:id="rId26"/>
    <p:sldId id="285" r:id="rId27"/>
    <p:sldId id="283" r:id="rId28"/>
    <p:sldId id="284" r:id="rId29"/>
    <p:sldId id="286" r:id="rId30"/>
    <p:sldId id="287" r:id="rId31"/>
    <p:sldId id="288" r:id="rId32"/>
    <p:sldId id="291" r:id="rId33"/>
    <p:sldId id="289" r:id="rId34"/>
    <p:sldId id="290" r:id="rId35"/>
    <p:sldId id="265" r:id="rId36"/>
    <p:sldId id="273" r:id="rId3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68" d="100"/>
          <a:sy n="68" d="100"/>
        </p:scale>
        <p:origin x="816" y="5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pic>
        <p:nvPicPr>
          <p:cNvPr id="7" name="Picture 6"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4242851"/>
            <a:ext cx="8968084" cy="275942"/>
          </a:xfrm>
          <a:prstGeom prst="rect">
            <a:avLst/>
          </a:prstGeom>
        </p:spPr>
      </p:pic>
      <p:pic>
        <p:nvPicPr>
          <p:cNvPr id="8" name="Picture 7"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111716" y="4243845"/>
            <a:ext cx="3077108" cy="276940"/>
          </a:xfrm>
          <a:prstGeom prst="rect">
            <a:avLst/>
          </a:prstGeom>
        </p:spPr>
      </p:pic>
      <p:sp>
        <p:nvSpPr>
          <p:cNvPr id="9" name="Rectangle 8"/>
          <p:cNvSpPr/>
          <p:nvPr/>
        </p:nvSpPr>
        <p:spPr bwMode="ltGray">
          <a:xfrm>
            <a:off x="0" y="2590078"/>
            <a:ext cx="8968085" cy="1660332"/>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Rectangle 9"/>
          <p:cNvSpPr/>
          <p:nvPr/>
        </p:nvSpPr>
        <p:spPr>
          <a:xfrm>
            <a:off x="9111715" y="2590078"/>
            <a:ext cx="3077109" cy="166033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680322" y="2733709"/>
            <a:ext cx="8144134" cy="1373070"/>
          </a:xfrm>
        </p:spPr>
        <p:txBody>
          <a:bodyPr anchor="b">
            <a:noAutofit/>
          </a:bodyPr>
          <a:lstStyle>
            <a:lvl1pPr algn="r">
              <a:defRPr sz="5400"/>
            </a:lvl1pPr>
          </a:lstStyle>
          <a:p>
            <a:r>
              <a:rPr lang="es-ES"/>
              <a:t>Haga clic para modificar el estilo de título del patrón</a:t>
            </a:r>
            <a:endParaRPr lang="en-US" dirty="0"/>
          </a:p>
        </p:txBody>
      </p:sp>
      <p:sp>
        <p:nvSpPr>
          <p:cNvPr id="3" name="Subtitle 2"/>
          <p:cNvSpPr>
            <a:spLocks noGrp="1"/>
          </p:cNvSpPr>
          <p:nvPr>
            <p:ph type="subTitle" idx="1"/>
          </p:nvPr>
        </p:nvSpPr>
        <p:spPr>
          <a:xfrm>
            <a:off x="680322" y="4394039"/>
            <a:ext cx="8144134" cy="1117687"/>
          </a:xfrm>
        </p:spPr>
        <p:txBody>
          <a:bodyPr>
            <a:normAutofit/>
          </a:bodyPr>
          <a:lstStyle>
            <a:lvl1pPr marL="0" indent="0" algn="r">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n-US" dirty="0"/>
          </a:p>
        </p:txBody>
      </p:sp>
      <p:sp>
        <p:nvSpPr>
          <p:cNvPr id="4" name="Date Placeholder 3"/>
          <p:cNvSpPr>
            <a:spLocks noGrp="1"/>
          </p:cNvSpPr>
          <p:nvPr>
            <p:ph type="dt" sz="half" idx="10"/>
          </p:nvPr>
        </p:nvSpPr>
        <p:spPr/>
        <p:txBody>
          <a:bodyPr/>
          <a:lstStyle/>
          <a:p>
            <a:fld id="{D0F30F2C-27B7-45CE-8A7E-F10748F9B6E8}" type="datetimeFigureOut">
              <a:rPr lang="en-US" smtClean="0"/>
              <a:t>6/7/2025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9255346" y="2750337"/>
            <a:ext cx="1171888" cy="1356442"/>
          </a:xfrm>
        </p:spPr>
        <p:txBody>
          <a:bodyPr/>
          <a:lstStyle/>
          <a:p>
            <a:fld id="{8C863320-A1ED-479B-BD8A-EB783CC3F5FC}" type="slidenum">
              <a:rPr lang="en-US" smtClean="0"/>
              <a:t>‹Nº›</a:t>
            </a:fld>
            <a:endParaRPr lang="en-US"/>
          </a:p>
        </p:txBody>
      </p:sp>
    </p:spTree>
    <p:extLst>
      <p:ext uri="{BB962C8B-B14F-4D97-AF65-F5344CB8AC3E}">
        <p14:creationId xmlns:p14="http://schemas.microsoft.com/office/powerpoint/2010/main" val="98981632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pic>
        <p:nvPicPr>
          <p:cNvPr id="15" name="Picture 14"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16" name="Picture 15" descr="HD-ShadowShort.png"/>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7" name="Rectangle 16"/>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8" name="Rectangle 17"/>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idx="1"/>
          </p:nvPr>
        </p:nvSpPr>
        <p:spPr/>
        <p:txBody>
          <a:bodyPr/>
          <a:lstStyle/>
          <a:p>
            <a:pPr lvl="0"/>
            <a:r>
              <a:rPr lang="es-ES"/>
              <a:t>Editar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D0F30F2C-27B7-45CE-8A7E-F10748F9B6E8}" type="datetimeFigureOut">
              <a:rPr lang="en-US" smtClean="0"/>
              <a:t>6/7/2025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863320-A1ED-479B-BD8A-EB783CC3F5FC}" type="slidenum">
              <a:rPr lang="en-US" smtClean="0"/>
              <a:t>‹Nº›</a:t>
            </a:fld>
            <a:endParaRPr lang="en-US"/>
          </a:p>
        </p:txBody>
      </p:sp>
    </p:spTree>
    <p:extLst>
      <p:ext uri="{BB962C8B-B14F-4D97-AF65-F5344CB8AC3E}">
        <p14:creationId xmlns:p14="http://schemas.microsoft.com/office/powerpoint/2010/main" val="237124830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pic>
        <p:nvPicPr>
          <p:cNvPr id="7" name="Picture 6"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4086907"/>
            <a:ext cx="10437812" cy="321164"/>
          </a:xfrm>
          <a:prstGeom prst="rect">
            <a:avLst/>
          </a:prstGeom>
        </p:spPr>
      </p:pic>
      <p:pic>
        <p:nvPicPr>
          <p:cNvPr id="8" name="Picture 7" descr="HD-ShadowShort.png"/>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585824" y="4087901"/>
            <a:ext cx="1602997" cy="144270"/>
          </a:xfrm>
          <a:prstGeom prst="rect">
            <a:avLst/>
          </a:prstGeom>
        </p:spPr>
      </p:pic>
      <p:sp>
        <p:nvSpPr>
          <p:cNvPr id="9" name="Rectangle 8"/>
          <p:cNvSpPr/>
          <p:nvPr/>
        </p:nvSpPr>
        <p:spPr bwMode="ltGray">
          <a:xfrm>
            <a:off x="-2" y="2726267"/>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Rectangle 9"/>
          <p:cNvSpPr/>
          <p:nvPr/>
        </p:nvSpPr>
        <p:spPr>
          <a:xfrm>
            <a:off x="10585825" y="2726267"/>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22" y="2869895"/>
            <a:ext cx="9613860" cy="1090788"/>
          </a:xfrm>
        </p:spPr>
        <p:txBody>
          <a:bodyPr anchor="ctr">
            <a:normAutofit/>
          </a:bodyPr>
          <a:lstStyle>
            <a:lvl1pPr algn="r">
              <a:defRPr sz="3600"/>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680322" y="4232171"/>
            <a:ext cx="9613860" cy="1704017"/>
          </a:xfrm>
        </p:spPr>
        <p:txBody>
          <a:bodyPr>
            <a:normAutofit/>
          </a:bodyPr>
          <a:lstStyle>
            <a:lvl1pPr marL="0" indent="0" algn="r">
              <a:buNone/>
              <a:defRPr sz="20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Editar los estilos de texto del patrón</a:t>
            </a:r>
          </a:p>
        </p:txBody>
      </p:sp>
      <p:sp>
        <p:nvSpPr>
          <p:cNvPr id="4" name="Date Placeholder 3"/>
          <p:cNvSpPr>
            <a:spLocks noGrp="1"/>
          </p:cNvSpPr>
          <p:nvPr>
            <p:ph type="dt" sz="half" idx="10"/>
          </p:nvPr>
        </p:nvSpPr>
        <p:spPr/>
        <p:txBody>
          <a:bodyPr/>
          <a:lstStyle/>
          <a:p>
            <a:fld id="{D0F30F2C-27B7-45CE-8A7E-F10748F9B6E8}" type="datetimeFigureOut">
              <a:rPr lang="en-US" smtClean="0"/>
              <a:t>6/7/2025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10729455" y="2869895"/>
            <a:ext cx="1154151" cy="1090789"/>
          </a:xfrm>
        </p:spPr>
        <p:txBody>
          <a:bodyPr/>
          <a:lstStyle/>
          <a:p>
            <a:fld id="{8C863320-A1ED-479B-BD8A-EB783CC3F5FC}" type="slidenum">
              <a:rPr lang="en-US" smtClean="0"/>
              <a:t>‹Nº›</a:t>
            </a:fld>
            <a:endParaRPr lang="en-US"/>
          </a:p>
        </p:txBody>
      </p:sp>
    </p:spTree>
    <p:extLst>
      <p:ext uri="{BB962C8B-B14F-4D97-AF65-F5344CB8AC3E}">
        <p14:creationId xmlns:p14="http://schemas.microsoft.com/office/powerpoint/2010/main" val="299086591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pic>
        <p:nvPicPr>
          <p:cNvPr id="8" name="Picture 7"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9" name="Picture 8" descr="HD-ShadowShort.png"/>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0" name="Rectangle 9"/>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sz="half" idx="1"/>
          </p:nvPr>
        </p:nvSpPr>
        <p:spPr>
          <a:xfrm>
            <a:off x="680320" y="2336873"/>
            <a:ext cx="4698358" cy="3599316"/>
          </a:xfrm>
        </p:spPr>
        <p:txBody>
          <a:bodyPr/>
          <a:lstStyle/>
          <a:p>
            <a:pPr lvl="0"/>
            <a:r>
              <a:rPr lang="es-ES"/>
              <a:t>Editar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Content Placeholder 3"/>
          <p:cNvSpPr>
            <a:spLocks noGrp="1"/>
          </p:cNvSpPr>
          <p:nvPr>
            <p:ph sz="half" idx="2"/>
          </p:nvPr>
        </p:nvSpPr>
        <p:spPr>
          <a:xfrm>
            <a:off x="5594123" y="2336873"/>
            <a:ext cx="4700058" cy="3599316"/>
          </a:xfrm>
        </p:spPr>
        <p:txBody>
          <a:bodyPr/>
          <a:lstStyle/>
          <a:p>
            <a:pPr lvl="0"/>
            <a:r>
              <a:rPr lang="es-ES"/>
              <a:t>Editar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Date Placeholder 4"/>
          <p:cNvSpPr>
            <a:spLocks noGrp="1"/>
          </p:cNvSpPr>
          <p:nvPr>
            <p:ph type="dt" sz="half" idx="10"/>
          </p:nvPr>
        </p:nvSpPr>
        <p:spPr/>
        <p:txBody>
          <a:bodyPr/>
          <a:lstStyle/>
          <a:p>
            <a:fld id="{D0F30F2C-27B7-45CE-8A7E-F10748F9B6E8}" type="datetimeFigureOut">
              <a:rPr lang="en-US" smtClean="0"/>
              <a:t>6/7/2025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C863320-A1ED-479B-BD8A-EB783CC3F5FC}" type="slidenum">
              <a:rPr lang="en-US" smtClean="0"/>
              <a:t>‹Nº›</a:t>
            </a:fld>
            <a:endParaRPr lang="en-US"/>
          </a:p>
        </p:txBody>
      </p:sp>
    </p:spTree>
    <p:extLst>
      <p:ext uri="{BB962C8B-B14F-4D97-AF65-F5344CB8AC3E}">
        <p14:creationId xmlns:p14="http://schemas.microsoft.com/office/powerpoint/2010/main" val="269634929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pic>
        <p:nvPicPr>
          <p:cNvPr id="10" name="Picture 9"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11" name="Picture 10" descr="HD-ShadowShort.png"/>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2" name="Rectangle 11"/>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Rectangle 12"/>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19" y="753229"/>
            <a:ext cx="9613863" cy="1080937"/>
          </a:xfrm>
        </p:spPr>
        <p:txBody>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906350" y="2336873"/>
            <a:ext cx="4472327" cy="693135"/>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Editar los estilos de texto del patrón</a:t>
            </a:r>
          </a:p>
        </p:txBody>
      </p:sp>
      <p:sp>
        <p:nvSpPr>
          <p:cNvPr id="4" name="Content Placeholder 3"/>
          <p:cNvSpPr>
            <a:spLocks noGrp="1"/>
          </p:cNvSpPr>
          <p:nvPr>
            <p:ph sz="half" idx="2"/>
          </p:nvPr>
        </p:nvSpPr>
        <p:spPr>
          <a:xfrm>
            <a:off x="680322" y="3030008"/>
            <a:ext cx="4698355" cy="2906179"/>
          </a:xfrm>
        </p:spPr>
        <p:txBody>
          <a:bodyPr/>
          <a:lstStyle/>
          <a:p>
            <a:pPr lvl="0"/>
            <a:r>
              <a:rPr lang="es-ES"/>
              <a:t>Editar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Text Placeholder 4"/>
          <p:cNvSpPr>
            <a:spLocks noGrp="1"/>
          </p:cNvSpPr>
          <p:nvPr>
            <p:ph type="body" sz="quarter" idx="3"/>
          </p:nvPr>
        </p:nvSpPr>
        <p:spPr>
          <a:xfrm>
            <a:off x="5820154" y="2336873"/>
            <a:ext cx="4474028" cy="692076"/>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Editar los estilos de texto del patrón</a:t>
            </a:r>
          </a:p>
        </p:txBody>
      </p:sp>
      <p:sp>
        <p:nvSpPr>
          <p:cNvPr id="6" name="Content Placeholder 5"/>
          <p:cNvSpPr>
            <a:spLocks noGrp="1"/>
          </p:cNvSpPr>
          <p:nvPr>
            <p:ph sz="quarter" idx="4"/>
          </p:nvPr>
        </p:nvSpPr>
        <p:spPr>
          <a:xfrm>
            <a:off x="5594123" y="3030008"/>
            <a:ext cx="4700059" cy="2906179"/>
          </a:xfrm>
        </p:spPr>
        <p:txBody>
          <a:bodyPr/>
          <a:lstStyle/>
          <a:p>
            <a:pPr lvl="0"/>
            <a:r>
              <a:rPr lang="es-ES"/>
              <a:t>Editar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7" name="Date Placeholder 6"/>
          <p:cNvSpPr>
            <a:spLocks noGrp="1"/>
          </p:cNvSpPr>
          <p:nvPr>
            <p:ph type="dt" sz="half" idx="10"/>
          </p:nvPr>
        </p:nvSpPr>
        <p:spPr/>
        <p:txBody>
          <a:bodyPr/>
          <a:lstStyle/>
          <a:p>
            <a:fld id="{D0F30F2C-27B7-45CE-8A7E-F10748F9B6E8}" type="datetimeFigureOut">
              <a:rPr lang="en-US" smtClean="0"/>
              <a:t>6/7/2025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C863320-A1ED-479B-BD8A-EB783CC3F5FC}" type="slidenum">
              <a:rPr lang="en-US" smtClean="0"/>
              <a:t>‹Nº›</a:t>
            </a:fld>
            <a:endParaRPr lang="en-US"/>
          </a:p>
        </p:txBody>
      </p:sp>
    </p:spTree>
    <p:extLst>
      <p:ext uri="{BB962C8B-B14F-4D97-AF65-F5344CB8AC3E}">
        <p14:creationId xmlns:p14="http://schemas.microsoft.com/office/powerpoint/2010/main" val="141646636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pic>
        <p:nvPicPr>
          <p:cNvPr id="6" name="Picture 5"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7" name="Picture 6" descr="HD-ShadowShort.png"/>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8" name="Rectangle 7"/>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Date Placeholder 2"/>
          <p:cNvSpPr>
            <a:spLocks noGrp="1"/>
          </p:cNvSpPr>
          <p:nvPr>
            <p:ph type="dt" sz="half" idx="10"/>
          </p:nvPr>
        </p:nvSpPr>
        <p:spPr/>
        <p:txBody>
          <a:bodyPr/>
          <a:lstStyle/>
          <a:p>
            <a:fld id="{D0F30F2C-27B7-45CE-8A7E-F10748F9B6E8}" type="datetimeFigureOut">
              <a:rPr lang="en-US" smtClean="0"/>
              <a:t>6/7/2025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8C863320-A1ED-479B-BD8A-EB783CC3F5FC}" type="slidenum">
              <a:rPr lang="en-US" smtClean="0"/>
              <a:t>‹Nº›</a:t>
            </a:fld>
            <a:endParaRPr lang="en-US"/>
          </a:p>
        </p:txBody>
      </p:sp>
    </p:spTree>
    <p:extLst>
      <p:ext uri="{BB962C8B-B14F-4D97-AF65-F5344CB8AC3E}">
        <p14:creationId xmlns:p14="http://schemas.microsoft.com/office/powerpoint/2010/main" val="174535406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pic>
        <p:nvPicPr>
          <p:cNvPr id="5" name="Picture 4" descr="HD-ShadowShort.png"/>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6" name="Rectangle 5"/>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Date Placeholder 1"/>
          <p:cNvSpPr>
            <a:spLocks noGrp="1"/>
          </p:cNvSpPr>
          <p:nvPr>
            <p:ph type="dt" sz="half" idx="10"/>
          </p:nvPr>
        </p:nvSpPr>
        <p:spPr/>
        <p:txBody>
          <a:bodyPr/>
          <a:lstStyle/>
          <a:p>
            <a:fld id="{D0F30F2C-27B7-45CE-8A7E-F10748F9B6E8}" type="datetimeFigureOut">
              <a:rPr lang="en-US" smtClean="0"/>
              <a:t>6/7/2025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8C863320-A1ED-479B-BD8A-EB783CC3F5FC}" type="slidenum">
              <a:rPr lang="en-US" smtClean="0"/>
              <a:t>‹Nº›</a:t>
            </a:fld>
            <a:endParaRPr lang="en-US"/>
          </a:p>
        </p:txBody>
      </p:sp>
    </p:spTree>
    <p:extLst>
      <p:ext uri="{BB962C8B-B14F-4D97-AF65-F5344CB8AC3E}">
        <p14:creationId xmlns:p14="http://schemas.microsoft.com/office/powerpoint/2010/main" val="393568636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pic>
        <p:nvPicPr>
          <p:cNvPr id="8" name="Picture 7"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9" name="Picture 8" descr="HD-ShadowShort.png"/>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0" name="Rectangle 9"/>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21" y="753227"/>
            <a:ext cx="9613859" cy="1080940"/>
          </a:xfrm>
        </p:spPr>
        <p:txBody>
          <a:bodyPr anchor="ctr">
            <a:normAutofit/>
          </a:bodyPr>
          <a:lstStyle>
            <a:lvl1pPr>
              <a:defRPr sz="3600"/>
            </a:lvl1pPr>
          </a:lstStyle>
          <a:p>
            <a:r>
              <a:rPr lang="es-ES"/>
              <a:t>Haga clic para modificar el estilo de título del patrón</a:t>
            </a:r>
            <a:endParaRPr lang="en-US" dirty="0"/>
          </a:p>
        </p:txBody>
      </p:sp>
      <p:sp>
        <p:nvSpPr>
          <p:cNvPr id="3" name="Content Placeholder 2"/>
          <p:cNvSpPr>
            <a:spLocks noGrp="1"/>
          </p:cNvSpPr>
          <p:nvPr>
            <p:ph idx="1"/>
          </p:nvPr>
        </p:nvSpPr>
        <p:spPr>
          <a:xfrm>
            <a:off x="4685846" y="2336873"/>
            <a:ext cx="5608336" cy="3599313"/>
          </a:xfrm>
        </p:spPr>
        <p:txBody>
          <a:bodyPr/>
          <a:lstStyle/>
          <a:p>
            <a:pPr lvl="0"/>
            <a:r>
              <a:rPr lang="es-ES"/>
              <a:t>Editar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Text Placeholder 3"/>
          <p:cNvSpPr>
            <a:spLocks noGrp="1"/>
          </p:cNvSpPr>
          <p:nvPr>
            <p:ph type="body" sz="half" idx="2"/>
          </p:nvPr>
        </p:nvSpPr>
        <p:spPr>
          <a:xfrm>
            <a:off x="680322" y="2336872"/>
            <a:ext cx="3790078" cy="3599317"/>
          </a:xfrm>
        </p:spPr>
        <p:txBody>
          <a:bodyPr anchor="ct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Editar los estilos de texto del patrón</a:t>
            </a:r>
          </a:p>
        </p:txBody>
      </p:sp>
      <p:sp>
        <p:nvSpPr>
          <p:cNvPr id="5" name="Date Placeholder 4"/>
          <p:cNvSpPr>
            <a:spLocks noGrp="1"/>
          </p:cNvSpPr>
          <p:nvPr>
            <p:ph type="dt" sz="half" idx="10"/>
          </p:nvPr>
        </p:nvSpPr>
        <p:spPr/>
        <p:txBody>
          <a:bodyPr/>
          <a:lstStyle/>
          <a:p>
            <a:fld id="{D0F30F2C-27B7-45CE-8A7E-F10748F9B6E8}" type="datetimeFigureOut">
              <a:rPr lang="en-US" smtClean="0"/>
              <a:t>6/7/2025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C863320-A1ED-479B-BD8A-EB783CC3F5FC}" type="slidenum">
              <a:rPr lang="en-US" smtClean="0"/>
              <a:t>‹Nº›</a:t>
            </a:fld>
            <a:endParaRPr lang="en-US"/>
          </a:p>
        </p:txBody>
      </p:sp>
    </p:spTree>
    <p:extLst>
      <p:ext uri="{BB962C8B-B14F-4D97-AF65-F5344CB8AC3E}">
        <p14:creationId xmlns:p14="http://schemas.microsoft.com/office/powerpoint/2010/main" val="357279373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pic>
        <p:nvPicPr>
          <p:cNvPr id="8" name="Picture 7"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9" name="Picture 8" descr="HD-ShadowShort.png"/>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0" name="Rectangle 9"/>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23" y="753228"/>
            <a:ext cx="9613857" cy="1080938"/>
          </a:xfrm>
        </p:spPr>
        <p:txBody>
          <a:bodyPr anchor="ctr">
            <a:normAutofit/>
          </a:bodyPr>
          <a:lstStyle>
            <a:lvl1pPr>
              <a:defRPr sz="3600"/>
            </a:lvl1pPr>
          </a:lstStyle>
          <a:p>
            <a:r>
              <a:rPr lang="es-ES"/>
              <a:t>Haga clic para modificar el estilo de título del patrón</a:t>
            </a:r>
            <a:endParaRPr lang="en-US" dirty="0"/>
          </a:p>
        </p:txBody>
      </p:sp>
      <p:sp>
        <p:nvSpPr>
          <p:cNvPr id="3" name="Picture Placeholder 2"/>
          <p:cNvSpPr>
            <a:spLocks noGrp="1" noChangeAspect="1"/>
          </p:cNvSpPr>
          <p:nvPr>
            <p:ph type="pic" idx="1"/>
          </p:nvPr>
        </p:nvSpPr>
        <p:spPr>
          <a:xfrm>
            <a:off x="4868333" y="2336874"/>
            <a:ext cx="5425849" cy="3599312"/>
          </a:xfrm>
          <a:noFill/>
          <a:ln>
            <a:noFill/>
          </a:ln>
          <a:effectLst>
            <a:outerShdw blurRad="76200" dist="63500" dir="5040000" algn="tl" rotWithShape="0">
              <a:srgbClr val="000000">
                <a:alpha val="41000"/>
              </a:srgbClr>
            </a:outerShdw>
          </a:effectLst>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s-ES"/>
              <a:t>Haga clic en el icono para agregar una imagen</a:t>
            </a:r>
            <a:endParaRPr lang="en-US" dirty="0"/>
          </a:p>
        </p:txBody>
      </p:sp>
      <p:sp>
        <p:nvSpPr>
          <p:cNvPr id="4" name="Text Placeholder 3"/>
          <p:cNvSpPr>
            <a:spLocks noGrp="1"/>
          </p:cNvSpPr>
          <p:nvPr>
            <p:ph type="body" sz="half" idx="2"/>
          </p:nvPr>
        </p:nvSpPr>
        <p:spPr>
          <a:xfrm>
            <a:off x="680323" y="2336873"/>
            <a:ext cx="3876256" cy="3599315"/>
          </a:xfrm>
        </p:spPr>
        <p:txBody>
          <a:bodyPr anchor="ct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Editar los estilos de texto del patrón</a:t>
            </a:r>
          </a:p>
        </p:txBody>
      </p:sp>
      <p:sp>
        <p:nvSpPr>
          <p:cNvPr id="5" name="Date Placeholder 4"/>
          <p:cNvSpPr>
            <a:spLocks noGrp="1"/>
          </p:cNvSpPr>
          <p:nvPr>
            <p:ph type="dt" sz="half" idx="10"/>
          </p:nvPr>
        </p:nvSpPr>
        <p:spPr/>
        <p:txBody>
          <a:bodyPr/>
          <a:lstStyle/>
          <a:p>
            <a:fld id="{D0F30F2C-27B7-45CE-8A7E-F10748F9B6E8}" type="datetimeFigureOut">
              <a:rPr lang="en-US" smtClean="0"/>
              <a:t>6/7/2025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C863320-A1ED-479B-BD8A-EB783CC3F5FC}" type="slidenum">
              <a:rPr lang="en-US" smtClean="0"/>
              <a:t>‹Nº›</a:t>
            </a:fld>
            <a:endParaRPr lang="en-US"/>
          </a:p>
        </p:txBody>
      </p:sp>
    </p:spTree>
    <p:extLst>
      <p:ext uri="{BB962C8B-B14F-4D97-AF65-F5344CB8AC3E}">
        <p14:creationId xmlns:p14="http://schemas.microsoft.com/office/powerpoint/2010/main" val="216059876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Imagen panorámica con descripción">
    <p:spTree>
      <p:nvGrpSpPr>
        <p:cNvPr id="1" name=""/>
        <p:cNvGrpSpPr/>
        <p:nvPr/>
      </p:nvGrpSpPr>
      <p:grpSpPr>
        <a:xfrm>
          <a:off x="0" y="0"/>
          <a:ext cx="0" cy="0"/>
          <a:chOff x="0" y="0"/>
          <a:chExt cx="0" cy="0"/>
        </a:xfrm>
      </p:grpSpPr>
      <p:pic>
        <p:nvPicPr>
          <p:cNvPr id="8" name="Picture 7"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5928628"/>
            <a:ext cx="10437812" cy="321164"/>
          </a:xfrm>
          <a:prstGeom prst="rect">
            <a:avLst/>
          </a:prstGeom>
        </p:spPr>
      </p:pic>
      <p:pic>
        <p:nvPicPr>
          <p:cNvPr id="9" name="Picture 8" descr="HD-ShadowShort.png"/>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585826" y="5929622"/>
            <a:ext cx="1602997" cy="144270"/>
          </a:xfrm>
          <a:prstGeom prst="rect">
            <a:avLst/>
          </a:prstGeom>
        </p:spPr>
      </p:pic>
      <p:sp>
        <p:nvSpPr>
          <p:cNvPr id="10" name="Rectangle 9"/>
          <p:cNvSpPr/>
          <p:nvPr/>
        </p:nvSpPr>
        <p:spPr bwMode="ltGray">
          <a:xfrm>
            <a:off x="0" y="4567988"/>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p:cNvSpPr/>
          <p:nvPr/>
        </p:nvSpPr>
        <p:spPr>
          <a:xfrm>
            <a:off x="10585827" y="4567988"/>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22" y="4711616"/>
            <a:ext cx="9613859" cy="453051"/>
          </a:xfrm>
        </p:spPr>
        <p:txBody>
          <a:bodyPr anchor="b">
            <a:normAutofit/>
          </a:bodyPr>
          <a:lstStyle>
            <a:lvl1pPr>
              <a:defRPr sz="2400"/>
            </a:lvl1pPr>
          </a:lstStyle>
          <a:p>
            <a:r>
              <a:rPr lang="es-ES"/>
              <a:t>Haga clic para modificar el estilo de título del patrón</a:t>
            </a:r>
            <a:endParaRPr lang="en-US" dirty="0"/>
          </a:p>
        </p:txBody>
      </p:sp>
      <p:sp>
        <p:nvSpPr>
          <p:cNvPr id="3" name="Picture Placeholder 2"/>
          <p:cNvSpPr>
            <a:spLocks noGrp="1" noChangeAspect="1"/>
          </p:cNvSpPr>
          <p:nvPr>
            <p:ph type="pic" idx="1"/>
          </p:nvPr>
        </p:nvSpPr>
        <p:spPr>
          <a:xfrm>
            <a:off x="680322" y="609597"/>
            <a:ext cx="9613859" cy="3589575"/>
          </a:xfrm>
          <a:noFill/>
          <a:ln>
            <a:noFill/>
          </a:ln>
          <a:effectLst>
            <a:outerShdw blurRad="76200" dist="63500" dir="5040000" algn="tl" rotWithShape="0">
              <a:srgbClr val="000000">
                <a:alpha val="41000"/>
              </a:srgbClr>
            </a:outerShdw>
          </a:effectLst>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s-ES"/>
              <a:t>Haga clic en el icono para agregar una imagen</a:t>
            </a:r>
            <a:endParaRPr lang="en-US" dirty="0"/>
          </a:p>
        </p:txBody>
      </p:sp>
      <p:sp>
        <p:nvSpPr>
          <p:cNvPr id="4" name="Text Placeholder 3"/>
          <p:cNvSpPr>
            <a:spLocks noGrp="1"/>
          </p:cNvSpPr>
          <p:nvPr>
            <p:ph type="body" sz="half" idx="2"/>
          </p:nvPr>
        </p:nvSpPr>
        <p:spPr>
          <a:xfrm>
            <a:off x="680319" y="5169583"/>
            <a:ext cx="9613862" cy="622971"/>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Editar los estilos de texto del patrón</a:t>
            </a:r>
          </a:p>
        </p:txBody>
      </p:sp>
      <p:sp>
        <p:nvSpPr>
          <p:cNvPr id="5" name="Date Placeholder 4"/>
          <p:cNvSpPr>
            <a:spLocks noGrp="1"/>
          </p:cNvSpPr>
          <p:nvPr>
            <p:ph type="dt" sz="half" idx="10"/>
          </p:nvPr>
        </p:nvSpPr>
        <p:spPr/>
        <p:txBody>
          <a:bodyPr/>
          <a:lstStyle/>
          <a:p>
            <a:fld id="{D0F30F2C-27B7-45CE-8A7E-F10748F9B6E8}" type="datetimeFigureOut">
              <a:rPr lang="en-US" smtClean="0"/>
              <a:t>6/7/2025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a:xfrm>
            <a:off x="10729455" y="4711309"/>
            <a:ext cx="1154151" cy="1090789"/>
          </a:xfrm>
        </p:spPr>
        <p:txBody>
          <a:bodyPr/>
          <a:lstStyle/>
          <a:p>
            <a:fld id="{8C863320-A1ED-479B-BD8A-EB783CC3F5FC}" type="slidenum">
              <a:rPr lang="en-US" smtClean="0"/>
              <a:t>‹Nº›</a:t>
            </a:fld>
            <a:endParaRPr lang="en-US"/>
          </a:p>
        </p:txBody>
      </p:sp>
    </p:spTree>
    <p:extLst>
      <p:ext uri="{BB962C8B-B14F-4D97-AF65-F5344CB8AC3E}">
        <p14:creationId xmlns:p14="http://schemas.microsoft.com/office/powerpoint/2010/main" val="71185794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ítulo y descripción">
    <p:spTree>
      <p:nvGrpSpPr>
        <p:cNvPr id="1" name=""/>
        <p:cNvGrpSpPr/>
        <p:nvPr/>
      </p:nvGrpSpPr>
      <p:grpSpPr>
        <a:xfrm>
          <a:off x="0" y="0"/>
          <a:ext cx="0" cy="0"/>
          <a:chOff x="0" y="0"/>
          <a:chExt cx="0" cy="0"/>
        </a:xfrm>
      </p:grpSpPr>
      <p:pic>
        <p:nvPicPr>
          <p:cNvPr id="8" name="Picture 7"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5928628"/>
            <a:ext cx="10437812" cy="321164"/>
          </a:xfrm>
          <a:prstGeom prst="rect">
            <a:avLst/>
          </a:prstGeom>
        </p:spPr>
      </p:pic>
      <p:pic>
        <p:nvPicPr>
          <p:cNvPr id="9" name="Picture 8" descr="HD-ShadowShort.png"/>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585826" y="5929622"/>
            <a:ext cx="1602997" cy="144270"/>
          </a:xfrm>
          <a:prstGeom prst="rect">
            <a:avLst/>
          </a:prstGeom>
        </p:spPr>
      </p:pic>
      <p:sp>
        <p:nvSpPr>
          <p:cNvPr id="10" name="Rectangle 9"/>
          <p:cNvSpPr/>
          <p:nvPr/>
        </p:nvSpPr>
        <p:spPr bwMode="ltGray">
          <a:xfrm>
            <a:off x="0" y="4567988"/>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p:cNvSpPr/>
          <p:nvPr/>
        </p:nvSpPr>
        <p:spPr>
          <a:xfrm>
            <a:off x="10585827" y="4567988"/>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22" y="609597"/>
            <a:ext cx="9613858" cy="3592750"/>
          </a:xfrm>
        </p:spPr>
        <p:txBody>
          <a:bodyPr anchor="ctr"/>
          <a:lstStyle>
            <a:lvl1pPr>
              <a:defRPr sz="3200"/>
            </a:lvl1pPr>
          </a:lstStyle>
          <a:p>
            <a:r>
              <a:rPr lang="es-ES"/>
              <a:t>Haga clic para modificar el estilo de título del patrón</a:t>
            </a:r>
            <a:endParaRPr lang="en-US" dirty="0"/>
          </a:p>
        </p:txBody>
      </p:sp>
      <p:sp>
        <p:nvSpPr>
          <p:cNvPr id="4" name="Text Placeholder 3"/>
          <p:cNvSpPr>
            <a:spLocks noGrp="1"/>
          </p:cNvSpPr>
          <p:nvPr>
            <p:ph type="body" sz="half" idx="2"/>
          </p:nvPr>
        </p:nvSpPr>
        <p:spPr>
          <a:xfrm>
            <a:off x="680322" y="4711615"/>
            <a:ext cx="9613859" cy="1090789"/>
          </a:xfrm>
        </p:spPr>
        <p:txBody>
          <a:bodyPr anchor="ct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Editar los estilos de texto del patrón</a:t>
            </a:r>
          </a:p>
        </p:txBody>
      </p:sp>
      <p:sp>
        <p:nvSpPr>
          <p:cNvPr id="5" name="Date Placeholder 4"/>
          <p:cNvSpPr>
            <a:spLocks noGrp="1"/>
          </p:cNvSpPr>
          <p:nvPr>
            <p:ph type="dt" sz="half" idx="10"/>
          </p:nvPr>
        </p:nvSpPr>
        <p:spPr/>
        <p:txBody>
          <a:bodyPr/>
          <a:lstStyle/>
          <a:p>
            <a:fld id="{D0F30F2C-27B7-45CE-8A7E-F10748F9B6E8}" type="datetimeFigureOut">
              <a:rPr lang="en-US" smtClean="0"/>
              <a:t>6/7/2025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a:xfrm>
            <a:off x="10729455" y="4711615"/>
            <a:ext cx="1154151" cy="1090789"/>
          </a:xfrm>
        </p:spPr>
        <p:txBody>
          <a:bodyPr/>
          <a:lstStyle/>
          <a:p>
            <a:fld id="{8C863320-A1ED-479B-BD8A-EB783CC3F5FC}" type="slidenum">
              <a:rPr lang="en-US" smtClean="0"/>
              <a:t>‹Nº›</a:t>
            </a:fld>
            <a:endParaRPr lang="en-US"/>
          </a:p>
        </p:txBody>
      </p:sp>
    </p:spTree>
    <p:extLst>
      <p:ext uri="{BB962C8B-B14F-4D97-AF65-F5344CB8AC3E}">
        <p14:creationId xmlns:p14="http://schemas.microsoft.com/office/powerpoint/2010/main" val="86658627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ita con descripción">
    <p:spTree>
      <p:nvGrpSpPr>
        <p:cNvPr id="1" name=""/>
        <p:cNvGrpSpPr/>
        <p:nvPr/>
      </p:nvGrpSpPr>
      <p:grpSpPr>
        <a:xfrm>
          <a:off x="0" y="0"/>
          <a:ext cx="0" cy="0"/>
          <a:chOff x="0" y="0"/>
          <a:chExt cx="0" cy="0"/>
        </a:xfrm>
      </p:grpSpPr>
      <p:pic>
        <p:nvPicPr>
          <p:cNvPr id="11" name="Picture 10"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5928628"/>
            <a:ext cx="10437812" cy="321164"/>
          </a:xfrm>
          <a:prstGeom prst="rect">
            <a:avLst/>
          </a:prstGeom>
        </p:spPr>
      </p:pic>
      <p:pic>
        <p:nvPicPr>
          <p:cNvPr id="13" name="Picture 12" descr="HD-ShadowShort.png"/>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585826" y="5929622"/>
            <a:ext cx="1602997" cy="144270"/>
          </a:xfrm>
          <a:prstGeom prst="rect">
            <a:avLst/>
          </a:prstGeom>
        </p:spPr>
      </p:pic>
      <p:sp>
        <p:nvSpPr>
          <p:cNvPr id="14" name="Rectangle 13"/>
          <p:cNvSpPr/>
          <p:nvPr/>
        </p:nvSpPr>
        <p:spPr bwMode="ltGray">
          <a:xfrm>
            <a:off x="0" y="4567988"/>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Rectangle 14"/>
          <p:cNvSpPr/>
          <p:nvPr/>
        </p:nvSpPr>
        <p:spPr>
          <a:xfrm>
            <a:off x="10585827" y="4567988"/>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127856" y="609598"/>
            <a:ext cx="8718877" cy="3036061"/>
          </a:xfrm>
        </p:spPr>
        <p:txBody>
          <a:bodyPr anchor="ctr"/>
          <a:lstStyle>
            <a:lvl1pPr>
              <a:defRPr sz="3200"/>
            </a:lvl1pPr>
          </a:lstStyle>
          <a:p>
            <a:r>
              <a:rPr lang="es-ES"/>
              <a:t>Haga clic para modificar el estilo de título del patrón</a:t>
            </a:r>
            <a:endParaRPr lang="en-US" dirty="0"/>
          </a:p>
        </p:txBody>
      </p:sp>
      <p:sp>
        <p:nvSpPr>
          <p:cNvPr id="12" name="Text Placeholder 3"/>
          <p:cNvSpPr>
            <a:spLocks noGrp="1"/>
          </p:cNvSpPr>
          <p:nvPr>
            <p:ph type="body" sz="half" idx="13"/>
          </p:nvPr>
        </p:nvSpPr>
        <p:spPr>
          <a:xfrm>
            <a:off x="1402288" y="3653379"/>
            <a:ext cx="8156579" cy="54896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Editar los estilos de texto del patrón</a:t>
            </a:r>
          </a:p>
        </p:txBody>
      </p:sp>
      <p:sp>
        <p:nvSpPr>
          <p:cNvPr id="4" name="Text Placeholder 3"/>
          <p:cNvSpPr>
            <a:spLocks noGrp="1"/>
          </p:cNvSpPr>
          <p:nvPr>
            <p:ph type="body" sz="half" idx="2"/>
          </p:nvPr>
        </p:nvSpPr>
        <p:spPr>
          <a:xfrm>
            <a:off x="680322" y="4711615"/>
            <a:ext cx="9613859" cy="1090789"/>
          </a:xfrm>
        </p:spPr>
        <p:txBody>
          <a:bodyPr anchor="ct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Editar los estilos de texto del patrón</a:t>
            </a:r>
          </a:p>
        </p:txBody>
      </p:sp>
      <p:sp>
        <p:nvSpPr>
          <p:cNvPr id="5" name="Date Placeholder 4"/>
          <p:cNvSpPr>
            <a:spLocks noGrp="1"/>
          </p:cNvSpPr>
          <p:nvPr>
            <p:ph type="dt" sz="half" idx="10"/>
          </p:nvPr>
        </p:nvSpPr>
        <p:spPr/>
        <p:txBody>
          <a:bodyPr/>
          <a:lstStyle/>
          <a:p>
            <a:fld id="{D0F30F2C-27B7-45CE-8A7E-F10748F9B6E8}" type="datetimeFigureOut">
              <a:rPr lang="en-US" smtClean="0"/>
              <a:t>6/7/2025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a:xfrm>
            <a:off x="10729455" y="4709925"/>
            <a:ext cx="1154151" cy="1090789"/>
          </a:xfrm>
        </p:spPr>
        <p:txBody>
          <a:bodyPr/>
          <a:lstStyle/>
          <a:p>
            <a:fld id="{8C863320-A1ED-479B-BD8A-EB783CC3F5FC}" type="slidenum">
              <a:rPr lang="en-US" smtClean="0"/>
              <a:t>‹Nº›</a:t>
            </a:fld>
            <a:endParaRPr lang="en-US"/>
          </a:p>
        </p:txBody>
      </p:sp>
      <p:sp>
        <p:nvSpPr>
          <p:cNvPr id="16" name="TextBox 15"/>
          <p:cNvSpPr txBox="1"/>
          <p:nvPr/>
        </p:nvSpPr>
        <p:spPr>
          <a:xfrm>
            <a:off x="583572" y="748116"/>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7200" dirty="0">
                <a:solidFill>
                  <a:schemeClr val="tx1"/>
                </a:solidFill>
                <a:effectLst/>
              </a:rPr>
              <a:t>“</a:t>
            </a:r>
          </a:p>
        </p:txBody>
      </p:sp>
      <p:sp>
        <p:nvSpPr>
          <p:cNvPr id="17" name="TextBox 16"/>
          <p:cNvSpPr txBox="1"/>
          <p:nvPr/>
        </p:nvSpPr>
        <p:spPr>
          <a:xfrm>
            <a:off x="9662809" y="303352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7200" dirty="0">
                <a:solidFill>
                  <a:schemeClr val="tx1"/>
                </a:solidFill>
                <a:effectLst/>
              </a:rPr>
              <a:t>”</a:t>
            </a:r>
          </a:p>
        </p:txBody>
      </p:sp>
    </p:spTree>
    <p:extLst>
      <p:ext uri="{BB962C8B-B14F-4D97-AF65-F5344CB8AC3E}">
        <p14:creationId xmlns:p14="http://schemas.microsoft.com/office/powerpoint/2010/main" val="234155559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Tarjeta de nombre">
    <p:spTree>
      <p:nvGrpSpPr>
        <p:cNvPr id="1" name=""/>
        <p:cNvGrpSpPr/>
        <p:nvPr/>
      </p:nvGrpSpPr>
      <p:grpSpPr>
        <a:xfrm>
          <a:off x="0" y="0"/>
          <a:ext cx="0" cy="0"/>
          <a:chOff x="0" y="0"/>
          <a:chExt cx="0" cy="0"/>
        </a:xfrm>
      </p:grpSpPr>
      <p:pic>
        <p:nvPicPr>
          <p:cNvPr id="9" name="Picture 8"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5928628"/>
            <a:ext cx="10437812" cy="321164"/>
          </a:xfrm>
          <a:prstGeom prst="rect">
            <a:avLst/>
          </a:prstGeom>
        </p:spPr>
      </p:pic>
      <p:pic>
        <p:nvPicPr>
          <p:cNvPr id="10" name="Picture 9" descr="HD-ShadowShort.png"/>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585826" y="5929622"/>
            <a:ext cx="1602997" cy="144270"/>
          </a:xfrm>
          <a:prstGeom prst="rect">
            <a:avLst/>
          </a:prstGeom>
        </p:spPr>
      </p:pic>
      <p:sp>
        <p:nvSpPr>
          <p:cNvPr id="11" name="Rectangle 10"/>
          <p:cNvSpPr/>
          <p:nvPr/>
        </p:nvSpPr>
        <p:spPr bwMode="ltGray">
          <a:xfrm>
            <a:off x="0" y="4567988"/>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2" name="Rectangle 11"/>
          <p:cNvSpPr/>
          <p:nvPr/>
        </p:nvSpPr>
        <p:spPr>
          <a:xfrm>
            <a:off x="10585827" y="4567988"/>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19" y="4711615"/>
            <a:ext cx="9613862" cy="588535"/>
          </a:xfrm>
        </p:spPr>
        <p:txBody>
          <a:bodyPr anchor="b"/>
          <a:lstStyle>
            <a:lvl1pPr>
              <a:defRPr sz="3200"/>
            </a:lvl1pPr>
          </a:lstStyle>
          <a:p>
            <a:r>
              <a:rPr lang="es-ES"/>
              <a:t>Haga clic para modificar el estilo de título del patrón</a:t>
            </a:r>
            <a:endParaRPr lang="en-US" dirty="0"/>
          </a:p>
        </p:txBody>
      </p:sp>
      <p:sp>
        <p:nvSpPr>
          <p:cNvPr id="4" name="Text Placeholder 3"/>
          <p:cNvSpPr>
            <a:spLocks noGrp="1"/>
          </p:cNvSpPr>
          <p:nvPr>
            <p:ph type="body" sz="half" idx="2"/>
          </p:nvPr>
        </p:nvSpPr>
        <p:spPr>
          <a:xfrm>
            <a:off x="680320" y="5300149"/>
            <a:ext cx="9613862" cy="502255"/>
          </a:xfrm>
        </p:spPr>
        <p:txBody>
          <a:bodyPr anchor="t"/>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Editar los estilos de texto del patrón</a:t>
            </a:r>
          </a:p>
        </p:txBody>
      </p:sp>
      <p:sp>
        <p:nvSpPr>
          <p:cNvPr id="5" name="Date Placeholder 4"/>
          <p:cNvSpPr>
            <a:spLocks noGrp="1"/>
          </p:cNvSpPr>
          <p:nvPr>
            <p:ph type="dt" sz="half" idx="10"/>
          </p:nvPr>
        </p:nvSpPr>
        <p:spPr/>
        <p:txBody>
          <a:bodyPr/>
          <a:lstStyle/>
          <a:p>
            <a:fld id="{D0F30F2C-27B7-45CE-8A7E-F10748F9B6E8}" type="datetimeFigureOut">
              <a:rPr lang="en-US" smtClean="0"/>
              <a:t>6/7/2025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a:xfrm>
            <a:off x="10729455" y="4709925"/>
            <a:ext cx="1154151" cy="1090789"/>
          </a:xfrm>
        </p:spPr>
        <p:txBody>
          <a:bodyPr/>
          <a:lstStyle/>
          <a:p>
            <a:fld id="{8C863320-A1ED-479B-BD8A-EB783CC3F5FC}" type="slidenum">
              <a:rPr lang="en-US" smtClean="0"/>
              <a:t>‹Nº›</a:t>
            </a:fld>
            <a:endParaRPr lang="en-US"/>
          </a:p>
        </p:txBody>
      </p:sp>
    </p:spTree>
    <p:extLst>
      <p:ext uri="{BB962C8B-B14F-4D97-AF65-F5344CB8AC3E}">
        <p14:creationId xmlns:p14="http://schemas.microsoft.com/office/powerpoint/2010/main" val="400298082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Columna 3">
    <p:spTree>
      <p:nvGrpSpPr>
        <p:cNvPr id="1" name=""/>
        <p:cNvGrpSpPr/>
        <p:nvPr/>
      </p:nvGrpSpPr>
      <p:grpSpPr>
        <a:xfrm>
          <a:off x="0" y="0"/>
          <a:ext cx="0" cy="0"/>
          <a:chOff x="0" y="0"/>
          <a:chExt cx="0" cy="0"/>
        </a:xfrm>
      </p:grpSpPr>
      <p:pic>
        <p:nvPicPr>
          <p:cNvPr id="13" name="Picture 12"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14" name="Picture 13" descr="HD-ShadowShort.png"/>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6" name="Rectangle 15"/>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Rectangle 16"/>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Title 1"/>
          <p:cNvSpPr>
            <a:spLocks noGrp="1"/>
          </p:cNvSpPr>
          <p:nvPr>
            <p:ph type="title"/>
          </p:nvPr>
        </p:nvSpPr>
        <p:spPr>
          <a:xfrm>
            <a:off x="669222" y="753228"/>
            <a:ext cx="9624960" cy="1080938"/>
          </a:xfrm>
        </p:spPr>
        <p:txBody>
          <a:bodyPr/>
          <a:lstStyle/>
          <a:p>
            <a:r>
              <a:rPr lang="es-ES"/>
              <a:t>Haga clic para modificar el estilo de título del patrón</a:t>
            </a:r>
            <a:endParaRPr lang="en-US" dirty="0"/>
          </a:p>
        </p:txBody>
      </p:sp>
      <p:sp>
        <p:nvSpPr>
          <p:cNvPr id="7" name="Text Placeholder 2"/>
          <p:cNvSpPr>
            <a:spLocks noGrp="1"/>
          </p:cNvSpPr>
          <p:nvPr>
            <p:ph type="body" idx="1"/>
          </p:nvPr>
        </p:nvSpPr>
        <p:spPr>
          <a:xfrm>
            <a:off x="660946" y="2336873"/>
            <a:ext cx="3070034"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Editar los estilos de texto del patrón</a:t>
            </a:r>
          </a:p>
        </p:txBody>
      </p:sp>
      <p:sp>
        <p:nvSpPr>
          <p:cNvPr id="8" name="Text Placeholder 3"/>
          <p:cNvSpPr>
            <a:spLocks noGrp="1"/>
          </p:cNvSpPr>
          <p:nvPr>
            <p:ph type="body" sz="half" idx="15"/>
          </p:nvPr>
        </p:nvSpPr>
        <p:spPr>
          <a:xfrm>
            <a:off x="680322" y="3022673"/>
            <a:ext cx="3049702" cy="291351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Editar los estilos de texto del patrón</a:t>
            </a:r>
          </a:p>
        </p:txBody>
      </p:sp>
      <p:sp>
        <p:nvSpPr>
          <p:cNvPr id="9" name="Text Placeholder 4"/>
          <p:cNvSpPr>
            <a:spLocks noGrp="1"/>
          </p:cNvSpPr>
          <p:nvPr>
            <p:ph type="body" sz="quarter" idx="3"/>
          </p:nvPr>
        </p:nvSpPr>
        <p:spPr>
          <a:xfrm>
            <a:off x="3956025" y="2336873"/>
            <a:ext cx="3063240"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Editar los estilos de texto del patrón</a:t>
            </a:r>
          </a:p>
        </p:txBody>
      </p:sp>
      <p:sp>
        <p:nvSpPr>
          <p:cNvPr id="10" name="Text Placeholder 3"/>
          <p:cNvSpPr>
            <a:spLocks noGrp="1"/>
          </p:cNvSpPr>
          <p:nvPr>
            <p:ph type="body" sz="half" idx="16"/>
          </p:nvPr>
        </p:nvSpPr>
        <p:spPr>
          <a:xfrm>
            <a:off x="3945470" y="3022673"/>
            <a:ext cx="3063240" cy="291351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Editar los estilos de texto del patrón</a:t>
            </a:r>
          </a:p>
        </p:txBody>
      </p:sp>
      <p:sp>
        <p:nvSpPr>
          <p:cNvPr id="11" name="Text Placeholder 4"/>
          <p:cNvSpPr>
            <a:spLocks noGrp="1"/>
          </p:cNvSpPr>
          <p:nvPr>
            <p:ph type="body" sz="quarter" idx="13"/>
          </p:nvPr>
        </p:nvSpPr>
        <p:spPr>
          <a:xfrm>
            <a:off x="7224156" y="2336873"/>
            <a:ext cx="3070025"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Editar los estilos de texto del patrón</a:t>
            </a:r>
          </a:p>
        </p:txBody>
      </p:sp>
      <p:sp>
        <p:nvSpPr>
          <p:cNvPr id="12" name="Text Placeholder 3"/>
          <p:cNvSpPr>
            <a:spLocks noGrp="1"/>
          </p:cNvSpPr>
          <p:nvPr>
            <p:ph type="body" sz="half" idx="17"/>
          </p:nvPr>
        </p:nvSpPr>
        <p:spPr>
          <a:xfrm>
            <a:off x="7224156" y="3022673"/>
            <a:ext cx="3070025" cy="291351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Editar los estilos de texto del patrón</a:t>
            </a:r>
          </a:p>
        </p:txBody>
      </p:sp>
      <p:sp>
        <p:nvSpPr>
          <p:cNvPr id="3" name="Date Placeholder 2"/>
          <p:cNvSpPr>
            <a:spLocks noGrp="1"/>
          </p:cNvSpPr>
          <p:nvPr>
            <p:ph type="dt" sz="half" idx="10"/>
          </p:nvPr>
        </p:nvSpPr>
        <p:spPr/>
        <p:txBody>
          <a:bodyPr/>
          <a:lstStyle/>
          <a:p>
            <a:fld id="{D0F30F2C-27B7-45CE-8A7E-F10748F9B6E8}" type="datetimeFigureOut">
              <a:rPr lang="en-US" smtClean="0"/>
              <a:t>6/7/2025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8C863320-A1ED-479B-BD8A-EB783CC3F5FC}" type="slidenum">
              <a:rPr lang="en-US" smtClean="0"/>
              <a:t>‹Nº›</a:t>
            </a:fld>
            <a:endParaRPr lang="en-US"/>
          </a:p>
        </p:txBody>
      </p:sp>
    </p:spTree>
    <p:extLst>
      <p:ext uri="{BB962C8B-B14F-4D97-AF65-F5344CB8AC3E}">
        <p14:creationId xmlns:p14="http://schemas.microsoft.com/office/powerpoint/2010/main" val="171156368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Columna de imagen 3">
    <p:spTree>
      <p:nvGrpSpPr>
        <p:cNvPr id="1" name=""/>
        <p:cNvGrpSpPr/>
        <p:nvPr/>
      </p:nvGrpSpPr>
      <p:grpSpPr>
        <a:xfrm>
          <a:off x="0" y="0"/>
          <a:ext cx="0" cy="0"/>
          <a:chOff x="0" y="0"/>
          <a:chExt cx="0" cy="0"/>
        </a:xfrm>
      </p:grpSpPr>
      <p:pic>
        <p:nvPicPr>
          <p:cNvPr id="15" name="Picture 14"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16" name="Picture 15" descr="HD-ShadowShort.png"/>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7" name="Rectangle 16"/>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8" name="Rectangle 17"/>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0" name="Title 1"/>
          <p:cNvSpPr>
            <a:spLocks noGrp="1"/>
          </p:cNvSpPr>
          <p:nvPr>
            <p:ph type="title"/>
          </p:nvPr>
        </p:nvSpPr>
        <p:spPr>
          <a:xfrm>
            <a:off x="680322" y="753228"/>
            <a:ext cx="9613860" cy="1080938"/>
          </a:xfrm>
        </p:spPr>
        <p:txBody>
          <a:bodyPr/>
          <a:lstStyle/>
          <a:p>
            <a:r>
              <a:rPr lang="es-ES"/>
              <a:t>Haga clic para modificar el estilo de título del patrón</a:t>
            </a:r>
            <a:endParaRPr lang="en-US" dirty="0"/>
          </a:p>
        </p:txBody>
      </p:sp>
      <p:sp>
        <p:nvSpPr>
          <p:cNvPr id="19" name="Text Placeholder 2"/>
          <p:cNvSpPr>
            <a:spLocks noGrp="1"/>
          </p:cNvSpPr>
          <p:nvPr>
            <p:ph type="body" idx="1"/>
          </p:nvPr>
        </p:nvSpPr>
        <p:spPr>
          <a:xfrm>
            <a:off x="680318" y="4297503"/>
            <a:ext cx="3049705"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Editar los estilos de texto del patrón</a:t>
            </a:r>
          </a:p>
        </p:txBody>
      </p:sp>
      <p:sp>
        <p:nvSpPr>
          <p:cNvPr id="20" name="Picture Placeholder 2"/>
          <p:cNvSpPr>
            <a:spLocks noGrp="1" noChangeAspect="1"/>
          </p:cNvSpPr>
          <p:nvPr>
            <p:ph type="pic" idx="15"/>
          </p:nvPr>
        </p:nvSpPr>
        <p:spPr>
          <a:xfrm>
            <a:off x="680318" y="2336873"/>
            <a:ext cx="3049705"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a:t>Haga clic en el icono para agregar una imagen</a:t>
            </a:r>
            <a:endParaRPr lang="en-US" dirty="0"/>
          </a:p>
        </p:txBody>
      </p:sp>
      <p:sp>
        <p:nvSpPr>
          <p:cNvPr id="21" name="Text Placeholder 3"/>
          <p:cNvSpPr>
            <a:spLocks noGrp="1"/>
          </p:cNvSpPr>
          <p:nvPr>
            <p:ph type="body" sz="half" idx="18"/>
          </p:nvPr>
        </p:nvSpPr>
        <p:spPr>
          <a:xfrm>
            <a:off x="680318" y="4873765"/>
            <a:ext cx="3049705" cy="106242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Editar los estilos de texto del patrón</a:t>
            </a:r>
          </a:p>
        </p:txBody>
      </p:sp>
      <p:sp>
        <p:nvSpPr>
          <p:cNvPr id="22" name="Text Placeholder 4"/>
          <p:cNvSpPr>
            <a:spLocks noGrp="1"/>
          </p:cNvSpPr>
          <p:nvPr>
            <p:ph type="body" sz="quarter" idx="3"/>
          </p:nvPr>
        </p:nvSpPr>
        <p:spPr>
          <a:xfrm>
            <a:off x="3945471" y="4297503"/>
            <a:ext cx="3063240"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Editar los estilos de texto del patrón</a:t>
            </a:r>
          </a:p>
        </p:txBody>
      </p:sp>
      <p:sp>
        <p:nvSpPr>
          <p:cNvPr id="23" name="Picture Placeholder 2"/>
          <p:cNvSpPr>
            <a:spLocks noGrp="1" noChangeAspect="1"/>
          </p:cNvSpPr>
          <p:nvPr>
            <p:ph type="pic" idx="21"/>
          </p:nvPr>
        </p:nvSpPr>
        <p:spPr>
          <a:xfrm>
            <a:off x="3945470" y="2336873"/>
            <a:ext cx="3063240"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a:t>Haga clic en el icono para agregar una imagen</a:t>
            </a:r>
            <a:endParaRPr lang="en-US" dirty="0"/>
          </a:p>
        </p:txBody>
      </p:sp>
      <p:sp>
        <p:nvSpPr>
          <p:cNvPr id="24" name="Text Placeholder 3"/>
          <p:cNvSpPr>
            <a:spLocks noGrp="1"/>
          </p:cNvSpPr>
          <p:nvPr>
            <p:ph type="body" sz="half" idx="19"/>
          </p:nvPr>
        </p:nvSpPr>
        <p:spPr>
          <a:xfrm>
            <a:off x="3944117" y="4873764"/>
            <a:ext cx="3067297" cy="106242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Editar los estilos de texto del patrón</a:t>
            </a:r>
          </a:p>
        </p:txBody>
      </p:sp>
      <p:sp>
        <p:nvSpPr>
          <p:cNvPr id="25" name="Text Placeholder 4"/>
          <p:cNvSpPr>
            <a:spLocks noGrp="1"/>
          </p:cNvSpPr>
          <p:nvPr>
            <p:ph type="body" sz="quarter" idx="13"/>
          </p:nvPr>
        </p:nvSpPr>
        <p:spPr>
          <a:xfrm>
            <a:off x="7230678" y="4297503"/>
            <a:ext cx="3063505"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Editar los estilos de texto del patrón</a:t>
            </a:r>
          </a:p>
        </p:txBody>
      </p:sp>
      <p:sp>
        <p:nvSpPr>
          <p:cNvPr id="26" name="Picture Placeholder 2"/>
          <p:cNvSpPr>
            <a:spLocks noGrp="1" noChangeAspect="1"/>
          </p:cNvSpPr>
          <p:nvPr>
            <p:ph type="pic" idx="22"/>
          </p:nvPr>
        </p:nvSpPr>
        <p:spPr>
          <a:xfrm>
            <a:off x="7230677" y="2336873"/>
            <a:ext cx="3063505"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a:t>Haga clic en el icono para agregar una imagen</a:t>
            </a:r>
            <a:endParaRPr lang="en-US" dirty="0"/>
          </a:p>
        </p:txBody>
      </p:sp>
      <p:sp>
        <p:nvSpPr>
          <p:cNvPr id="27" name="Text Placeholder 3"/>
          <p:cNvSpPr>
            <a:spLocks noGrp="1"/>
          </p:cNvSpPr>
          <p:nvPr>
            <p:ph type="body" sz="half" idx="20"/>
          </p:nvPr>
        </p:nvSpPr>
        <p:spPr>
          <a:xfrm>
            <a:off x="7230553" y="4873762"/>
            <a:ext cx="3067563" cy="106242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Editar los estilos de texto del patrón</a:t>
            </a:r>
          </a:p>
        </p:txBody>
      </p:sp>
      <p:sp>
        <p:nvSpPr>
          <p:cNvPr id="3" name="Date Placeholder 2"/>
          <p:cNvSpPr>
            <a:spLocks noGrp="1"/>
          </p:cNvSpPr>
          <p:nvPr>
            <p:ph type="dt" sz="half" idx="10"/>
          </p:nvPr>
        </p:nvSpPr>
        <p:spPr/>
        <p:txBody>
          <a:bodyPr/>
          <a:lstStyle/>
          <a:p>
            <a:fld id="{D0F30F2C-27B7-45CE-8A7E-F10748F9B6E8}" type="datetimeFigureOut">
              <a:rPr lang="en-US" smtClean="0"/>
              <a:t>6/7/2025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8C863320-A1ED-479B-BD8A-EB783CC3F5FC}" type="slidenum">
              <a:rPr lang="en-US" smtClean="0"/>
              <a:t>‹Nº›</a:t>
            </a:fld>
            <a:endParaRPr lang="en-US"/>
          </a:p>
        </p:txBody>
      </p:sp>
    </p:spTree>
    <p:extLst>
      <p:ext uri="{BB962C8B-B14F-4D97-AF65-F5344CB8AC3E}">
        <p14:creationId xmlns:p14="http://schemas.microsoft.com/office/powerpoint/2010/main" val="426558731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pic>
        <p:nvPicPr>
          <p:cNvPr id="7" name="Picture 6"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8" name="Picture 7" descr="HD-ShadowShort.png"/>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9" name="Rectangle 8"/>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Rectangle 9"/>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p:txBody>
          <a:bodyPr/>
          <a:lstStyle>
            <a:lvl1pPr algn="r">
              <a:defRPr/>
            </a:lvl1pP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p:txBody>
          <a:bodyPr vert="eaVert"/>
          <a:lstStyle/>
          <a:p>
            <a:pPr lvl="0"/>
            <a:r>
              <a:rPr lang="es-ES"/>
              <a:t>Editar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D0F30F2C-27B7-45CE-8A7E-F10748F9B6E8}" type="datetimeFigureOut">
              <a:rPr lang="en-US" smtClean="0"/>
              <a:t>6/7/2025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863320-A1ED-479B-BD8A-EB783CC3F5FC}" type="slidenum">
              <a:rPr lang="en-US" smtClean="0"/>
              <a:t>‹Nº›</a:t>
            </a:fld>
            <a:endParaRPr lang="en-US"/>
          </a:p>
        </p:txBody>
      </p:sp>
    </p:spTree>
    <p:extLst>
      <p:ext uri="{BB962C8B-B14F-4D97-AF65-F5344CB8AC3E}">
        <p14:creationId xmlns:p14="http://schemas.microsoft.com/office/powerpoint/2010/main" val="228935991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7" name="Rectangle 6"/>
          <p:cNvSpPr/>
          <p:nvPr/>
        </p:nvSpPr>
        <p:spPr bwMode="ltGray">
          <a:xfrm rot="5400000">
            <a:off x="8116207" y="1869395"/>
            <a:ext cx="5106988"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rot="5400000">
            <a:off x="9868202" y="5372403"/>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10129231" y="609597"/>
            <a:ext cx="1073802" cy="4353760"/>
          </a:xfrm>
        </p:spPr>
        <p:txBody>
          <a:bodyPr vert="eaVert"/>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a:xfrm>
            <a:off x="680322" y="609597"/>
            <a:ext cx="8870004" cy="5326589"/>
          </a:xfrm>
        </p:spPr>
        <p:txBody>
          <a:bodyPr vert="eaVert"/>
          <a:lstStyle/>
          <a:p>
            <a:pPr lvl="0"/>
            <a:r>
              <a:rPr lang="es-ES"/>
              <a:t>Editar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a:xfrm>
            <a:off x="6807126" y="5936187"/>
            <a:ext cx="2743200" cy="365125"/>
          </a:xfrm>
        </p:spPr>
        <p:txBody>
          <a:bodyPr/>
          <a:lstStyle/>
          <a:p>
            <a:fld id="{D0F30F2C-27B7-45CE-8A7E-F10748F9B6E8}" type="datetimeFigureOut">
              <a:rPr lang="en-US" smtClean="0"/>
              <a:t>6/7/2025</a:t>
            </a:fld>
            <a:endParaRPr lang="en-US"/>
          </a:p>
        </p:txBody>
      </p:sp>
      <p:sp>
        <p:nvSpPr>
          <p:cNvPr id="5" name="Footer Placeholder 4"/>
          <p:cNvSpPr>
            <a:spLocks noGrp="1"/>
          </p:cNvSpPr>
          <p:nvPr>
            <p:ph type="ftr" sz="quarter" idx="11"/>
          </p:nvPr>
        </p:nvSpPr>
        <p:spPr>
          <a:xfrm>
            <a:off x="680321" y="5936188"/>
            <a:ext cx="6126805" cy="365125"/>
          </a:xfrm>
        </p:spPr>
        <p:txBody>
          <a:bodyPr/>
          <a:lstStyle/>
          <a:p>
            <a:endParaRPr lang="en-US"/>
          </a:p>
        </p:txBody>
      </p:sp>
      <p:sp>
        <p:nvSpPr>
          <p:cNvPr id="6" name="Slide Number Placeholder 5"/>
          <p:cNvSpPr>
            <a:spLocks noGrp="1"/>
          </p:cNvSpPr>
          <p:nvPr>
            <p:ph type="sldNum" sz="quarter" idx="12"/>
          </p:nvPr>
        </p:nvSpPr>
        <p:spPr>
          <a:xfrm>
            <a:off x="10097550" y="5398633"/>
            <a:ext cx="1154151" cy="1090789"/>
          </a:xfrm>
        </p:spPr>
        <p:txBody>
          <a:bodyPr anchor="t"/>
          <a:lstStyle>
            <a:lvl1pPr algn="ctr">
              <a:defRPr/>
            </a:lvl1pPr>
          </a:lstStyle>
          <a:p>
            <a:fld id="{8C863320-A1ED-479B-BD8A-EB783CC3F5FC}" type="slidenum">
              <a:rPr lang="en-US" smtClean="0"/>
              <a:t>‹Nº›</a:t>
            </a:fld>
            <a:endParaRPr lang="en-US"/>
          </a:p>
        </p:txBody>
      </p:sp>
    </p:spTree>
    <p:extLst>
      <p:ext uri="{BB962C8B-B14F-4D97-AF65-F5344CB8AC3E}">
        <p14:creationId xmlns:p14="http://schemas.microsoft.com/office/powerpoint/2010/main" val="234599473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7" name="Picture 6" descr="hashOverlay-FullResolve.png"/>
          <p:cNvPicPr>
            <a:picLocks noChangeAspect="1"/>
          </p:cNvPicPr>
          <p:nvPr/>
        </p:nvPicPr>
        <p:blipFill>
          <a:blip r:embed="rId19">
            <a:alphaModFix amt="10000"/>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Placeholder 1"/>
          <p:cNvSpPr>
            <a:spLocks noGrp="1"/>
          </p:cNvSpPr>
          <p:nvPr>
            <p:ph type="title"/>
          </p:nvPr>
        </p:nvSpPr>
        <p:spPr>
          <a:xfrm>
            <a:off x="680321" y="753228"/>
            <a:ext cx="9613861" cy="1080938"/>
          </a:xfrm>
          <a:prstGeom prst="rect">
            <a:avLst/>
          </a:prstGeom>
        </p:spPr>
        <p:txBody>
          <a:bodyPr vert="horz" lIns="91440" tIns="45720" rIns="91440" bIns="45720" rtlCol="0" anchor="ctr">
            <a:normAutofit/>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680321" y="2336873"/>
            <a:ext cx="9613861" cy="3599316"/>
          </a:xfrm>
          <a:prstGeom prst="rect">
            <a:avLst/>
          </a:prstGeom>
        </p:spPr>
        <p:txBody>
          <a:bodyPr vert="horz" lIns="91440" tIns="45720" rIns="91440" bIns="45720" rtlCol="0">
            <a:normAutofit/>
          </a:bodyPr>
          <a:lstStyle/>
          <a:p>
            <a:pPr lvl="0"/>
            <a:r>
              <a:rPr lang="es-ES"/>
              <a:t>Editar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2"/>
          </p:nvPr>
        </p:nvSpPr>
        <p:spPr>
          <a:xfrm>
            <a:off x="7550981" y="5936187"/>
            <a:ext cx="27432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D0F30F2C-27B7-45CE-8A7E-F10748F9B6E8}" type="datetimeFigureOut">
              <a:rPr lang="en-US" smtClean="0"/>
              <a:t>6/7/2025</a:t>
            </a:fld>
            <a:endParaRPr lang="en-US"/>
          </a:p>
        </p:txBody>
      </p:sp>
      <p:sp>
        <p:nvSpPr>
          <p:cNvPr id="5" name="Footer Placeholder 4"/>
          <p:cNvSpPr>
            <a:spLocks noGrp="1"/>
          </p:cNvSpPr>
          <p:nvPr>
            <p:ph type="ftr" sz="quarter" idx="3"/>
          </p:nvPr>
        </p:nvSpPr>
        <p:spPr>
          <a:xfrm>
            <a:off x="680321" y="5936188"/>
            <a:ext cx="6870660" cy="365125"/>
          </a:xfrm>
          <a:prstGeom prst="rect">
            <a:avLst/>
          </a:prstGeom>
        </p:spPr>
        <p:txBody>
          <a:bodyPr vert="horz" lIns="91440" tIns="45720" rIns="91440" bIns="45720" rtlCol="0" anchor="ctr"/>
          <a:lstStyle>
            <a:lvl1pPr algn="l">
              <a:defRPr sz="105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10729455" y="753227"/>
            <a:ext cx="1154151" cy="1090789"/>
          </a:xfrm>
          <a:prstGeom prst="rect">
            <a:avLst/>
          </a:prstGeom>
        </p:spPr>
        <p:txBody>
          <a:bodyPr vert="horz" lIns="91440" tIns="45720" rIns="91440" bIns="45720" rtlCol="0" anchor="ctr"/>
          <a:lstStyle>
            <a:lvl1pPr algn="l">
              <a:defRPr sz="3600">
                <a:solidFill>
                  <a:schemeClr val="tx1">
                    <a:tint val="75000"/>
                  </a:schemeClr>
                </a:solidFill>
              </a:defRPr>
            </a:lvl1pPr>
          </a:lstStyle>
          <a:p>
            <a:fld id="{8C863320-A1ED-479B-BD8A-EB783CC3F5FC}" type="slidenum">
              <a:rPr lang="en-US" smtClean="0"/>
              <a:t>‹Nº›</a:t>
            </a:fld>
            <a:endParaRPr lang="en-US"/>
          </a:p>
        </p:txBody>
      </p:sp>
    </p:spTree>
    <p:extLst>
      <p:ext uri="{BB962C8B-B14F-4D97-AF65-F5344CB8AC3E}">
        <p14:creationId xmlns:p14="http://schemas.microsoft.com/office/powerpoint/2010/main" val="3243534441"/>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l" defTabSz="914400" rtl="0" eaLnBrk="1" latinLnBrk="0" hangingPunct="1">
        <a:lnSpc>
          <a:spcPct val="90000"/>
        </a:lnSpc>
        <a:spcBef>
          <a:spcPct val="0"/>
        </a:spcBef>
        <a:buNone/>
        <a:defRPr sz="36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hyperlink" Target="https://es.wikipedia.org/wiki/%C3%89tica_de_la_tecnolog%C3%ADa" TargetMode="Externa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hyperlink" Target="https://www.article19.org/resources/un-human-rights-council-adopts-resolution-on-human-rights-on-the-internet/" TargetMode="External"/><Relationship Id="rId2" Type="http://schemas.openxmlformats.org/officeDocument/2006/relationships/hyperlink" Target="http://www.hrpc.io/" TargetMode="External"/><Relationship Id="rId1" Type="http://schemas.openxmlformats.org/officeDocument/2006/relationships/slideLayout" Target="../slideLayouts/slideLayout2.xml"/><Relationship Id="rId4" Type="http://schemas.openxmlformats.org/officeDocument/2006/relationships/hyperlink" Target="https://datatracker.ietf.org/rg/hrpc/about/" TargetMode="Externa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hyperlink" Target="https://zonatechnocrew.com/funcionamiento-y-legalidad-de-las-loot-boxes-en-videojuegos/?form=MG0AV3" TargetMode="External"/><Relationship Id="rId2" Type="http://schemas.openxmlformats.org/officeDocument/2006/relationships/hyperlink" Target="https://expansion.mx/tecnologia/2021/08/11/que-son-las-loot-boxes-y-por-que-quieren-prohibir-su-venta-a-menores" TargetMode="Externa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hyperlink" Target="https://vce.usc.edu/volume-7-issue-2/how-free-is-freemium-an-analysis-of-the-ethics-of-the-freemium-model-in-video-games/" TargetMode="Externa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hyperlink" Target="https://expansion.mx/tecnologia/2021/08/11/que-son-las-loot-boxes-y-por-que-quieren-prohibir-su-venta-a-menores" TargetMode="External"/><Relationship Id="rId2" Type="http://schemas.openxmlformats.org/officeDocument/2006/relationships/hyperlink" Target="https://www.youtube.com/watch?v=V3PiM1y3jRI" TargetMode="External"/><Relationship Id="rId1" Type="http://schemas.openxmlformats.org/officeDocument/2006/relationships/slideLayout" Target="../slideLayouts/slideLayout2.xml"/><Relationship Id="rId4" Type="http://schemas.openxmlformats.org/officeDocument/2006/relationships/hyperlink" Target="https://www.youtube.com/watch?v=qLjBENfVsCM" TargetMode="External"/></Relationships>
</file>

<file path=ppt/slides/_rels/slide16.xml.rels><?xml version="1.0" encoding="UTF-8" standalone="yes"?>
<Relationships xmlns="http://schemas.openxmlformats.org/package/2006/relationships"><Relationship Id="rId3" Type="http://schemas.openxmlformats.org/officeDocument/2006/relationships/hyperlink" Target="https://vce.usc.edu/volume-5-issue-1/pay-to-play-the-ethics-of-video-game-economics/" TargetMode="External"/><Relationship Id="rId2" Type="http://schemas.openxmlformats.org/officeDocument/2006/relationships/hyperlink" Target="https://igda.org/about-us/core-values-and-code-of-ethics/" TargetMode="External"/><Relationship Id="rId1" Type="http://schemas.openxmlformats.org/officeDocument/2006/relationships/slideLayout" Target="../slideLayouts/slideLayout2.xml"/><Relationship Id="rId4" Type="http://schemas.openxmlformats.org/officeDocument/2006/relationships/hyperlink" Target="https://www.researchgate.net/publication/328829359_Ethical_Issues_in_Gaming_A_Literature_Review" TargetMode="External"/></Relationships>
</file>

<file path=ppt/slides/_rels/slide17.xml.rels><?xml version="1.0" encoding="UTF-8" standalone="yes"?>
<Relationships xmlns="http://schemas.openxmlformats.org/package/2006/relationships"><Relationship Id="rId3" Type="http://schemas.openxmlformats.org/officeDocument/2006/relationships/hyperlink" Target="https://www.infobae.com/america/tecno/2021/12/02/la-etica-en-el-mundo-de-los-videojuegos-gamers-en-camino-a-ser-deportistas-olimpicos/" TargetMode="External"/><Relationship Id="rId2" Type="http://schemas.openxmlformats.org/officeDocument/2006/relationships/hyperlink" Target="https://www.cronista.com/infotechnology/mundo-cio/como-evitar-que-los-juegos-moviles-manipulan-a-los-ninos-para-que-gasten-mas/" TargetMode="External"/><Relationship Id="rId1" Type="http://schemas.openxmlformats.org/officeDocument/2006/relationships/slideLayout" Target="../slideLayouts/slideLayout2.xml"/><Relationship Id="rId5" Type="http://schemas.openxmlformats.org/officeDocument/2006/relationships/hyperlink" Target="https://www.darkpattern.games/" TargetMode="External"/><Relationship Id="rId4" Type="http://schemas.openxmlformats.org/officeDocument/2006/relationships/hyperlink" Target="https://www.technologyreview.es/s/13950/el-reto-casi-imposible-de-ofrecer-seguridad-y-privacidad-en-el-metaverso" TargetMode="External"/></Relationships>
</file>

<file path=ppt/slides/_rels/slide18.xml.rels><?xml version="1.0" encoding="UTF-8" standalone="yes"?>
<Relationships xmlns="http://schemas.openxmlformats.org/package/2006/relationships"><Relationship Id="rId2" Type="http://schemas.openxmlformats.org/officeDocument/2006/relationships/hyperlink" Target="https://www.darkpattern.games/" TargetMode="Externa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hyperlink" Target="https://www.youtube.com/watch?v=o17lBUZgjTs" TargetMode="Externa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hyperlink" Target="https://www.ted.com/talks/cathy_o_neil_the_era_of_blind_faith_in_big_data_must_end?language=es" TargetMode="External"/><Relationship Id="rId2" Type="http://schemas.openxmlformats.org/officeDocument/2006/relationships/hyperlink" Target="https://www.ted.com/talks/joy_buolamwini_how_i_m_fighting_bias_in_algorithms?language=es" TargetMode="Externa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hyperlink" Target="https://www.ted.com/talks/cathy_o_neil_the_era_of_blind_faith_in_big_data_must_end?language=es" TargetMode="External"/><Relationship Id="rId2" Type="http://schemas.openxmlformats.org/officeDocument/2006/relationships/hyperlink" Target="https://digital-skills-jobs.europa.eu/en/opportunities/training/data-and-algorithm-ethics" TargetMode="External"/><Relationship Id="rId1" Type="http://schemas.openxmlformats.org/officeDocument/2006/relationships/slideLayout" Target="../slideLayouts/slideLayout2.xml"/><Relationship Id="rId4" Type="http://schemas.openxmlformats.org/officeDocument/2006/relationships/hyperlink" Target="https://www.thoughtworks.com/insights/blog/ethical-tech/use-algorithms-responsibly-prioritize-explainability" TargetMode="External"/></Relationships>
</file>

<file path=ppt/slides/_rels/slide24.xml.rels><?xml version="1.0" encoding="UTF-8" standalone="yes"?>
<Relationships xmlns="http://schemas.openxmlformats.org/package/2006/relationships"><Relationship Id="rId3" Type="http://schemas.openxmlformats.org/officeDocument/2006/relationships/hyperlink" Target="https://www.bowdoin.edu/news/2021/12/considering-the-why-and-not-just-the-how-of-computer-science.html" TargetMode="External"/><Relationship Id="rId2" Type="http://schemas.openxmlformats.org/officeDocument/2006/relationships/hyperlink" Target="https://www.youtube.com/watch?v=LYRKqnLeIDo" TargetMode="External"/><Relationship Id="rId1" Type="http://schemas.openxmlformats.org/officeDocument/2006/relationships/slideLayout" Target="../slideLayouts/slideLayout2.xml"/><Relationship Id="rId6" Type="http://schemas.openxmlformats.org/officeDocument/2006/relationships/hyperlink" Target="https://www.itresourcescorp.com/big-data-ethics-framework/" TargetMode="External"/><Relationship Id="rId5" Type="http://schemas.openxmlformats.org/officeDocument/2006/relationships/hyperlink" Target="https://indica.nl/blog/2022/12/7/data-ethics" TargetMode="External"/><Relationship Id="rId4" Type="http://schemas.openxmlformats.org/officeDocument/2006/relationships/hyperlink" Target="https://www.youtube.com/watch?v=yoFpng7vhJY" TargetMode="External"/></Relationships>
</file>

<file path=ppt/slides/_rels/slide25.xml.rels><?xml version="1.0" encoding="UTF-8" standalone="yes"?>
<Relationships xmlns="http://schemas.openxmlformats.org/package/2006/relationships"><Relationship Id="rId2" Type="http://schemas.openxmlformats.org/officeDocument/2006/relationships/hyperlink" Target="https://revistalatam.digital/article/22tr02/" TargetMode="Externa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hyperlink" Target="https://techhq.com/2023/12/whats-the-latest-on-meta-lawsuit-us-facebook-instagram/" TargetMode="External"/><Relationship Id="rId2" Type="http://schemas.openxmlformats.org/officeDocument/2006/relationships/hyperlink" Target="https://theconversation.com/41-us-states-are-suing-meta-for-getting-teens-hooked-on-social-media-heres-what-to-expect-next-216914" TargetMode="External"/><Relationship Id="rId1" Type="http://schemas.openxmlformats.org/officeDocument/2006/relationships/slideLayout" Target="../slideLayouts/slideLayout2.xml"/><Relationship Id="rId4" Type="http://schemas.openxmlformats.org/officeDocument/2006/relationships/hyperlink" Target="https://www.theguardian.com/technology/2021/oct/05/facebook-harms-children-damaging-democracy-claims-whistleblower"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ctrTitle"/>
          </p:nvPr>
        </p:nvSpPr>
        <p:spPr/>
        <p:txBody>
          <a:bodyPr/>
          <a:lstStyle/>
          <a:p>
            <a:pPr algn="ctr"/>
            <a:r>
              <a:rPr lang="es-AR" dirty="0"/>
              <a:t>Ética y Tecnología</a:t>
            </a:r>
            <a:endParaRPr lang="en-US" dirty="0"/>
          </a:p>
        </p:txBody>
      </p:sp>
      <p:sp>
        <p:nvSpPr>
          <p:cNvPr id="3" name="Subtítulo 2"/>
          <p:cNvSpPr>
            <a:spLocks noGrp="1"/>
          </p:cNvSpPr>
          <p:nvPr>
            <p:ph type="subTitle" idx="1"/>
          </p:nvPr>
        </p:nvSpPr>
        <p:spPr/>
        <p:txBody>
          <a:bodyPr/>
          <a:lstStyle/>
          <a:p>
            <a:pPr algn="ctr"/>
            <a:r>
              <a:rPr lang="es-AR" dirty="0"/>
              <a:t>Javier Diaz y Soledad Gómez</a:t>
            </a:r>
            <a:endParaRPr lang="en-US" dirty="0"/>
          </a:p>
        </p:txBody>
      </p:sp>
    </p:spTree>
    <p:extLst>
      <p:ext uri="{BB962C8B-B14F-4D97-AF65-F5344CB8AC3E}">
        <p14:creationId xmlns:p14="http://schemas.microsoft.com/office/powerpoint/2010/main" val="245385826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pPr algn="ctr"/>
            <a:r>
              <a:rPr lang="es-AR" dirty="0"/>
              <a:t>Ética y Tecnología</a:t>
            </a:r>
            <a:endParaRPr lang="en-US" dirty="0"/>
          </a:p>
        </p:txBody>
      </p:sp>
      <p:sp>
        <p:nvSpPr>
          <p:cNvPr id="3" name="Marcador de contenido 2"/>
          <p:cNvSpPr>
            <a:spLocks noGrp="1"/>
          </p:cNvSpPr>
          <p:nvPr>
            <p:ph idx="1"/>
          </p:nvPr>
        </p:nvSpPr>
        <p:spPr/>
        <p:txBody>
          <a:bodyPr>
            <a:normAutofit lnSpcReduction="10000"/>
          </a:bodyPr>
          <a:lstStyle/>
          <a:p>
            <a:r>
              <a:rPr lang="es-ES" dirty="0"/>
              <a:t>La palabra "ética" se deriva de la palabra griega </a:t>
            </a:r>
            <a:r>
              <a:rPr lang="es-ES" dirty="0" err="1"/>
              <a:t>ethos</a:t>
            </a:r>
            <a:r>
              <a:rPr lang="es-ES" dirty="0"/>
              <a:t> (carácter), y de la palabra latina mores (costumbres). Juntos, se combinan para definir cómo los individuos eligen interactuar entre sí.</a:t>
            </a:r>
          </a:p>
          <a:p>
            <a:r>
              <a:rPr lang="es-ES" dirty="0"/>
              <a:t>La ética adquiere todo su sentido “</a:t>
            </a:r>
            <a:r>
              <a:rPr lang="es-ES" b="1" dirty="0"/>
              <a:t>a través de los vínculos de la familiaridad y la amistad y más allá del bien individual, el bien colectivo</a:t>
            </a:r>
            <a:r>
              <a:rPr lang="es-ES" dirty="0"/>
              <a:t>», escribe Emilio Lledó en su último ensayo «Identidad y amistad. El mundo como posibilidad».</a:t>
            </a:r>
          </a:p>
          <a:p>
            <a:r>
              <a:rPr lang="es-ES" dirty="0"/>
              <a:t>La </a:t>
            </a:r>
            <a:r>
              <a:rPr lang="es-ES" i="1" dirty="0"/>
              <a:t>ética</a:t>
            </a:r>
            <a:r>
              <a:rPr lang="es-ES" dirty="0"/>
              <a:t> de la </a:t>
            </a:r>
            <a:r>
              <a:rPr lang="es-ES" i="1" dirty="0"/>
              <a:t>tecnología</a:t>
            </a:r>
            <a:r>
              <a:rPr lang="es-ES" dirty="0"/>
              <a:t> es un área </a:t>
            </a:r>
            <a:r>
              <a:rPr lang="es-ES" dirty="0" err="1"/>
              <a:t>interdisciplinal</a:t>
            </a:r>
            <a:r>
              <a:rPr lang="es-ES" dirty="0"/>
              <a:t> sobre todos los aspectos morales y </a:t>
            </a:r>
            <a:r>
              <a:rPr lang="es-ES" i="1" dirty="0"/>
              <a:t>éticos</a:t>
            </a:r>
            <a:r>
              <a:rPr lang="es-ES" dirty="0"/>
              <a:t> de la </a:t>
            </a:r>
            <a:r>
              <a:rPr lang="es-ES" i="1" dirty="0"/>
              <a:t>tecnología</a:t>
            </a:r>
            <a:r>
              <a:rPr lang="es-ES" dirty="0"/>
              <a:t> en la sociedad.</a:t>
            </a:r>
            <a:endParaRPr lang="es-AR" dirty="0"/>
          </a:p>
          <a:p>
            <a:pPr marL="0" indent="0">
              <a:buNone/>
            </a:pPr>
            <a:r>
              <a:rPr lang="es-ES" dirty="0">
                <a:solidFill>
                  <a:srgbClr val="00B0F0"/>
                </a:solidFill>
                <a:hlinkClick r:id="rId2">
                  <a:extLst>
                    <a:ext uri="{A12FA001-AC4F-418D-AE19-62706E023703}">
                      <ahyp:hlinkClr xmlns:ahyp="http://schemas.microsoft.com/office/drawing/2018/hyperlinkcolor" val="tx"/>
                    </a:ext>
                  </a:extLst>
                </a:hlinkClick>
              </a:rPr>
              <a:t>https://es.wikipedia.org/wiki/%C3%89tica_de_la_tecnolog%C3%ADa</a:t>
            </a:r>
            <a:endParaRPr lang="es-ES" dirty="0">
              <a:solidFill>
                <a:srgbClr val="00B0F0"/>
              </a:solidFill>
            </a:endParaRPr>
          </a:p>
          <a:p>
            <a:pPr marL="0" indent="0">
              <a:buNone/>
            </a:pPr>
            <a:endParaRPr lang="es-ES" dirty="0"/>
          </a:p>
        </p:txBody>
      </p:sp>
      <p:sp>
        <p:nvSpPr>
          <p:cNvPr id="4" name="Rectangle 1"/>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ES" altLang="en-US" sz="1000" b="0" i="0" u="none" strike="noStrike" cap="none" normalizeH="0" baseline="0">
                <a:ln>
                  <a:noFill/>
                </a:ln>
                <a:solidFill>
                  <a:schemeClr val="tx1"/>
                </a:solidFill>
                <a:effectLst/>
                <a:latin typeface="Arial Unicode MS"/>
              </a:rPr>
              <a:t>La palabra "ética" se deriva de la palabra griega ethos (carácter), y de la palabra latina mores (costumbres). Juntos, se combinan para definir cómo los individuos eligen interactuar entre sí.</a:t>
            </a:r>
            <a:r>
              <a:rPr kumimoji="0" lang="es-ES" altLang="en-US" sz="800" b="0" i="0" u="none" strike="noStrike" cap="none" normalizeH="0" baseline="0">
                <a:ln>
                  <a:noFill/>
                </a:ln>
                <a:solidFill>
                  <a:schemeClr val="tx1"/>
                </a:solidFill>
                <a:effectLst/>
              </a:rPr>
              <a:t> </a:t>
            </a:r>
            <a:endParaRPr kumimoji="0" lang="es-ES" altLang="en-US" sz="1800" b="0" i="0" u="none" strike="noStrike" cap="none" normalizeH="0" baseline="0">
              <a:ln>
                <a:noFill/>
              </a:ln>
              <a:solidFill>
                <a:schemeClr val="tx1"/>
              </a:solidFill>
              <a:effectLst/>
              <a:latin typeface="Arial" panose="020B0604020202020204" pitchFamily="34" charset="0"/>
            </a:endParaRPr>
          </a:p>
        </p:txBody>
      </p:sp>
      <p:sp>
        <p:nvSpPr>
          <p:cNvPr id="5" name="Rectangle 2"/>
          <p:cNvSpPr>
            <a:spLocks noChangeArrowheads="1"/>
          </p:cNvSpPr>
          <p:nvPr/>
        </p:nvSpPr>
        <p:spPr bwMode="auto">
          <a:xfrm>
            <a:off x="152400" y="15240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ES" altLang="en-US" sz="1000" b="0" i="0" u="none" strike="noStrike" cap="none" normalizeH="0" baseline="0">
                <a:ln>
                  <a:noFill/>
                </a:ln>
                <a:solidFill>
                  <a:schemeClr val="tx1"/>
                </a:solidFill>
                <a:effectLst/>
                <a:latin typeface="Arial Unicode MS"/>
              </a:rPr>
              <a:t>La palabra "ética" se deriva de la palabra griega ethos (carácter), y de la palabra latina mores (costumbres). Juntos, se combinan para definir cómo los individuos eligen interactuar entre sí.</a:t>
            </a:r>
            <a:r>
              <a:rPr kumimoji="0" lang="es-ES" altLang="en-US" sz="800" b="0" i="0" u="none" strike="noStrike" cap="none" normalizeH="0" baseline="0">
                <a:ln>
                  <a:noFill/>
                </a:ln>
                <a:solidFill>
                  <a:schemeClr val="tx1"/>
                </a:solidFill>
                <a:effectLst/>
              </a:rPr>
              <a:t> </a:t>
            </a:r>
            <a:endParaRPr kumimoji="0" lang="es-ES" altLang="en-US"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403621151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pPr algn="ctr"/>
            <a:r>
              <a:rPr lang="es-AR" dirty="0"/>
              <a:t>Riesgos en Tecnología (ACM)</a:t>
            </a:r>
            <a:endParaRPr lang="en-US" dirty="0"/>
          </a:p>
        </p:txBody>
      </p:sp>
      <p:sp>
        <p:nvSpPr>
          <p:cNvPr id="3" name="Marcador de contenido 2"/>
          <p:cNvSpPr>
            <a:spLocks noGrp="1"/>
          </p:cNvSpPr>
          <p:nvPr>
            <p:ph idx="1"/>
          </p:nvPr>
        </p:nvSpPr>
        <p:spPr/>
        <p:txBody>
          <a:bodyPr/>
          <a:lstStyle/>
          <a:p>
            <a:r>
              <a:rPr lang="es-AR" dirty="0"/>
              <a:t>ACM </a:t>
            </a:r>
            <a:r>
              <a:rPr lang="es-AR" dirty="0" err="1"/>
              <a:t>Forum</a:t>
            </a:r>
            <a:r>
              <a:rPr lang="es-AR" dirty="0"/>
              <a:t> </a:t>
            </a:r>
            <a:r>
              <a:rPr lang="es-AR" dirty="0" err="1"/>
              <a:t>on</a:t>
            </a:r>
            <a:r>
              <a:rPr lang="es-AR" dirty="0"/>
              <a:t> </a:t>
            </a:r>
            <a:r>
              <a:rPr lang="es-AR" dirty="0" err="1"/>
              <a:t>Risks</a:t>
            </a:r>
            <a:r>
              <a:rPr lang="es-AR" dirty="0"/>
              <a:t> </a:t>
            </a:r>
            <a:r>
              <a:rPr lang="es-AR" dirty="0" err="1"/>
              <a:t>to</a:t>
            </a:r>
            <a:r>
              <a:rPr lang="es-AR" dirty="0"/>
              <a:t> </a:t>
            </a:r>
            <a:r>
              <a:rPr lang="es-AR" dirty="0" err="1"/>
              <a:t>the</a:t>
            </a:r>
            <a:r>
              <a:rPr lang="es-AR" dirty="0"/>
              <a:t> </a:t>
            </a:r>
            <a:r>
              <a:rPr lang="es-AR" dirty="0" err="1"/>
              <a:t>Public</a:t>
            </a:r>
            <a:r>
              <a:rPr lang="es-AR" dirty="0"/>
              <a:t> in </a:t>
            </a:r>
            <a:r>
              <a:rPr lang="es-AR" dirty="0" err="1"/>
              <a:t>Computers</a:t>
            </a:r>
            <a:r>
              <a:rPr lang="es-AR" dirty="0"/>
              <a:t> and </a:t>
            </a:r>
            <a:r>
              <a:rPr lang="es-AR" dirty="0" err="1"/>
              <a:t>Related</a:t>
            </a:r>
            <a:r>
              <a:rPr lang="es-AR" dirty="0"/>
              <a:t> </a:t>
            </a:r>
            <a:r>
              <a:rPr lang="es-AR" dirty="0" err="1"/>
              <a:t>Systems</a:t>
            </a:r>
            <a:r>
              <a:rPr lang="es-AR" dirty="0"/>
              <a:t> (RISKS </a:t>
            </a:r>
            <a:r>
              <a:rPr lang="es-AR" dirty="0" err="1"/>
              <a:t>Digest</a:t>
            </a:r>
            <a:r>
              <a:rPr lang="es-AR" dirty="0"/>
              <a:t>): </a:t>
            </a:r>
          </a:p>
          <a:p>
            <a:pPr marL="0" indent="0">
              <a:buNone/>
            </a:pPr>
            <a:r>
              <a:rPr lang="es-AR" dirty="0"/>
              <a:t>Para artículos que aborden específicamente "fallas en los sistemas computarizados de distintos tipos" en un amplio espectro de implicaciones técnicas, humanas y sociales. Establecido en 1985.</a:t>
            </a:r>
          </a:p>
          <a:p>
            <a:r>
              <a:rPr lang="es-AR" dirty="0" err="1"/>
              <a:t>Communications</a:t>
            </a:r>
            <a:r>
              <a:rPr lang="es-AR" dirty="0"/>
              <a:t> </a:t>
            </a:r>
            <a:r>
              <a:rPr lang="es-AR" dirty="0" err="1"/>
              <a:t>of</a:t>
            </a:r>
            <a:r>
              <a:rPr lang="es-AR" dirty="0"/>
              <a:t> </a:t>
            </a:r>
            <a:r>
              <a:rPr lang="es-AR" dirty="0" err="1"/>
              <a:t>the</a:t>
            </a:r>
            <a:r>
              <a:rPr lang="es-AR" dirty="0"/>
              <a:t> ACM (CACM)***: Si bien su columna dedicada "</a:t>
            </a:r>
            <a:r>
              <a:rPr lang="es-AR" dirty="0" err="1"/>
              <a:t>Inside</a:t>
            </a:r>
            <a:r>
              <a:rPr lang="es-AR" dirty="0"/>
              <a:t> </a:t>
            </a:r>
            <a:r>
              <a:rPr lang="es-AR" dirty="0" err="1"/>
              <a:t>Risks</a:t>
            </a:r>
            <a:r>
              <a:rPr lang="es-AR" dirty="0"/>
              <a:t>" comenzó en 1990</a:t>
            </a:r>
          </a:p>
          <a:p>
            <a:endParaRPr lang="es-ES" dirty="0"/>
          </a:p>
        </p:txBody>
      </p:sp>
      <p:sp>
        <p:nvSpPr>
          <p:cNvPr id="4" name="Rectangle 1"/>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ES" altLang="en-US" sz="1000" b="0" i="0" u="none" strike="noStrike" cap="none" normalizeH="0" baseline="0">
                <a:ln>
                  <a:noFill/>
                </a:ln>
                <a:solidFill>
                  <a:schemeClr val="tx1"/>
                </a:solidFill>
                <a:effectLst/>
                <a:latin typeface="Arial Unicode MS"/>
              </a:rPr>
              <a:t>La palabra "ética" se deriva de la palabra griega ethos (carácter), y de la palabra latina mores (costumbres). Juntos, se combinan para definir cómo los individuos eligen interactuar entre sí.</a:t>
            </a:r>
            <a:r>
              <a:rPr kumimoji="0" lang="es-ES" altLang="en-US" sz="800" b="0" i="0" u="none" strike="noStrike" cap="none" normalizeH="0" baseline="0">
                <a:ln>
                  <a:noFill/>
                </a:ln>
                <a:solidFill>
                  <a:schemeClr val="tx1"/>
                </a:solidFill>
                <a:effectLst/>
              </a:rPr>
              <a:t> </a:t>
            </a:r>
            <a:endParaRPr kumimoji="0" lang="es-ES" altLang="en-US" sz="1800" b="0" i="0" u="none" strike="noStrike" cap="none" normalizeH="0" baseline="0">
              <a:ln>
                <a:noFill/>
              </a:ln>
              <a:solidFill>
                <a:schemeClr val="tx1"/>
              </a:solidFill>
              <a:effectLst/>
              <a:latin typeface="Arial" panose="020B0604020202020204" pitchFamily="34" charset="0"/>
            </a:endParaRPr>
          </a:p>
        </p:txBody>
      </p:sp>
      <p:sp>
        <p:nvSpPr>
          <p:cNvPr id="5" name="Rectangle 2"/>
          <p:cNvSpPr>
            <a:spLocks noChangeArrowheads="1"/>
          </p:cNvSpPr>
          <p:nvPr/>
        </p:nvSpPr>
        <p:spPr bwMode="auto">
          <a:xfrm>
            <a:off x="152400" y="15240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ES" altLang="en-US" sz="1000" b="0" i="0" u="none" strike="noStrike" cap="none" normalizeH="0" baseline="0">
                <a:ln>
                  <a:noFill/>
                </a:ln>
                <a:solidFill>
                  <a:schemeClr val="tx1"/>
                </a:solidFill>
                <a:effectLst/>
                <a:latin typeface="Arial Unicode MS"/>
              </a:rPr>
              <a:t>La palabra "ética" se deriva de la palabra griega ethos (carácter), y de la palabra latina mores (costumbres). Juntos, se combinan para definir cómo los individuos eligen interactuar entre sí.</a:t>
            </a:r>
            <a:r>
              <a:rPr kumimoji="0" lang="es-ES" altLang="en-US" sz="800" b="0" i="0" u="none" strike="noStrike" cap="none" normalizeH="0" baseline="0">
                <a:ln>
                  <a:noFill/>
                </a:ln>
                <a:solidFill>
                  <a:schemeClr val="tx1"/>
                </a:solidFill>
                <a:effectLst/>
              </a:rPr>
              <a:t> </a:t>
            </a:r>
            <a:endParaRPr kumimoji="0" lang="es-ES" altLang="en-US"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6256951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pPr algn="ctr"/>
            <a:r>
              <a:rPr lang="es-AR" dirty="0"/>
              <a:t>“A Net </a:t>
            </a:r>
            <a:r>
              <a:rPr lang="es-AR" dirty="0" err="1"/>
              <a:t>of</a:t>
            </a:r>
            <a:r>
              <a:rPr lang="es-AR" dirty="0"/>
              <a:t> </a:t>
            </a:r>
            <a:r>
              <a:rPr lang="es-AR" dirty="0" err="1"/>
              <a:t>Rights</a:t>
            </a:r>
            <a:r>
              <a:rPr lang="es-AR" dirty="0"/>
              <a:t>”</a:t>
            </a:r>
            <a:endParaRPr lang="en-US" dirty="0"/>
          </a:p>
        </p:txBody>
      </p:sp>
      <p:sp>
        <p:nvSpPr>
          <p:cNvPr id="3" name="Marcador de contenido 2"/>
          <p:cNvSpPr>
            <a:spLocks noGrp="1"/>
          </p:cNvSpPr>
          <p:nvPr>
            <p:ph idx="1"/>
          </p:nvPr>
        </p:nvSpPr>
        <p:spPr/>
        <p:txBody>
          <a:bodyPr/>
          <a:lstStyle/>
          <a:p>
            <a:pPr marL="0" indent="0">
              <a:buNone/>
            </a:pPr>
            <a:r>
              <a:rPr lang="es-AR" dirty="0"/>
              <a:t>Documental  (2016)</a:t>
            </a:r>
          </a:p>
          <a:p>
            <a:r>
              <a:rPr lang="es-AR" dirty="0"/>
              <a:t>creado por ARTICLE 19 y </a:t>
            </a:r>
            <a:r>
              <a:rPr lang="es-AR" dirty="0" err="1"/>
              <a:t>Coding</a:t>
            </a:r>
            <a:r>
              <a:rPr lang="es-AR" dirty="0"/>
              <a:t> </a:t>
            </a:r>
            <a:r>
              <a:rPr lang="es-AR" dirty="0" err="1"/>
              <a:t>Rights</a:t>
            </a:r>
            <a:r>
              <a:rPr lang="es-AR" dirty="0"/>
              <a:t>, explora cómo los protocolos de Internet (las normas técnicas que rigen su funcionamiento) pueden influir en los derechos humanos, especialmente en la libertad de expresión, privacidad y reunión. </a:t>
            </a:r>
          </a:p>
          <a:p>
            <a:r>
              <a:rPr lang="es-AR" dirty="0"/>
              <a:t>necesidad de que la comunidad técnica reconozca que el diseño de estándares y protocolos no es éticamente neutral y que decisiones técnicas pueden tener implicaciones significativas en los derechos humanos.</a:t>
            </a:r>
          </a:p>
          <a:p>
            <a:endParaRPr lang="es-AR" dirty="0"/>
          </a:p>
        </p:txBody>
      </p:sp>
    </p:spTree>
    <p:extLst>
      <p:ext uri="{BB962C8B-B14F-4D97-AF65-F5344CB8AC3E}">
        <p14:creationId xmlns:p14="http://schemas.microsoft.com/office/powerpoint/2010/main" val="350261476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pPr algn="ctr"/>
            <a:r>
              <a:rPr lang="es-AR" dirty="0"/>
              <a:t>HRPC.io </a:t>
            </a:r>
            <a:endParaRPr lang="en-US" dirty="0"/>
          </a:p>
        </p:txBody>
      </p:sp>
      <p:sp>
        <p:nvSpPr>
          <p:cNvPr id="3" name="Marcador de contenido 2"/>
          <p:cNvSpPr>
            <a:spLocks noGrp="1"/>
          </p:cNvSpPr>
          <p:nvPr>
            <p:ph idx="1"/>
          </p:nvPr>
        </p:nvSpPr>
        <p:spPr/>
        <p:txBody>
          <a:bodyPr>
            <a:normAutofit lnSpcReduction="10000"/>
          </a:bodyPr>
          <a:lstStyle/>
          <a:p>
            <a:r>
              <a:rPr lang="es-AR" dirty="0"/>
              <a:t>plataforma del grupo de investigación Human </a:t>
            </a:r>
            <a:r>
              <a:rPr lang="es-AR" dirty="0" err="1"/>
              <a:t>Rights</a:t>
            </a:r>
            <a:r>
              <a:rPr lang="es-AR" dirty="0"/>
              <a:t> </a:t>
            </a:r>
            <a:r>
              <a:rPr lang="es-AR" dirty="0" err="1"/>
              <a:t>Protocol</a:t>
            </a:r>
            <a:r>
              <a:rPr lang="es-AR" dirty="0"/>
              <a:t> </a:t>
            </a:r>
            <a:r>
              <a:rPr lang="es-AR" dirty="0" err="1"/>
              <a:t>Considerations</a:t>
            </a:r>
            <a:r>
              <a:rPr lang="es-AR" dirty="0"/>
              <a:t> (HRPC), parte del Internet </a:t>
            </a:r>
            <a:r>
              <a:rPr lang="es-AR" dirty="0" err="1"/>
              <a:t>Research</a:t>
            </a:r>
            <a:r>
              <a:rPr lang="es-AR" dirty="0"/>
              <a:t> </a:t>
            </a:r>
            <a:r>
              <a:rPr lang="es-AR" dirty="0" err="1"/>
              <a:t>Task</a:t>
            </a:r>
            <a:r>
              <a:rPr lang="es-AR" dirty="0"/>
              <a:t> </a:t>
            </a:r>
            <a:r>
              <a:rPr lang="es-AR" dirty="0" err="1"/>
              <a:t>Force</a:t>
            </a:r>
            <a:r>
              <a:rPr lang="es-AR" dirty="0"/>
              <a:t> (IRTF).</a:t>
            </a:r>
          </a:p>
          <a:p>
            <a:r>
              <a:rPr lang="es-AR" dirty="0"/>
              <a:t>investiga cómo los estándares y protocolos de Internet pueden habilitar, fortalecer o amenazar los derechos humanos, según lo definido en la Declaración Universal de Derechos Humanos y el Pacto Internacional de Derechos Civiles y Políticos. </a:t>
            </a:r>
          </a:p>
          <a:p>
            <a:r>
              <a:rPr lang="es-AR" dirty="0"/>
              <a:t>proporciona recursos, documentos y una comunidad para aquellos interesados en la intersección de derechos humanos y desarrollo de protocolos de Internet</a:t>
            </a:r>
          </a:p>
        </p:txBody>
      </p:sp>
    </p:spTree>
    <p:extLst>
      <p:ext uri="{BB962C8B-B14F-4D97-AF65-F5344CB8AC3E}">
        <p14:creationId xmlns:p14="http://schemas.microsoft.com/office/powerpoint/2010/main" val="98304481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pPr algn="ctr"/>
            <a:r>
              <a:rPr lang="es-AR" dirty="0"/>
              <a:t>DDHH en Internet (ONU 2021)</a:t>
            </a:r>
            <a:endParaRPr lang="en-US" dirty="0"/>
          </a:p>
        </p:txBody>
      </p:sp>
      <p:sp>
        <p:nvSpPr>
          <p:cNvPr id="3" name="Marcador de contenido 2"/>
          <p:cNvSpPr>
            <a:spLocks noGrp="1"/>
          </p:cNvSpPr>
          <p:nvPr>
            <p:ph idx="1"/>
          </p:nvPr>
        </p:nvSpPr>
        <p:spPr/>
        <p:txBody>
          <a:bodyPr/>
          <a:lstStyle/>
          <a:p>
            <a:r>
              <a:rPr lang="es-AR" b="1" dirty="0"/>
              <a:t>Resolución del Consejo de Derechos Humanos de la ONU sobre los derechos humanos en Internet (2021)</a:t>
            </a:r>
          </a:p>
          <a:p>
            <a:r>
              <a:rPr lang="es-AR" dirty="0"/>
              <a:t>En julio de 2021, el Consejo de Derechos Humanos de la ONU adoptó una resolución sobre "la promoción, protección y disfrute de los derechos humanos en Internet". </a:t>
            </a:r>
          </a:p>
          <a:p>
            <a:r>
              <a:rPr lang="es-AR" dirty="0"/>
              <a:t>La resolución enfatiza que los mismos derechos que las personas tienen fuera de línea deben ser protegidos en línea. Aborda temas como el acceso a Internet, cierres de Internet, censura en línea, neutralidad de la red y cifrado. </a:t>
            </a:r>
          </a:p>
        </p:txBody>
      </p:sp>
    </p:spTree>
    <p:extLst>
      <p:ext uri="{BB962C8B-B14F-4D97-AF65-F5344CB8AC3E}">
        <p14:creationId xmlns:p14="http://schemas.microsoft.com/office/powerpoint/2010/main" val="152771497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pPr algn="ctr"/>
            <a:r>
              <a:rPr lang="es-AR" dirty="0"/>
              <a:t>Una red de derechos</a:t>
            </a:r>
            <a:endParaRPr lang="en-US" dirty="0"/>
          </a:p>
        </p:txBody>
      </p:sp>
      <p:sp>
        <p:nvSpPr>
          <p:cNvPr id="3" name="Marcador de contenido 2"/>
          <p:cNvSpPr>
            <a:spLocks noGrp="1"/>
          </p:cNvSpPr>
          <p:nvPr>
            <p:ph idx="1"/>
          </p:nvPr>
        </p:nvSpPr>
        <p:spPr>
          <a:xfrm>
            <a:off x="680321" y="2252238"/>
            <a:ext cx="9613861" cy="3599316"/>
          </a:xfrm>
        </p:spPr>
        <p:txBody>
          <a:bodyPr>
            <a:normAutofit lnSpcReduction="10000"/>
          </a:bodyPr>
          <a:lstStyle/>
          <a:p>
            <a:r>
              <a:rPr lang="en-US" dirty="0">
                <a:solidFill>
                  <a:srgbClr val="00B0F0"/>
                </a:solidFill>
                <a:hlinkClick r:id="rId2">
                  <a:extLst>
                    <a:ext uri="{A12FA001-AC4F-418D-AE19-62706E023703}">
                      <ahyp:hlinkClr xmlns:ahyp="http://schemas.microsoft.com/office/drawing/2018/hyperlinkcolor" val="tx"/>
                    </a:ext>
                  </a:extLst>
                </a:hlinkClick>
              </a:rPr>
              <a:t>https://www.article19.org/resources/a-net-of-rights-new-film-links-human-rights-and-internet-protocols/</a:t>
            </a:r>
          </a:p>
          <a:p>
            <a:pPr marL="0" indent="0">
              <a:buNone/>
            </a:pPr>
            <a:r>
              <a:rPr lang="es-AR" dirty="0">
                <a:solidFill>
                  <a:srgbClr val="00B0F0"/>
                </a:solidFill>
                <a:hlinkClick r:id="rId2">
                  <a:extLst>
                    <a:ext uri="{A12FA001-AC4F-418D-AE19-62706E023703}">
                      <ahyp:hlinkClr xmlns:ahyp="http://schemas.microsoft.com/office/drawing/2018/hyperlinkcolor" val="tx"/>
                    </a:ext>
                  </a:extLst>
                </a:hlinkClick>
              </a:rPr>
              <a:t>(2016)</a:t>
            </a:r>
            <a:endParaRPr lang="en-US" dirty="0">
              <a:solidFill>
                <a:srgbClr val="00B0F0"/>
              </a:solidFill>
              <a:hlinkClick r:id="" action="ppaction://noaction">
                <a:extLst>
                  <a:ext uri="{A12FA001-AC4F-418D-AE19-62706E023703}">
                    <ahyp:hlinkClr xmlns:ahyp="http://schemas.microsoft.com/office/drawing/2018/hyperlinkcolor" val="tx"/>
                  </a:ext>
                </a:extLst>
              </a:hlinkClick>
            </a:endParaRPr>
          </a:p>
          <a:p>
            <a:r>
              <a:rPr lang="en-US" dirty="0">
                <a:solidFill>
                  <a:srgbClr val="00B0F0"/>
                </a:solidFill>
                <a:hlinkClick r:id="" action="ppaction://noaction">
                  <a:extLst>
                    <a:ext uri="{A12FA001-AC4F-418D-AE19-62706E023703}">
                      <ahyp:hlinkClr xmlns:ahyp="http://schemas.microsoft.com/office/drawing/2018/hyperlinkcolor" val="tx"/>
                    </a:ext>
                  </a:extLst>
                </a:hlinkClick>
              </a:rPr>
              <a:t>http://www.hrpc.io/</a:t>
            </a:r>
            <a:endParaRPr lang="en-US" dirty="0">
              <a:solidFill>
                <a:srgbClr val="00B0F0"/>
              </a:solidFill>
            </a:endParaRPr>
          </a:p>
          <a:p>
            <a:r>
              <a:rPr lang="es-AR" dirty="0">
                <a:solidFill>
                  <a:srgbClr val="00B0F0"/>
                </a:solidFill>
                <a:hlinkClick r:id="rId3">
                  <a:extLst>
                    <a:ext uri="{A12FA001-AC4F-418D-AE19-62706E023703}">
                      <ahyp:hlinkClr xmlns:ahyp="http://schemas.microsoft.com/office/drawing/2018/hyperlinkcolor" val="tx"/>
                    </a:ext>
                  </a:extLst>
                </a:hlinkClick>
              </a:rPr>
              <a:t>https://www.article19.org/resources/un-human-rights-council-adopts-resolution-on-human-rights-on-the-internet/</a:t>
            </a:r>
            <a:endParaRPr lang="es-AR" dirty="0">
              <a:solidFill>
                <a:srgbClr val="00B0F0"/>
              </a:solidFill>
            </a:endParaRPr>
          </a:p>
          <a:p>
            <a:pPr marL="0" indent="0">
              <a:buNone/>
            </a:pPr>
            <a:r>
              <a:rPr lang="es-AR" dirty="0">
                <a:solidFill>
                  <a:srgbClr val="00B0F0"/>
                </a:solidFill>
              </a:rPr>
              <a:t>(2021)</a:t>
            </a:r>
          </a:p>
          <a:p>
            <a:r>
              <a:rPr lang="es-AR" dirty="0">
                <a:solidFill>
                  <a:srgbClr val="00B0F0"/>
                </a:solidFill>
                <a:hlinkClick r:id="rId4">
                  <a:extLst>
                    <a:ext uri="{A12FA001-AC4F-418D-AE19-62706E023703}">
                      <ahyp:hlinkClr xmlns:ahyp="http://schemas.microsoft.com/office/drawing/2018/hyperlinkcolor" val="tx"/>
                    </a:ext>
                  </a:extLst>
                </a:hlinkClick>
              </a:rPr>
              <a:t>https://datatracker.ietf.org/rg/hrpc/about/</a:t>
            </a:r>
            <a:endParaRPr lang="es-AR" dirty="0">
              <a:solidFill>
                <a:srgbClr val="00B0F0"/>
              </a:solidFill>
            </a:endParaRPr>
          </a:p>
          <a:p>
            <a:pPr marL="0" indent="0">
              <a:buNone/>
            </a:pPr>
            <a:r>
              <a:rPr lang="en-US" dirty="0"/>
              <a:t>Human Rights Protocol Considerations Research Group  2022</a:t>
            </a:r>
            <a:endParaRPr lang="es-AR" dirty="0"/>
          </a:p>
          <a:p>
            <a:endParaRPr lang="es-AR" dirty="0"/>
          </a:p>
        </p:txBody>
      </p:sp>
    </p:spTree>
    <p:extLst>
      <p:ext uri="{BB962C8B-B14F-4D97-AF65-F5344CB8AC3E}">
        <p14:creationId xmlns:p14="http://schemas.microsoft.com/office/powerpoint/2010/main" val="313174899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pPr algn="ctr"/>
            <a:r>
              <a:rPr lang="es-AR" dirty="0"/>
              <a:t>Tendencias en Video Juegos</a:t>
            </a:r>
            <a:endParaRPr lang="en-US" dirty="0"/>
          </a:p>
        </p:txBody>
      </p:sp>
      <p:sp>
        <p:nvSpPr>
          <p:cNvPr id="3" name="Marcador de contenido 2"/>
          <p:cNvSpPr>
            <a:spLocks noGrp="1"/>
          </p:cNvSpPr>
          <p:nvPr>
            <p:ph idx="1"/>
          </p:nvPr>
        </p:nvSpPr>
        <p:spPr/>
        <p:txBody>
          <a:bodyPr>
            <a:normAutofit fontScale="92500"/>
          </a:bodyPr>
          <a:lstStyle/>
          <a:p>
            <a:r>
              <a:rPr lang="es-ES" dirty="0"/>
              <a:t>En 2024, se estima 3,32 mil millones de personas juegan videojuegos en todo el mundo, una cifra en constante crecimiento. </a:t>
            </a:r>
          </a:p>
          <a:p>
            <a:r>
              <a:rPr lang="es-ES" dirty="0"/>
              <a:t>Asia es el continente con mayor con 1,48 mil millones.</a:t>
            </a:r>
          </a:p>
          <a:p>
            <a:r>
              <a:rPr lang="es-ES" dirty="0"/>
              <a:t>Los juegos más populares </a:t>
            </a:r>
            <a:r>
              <a:rPr lang="es-ES" i="1" dirty="0" err="1"/>
              <a:t>Fortnite</a:t>
            </a:r>
            <a:r>
              <a:rPr lang="es-ES" dirty="0"/>
              <a:t>, </a:t>
            </a:r>
            <a:r>
              <a:rPr lang="es-ES" i="1" dirty="0"/>
              <a:t>PUBG Mobile</a:t>
            </a:r>
            <a:r>
              <a:rPr lang="es-ES" dirty="0"/>
              <a:t>, </a:t>
            </a:r>
            <a:r>
              <a:rPr lang="es-ES" i="1" dirty="0" err="1"/>
              <a:t>Call</a:t>
            </a:r>
            <a:r>
              <a:rPr lang="es-ES" i="1" dirty="0"/>
              <a:t> of </a:t>
            </a:r>
            <a:r>
              <a:rPr lang="es-ES" i="1" dirty="0" err="1"/>
              <a:t>Duty</a:t>
            </a:r>
            <a:r>
              <a:rPr lang="es-ES" i="1" dirty="0"/>
              <a:t>: </a:t>
            </a:r>
            <a:r>
              <a:rPr lang="es-ES" i="1" dirty="0" err="1"/>
              <a:t>Warzone</a:t>
            </a:r>
            <a:r>
              <a:rPr lang="es-ES" dirty="0"/>
              <a:t>, y </a:t>
            </a:r>
            <a:r>
              <a:rPr lang="es-ES" i="1" dirty="0" err="1"/>
              <a:t>Counter</a:t>
            </a:r>
            <a:r>
              <a:rPr lang="es-ES" i="1" dirty="0"/>
              <a:t>-Strike</a:t>
            </a:r>
          </a:p>
          <a:p>
            <a:r>
              <a:rPr lang="es-ES" dirty="0"/>
              <a:t>En Latinoamérica, aproximadamente 335 millones de jugadores</a:t>
            </a:r>
          </a:p>
          <a:p>
            <a:r>
              <a:rPr lang="es-ES" i="1" dirty="0"/>
              <a:t>Free </a:t>
            </a:r>
            <a:r>
              <a:rPr lang="es-ES" i="1" dirty="0" err="1"/>
              <a:t>Fire</a:t>
            </a:r>
            <a:r>
              <a:rPr lang="es-ES" dirty="0"/>
              <a:t>, </a:t>
            </a:r>
            <a:r>
              <a:rPr lang="es-ES" i="1" dirty="0" err="1"/>
              <a:t>Roblox</a:t>
            </a:r>
            <a:r>
              <a:rPr lang="es-ES" dirty="0"/>
              <a:t>, y </a:t>
            </a:r>
            <a:r>
              <a:rPr lang="es-ES" i="1" dirty="0" err="1"/>
              <a:t>Call</a:t>
            </a:r>
            <a:r>
              <a:rPr lang="es-ES" i="1" dirty="0"/>
              <a:t> of </a:t>
            </a:r>
            <a:r>
              <a:rPr lang="es-ES" i="1" dirty="0" err="1"/>
              <a:t>Duty</a:t>
            </a:r>
            <a:r>
              <a:rPr lang="es-ES" i="1" dirty="0"/>
              <a:t>: Mobile</a:t>
            </a:r>
            <a:r>
              <a:rPr lang="es-ES" dirty="0"/>
              <a:t> son especialmente populares en países como Brasil, México y Argentina. Las </a:t>
            </a:r>
            <a:r>
              <a:rPr lang="es-ES" dirty="0" err="1"/>
              <a:t>microtransacciones</a:t>
            </a:r>
            <a:r>
              <a:rPr lang="es-ES" dirty="0"/>
              <a:t> y las compras dentro de la aplicación son prácticas</a:t>
            </a:r>
            <a:endParaRPr lang="es-ES" i="1" dirty="0"/>
          </a:p>
          <a:p>
            <a:endParaRPr lang="es-ES" dirty="0"/>
          </a:p>
        </p:txBody>
      </p:sp>
      <p:sp>
        <p:nvSpPr>
          <p:cNvPr id="4" name="Rectangle 1"/>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ES" altLang="en-US" sz="1000" b="0" i="0" u="none" strike="noStrike" cap="none" normalizeH="0" baseline="0">
                <a:ln>
                  <a:noFill/>
                </a:ln>
                <a:solidFill>
                  <a:schemeClr val="tx1"/>
                </a:solidFill>
                <a:effectLst/>
                <a:latin typeface="Arial Unicode MS"/>
              </a:rPr>
              <a:t>La palabra "ética" se deriva de la palabra griega ethos (carácter), y de la palabra latina mores (costumbres). Juntos, se combinan para definir cómo los individuos eligen interactuar entre sí.</a:t>
            </a:r>
            <a:r>
              <a:rPr kumimoji="0" lang="es-ES" altLang="en-US" sz="800" b="0" i="0" u="none" strike="noStrike" cap="none" normalizeH="0" baseline="0">
                <a:ln>
                  <a:noFill/>
                </a:ln>
                <a:solidFill>
                  <a:schemeClr val="tx1"/>
                </a:solidFill>
                <a:effectLst/>
              </a:rPr>
              <a:t> </a:t>
            </a:r>
            <a:endParaRPr kumimoji="0" lang="es-ES" altLang="en-US" sz="1800" b="0" i="0" u="none" strike="noStrike" cap="none" normalizeH="0" baseline="0">
              <a:ln>
                <a:noFill/>
              </a:ln>
              <a:solidFill>
                <a:schemeClr val="tx1"/>
              </a:solidFill>
              <a:effectLst/>
              <a:latin typeface="Arial" panose="020B0604020202020204" pitchFamily="34" charset="0"/>
            </a:endParaRPr>
          </a:p>
        </p:txBody>
      </p:sp>
      <p:sp>
        <p:nvSpPr>
          <p:cNvPr id="5" name="Rectangle 2"/>
          <p:cNvSpPr>
            <a:spLocks noChangeArrowheads="1"/>
          </p:cNvSpPr>
          <p:nvPr/>
        </p:nvSpPr>
        <p:spPr bwMode="auto">
          <a:xfrm>
            <a:off x="152400" y="15240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ES" altLang="en-US" sz="1000" b="0" i="0" u="none" strike="noStrike" cap="none" normalizeH="0" baseline="0">
                <a:ln>
                  <a:noFill/>
                </a:ln>
                <a:solidFill>
                  <a:schemeClr val="tx1"/>
                </a:solidFill>
                <a:effectLst/>
                <a:latin typeface="Arial Unicode MS"/>
              </a:rPr>
              <a:t>La palabra "ética" se deriva de la palabra griega ethos (carácter), y de la palabra latina mores (costumbres). Juntos, se combinan para definir cómo los individuos eligen interactuar entre sí.</a:t>
            </a:r>
            <a:r>
              <a:rPr kumimoji="0" lang="es-ES" altLang="en-US" sz="800" b="0" i="0" u="none" strike="noStrike" cap="none" normalizeH="0" baseline="0">
                <a:ln>
                  <a:noFill/>
                </a:ln>
                <a:solidFill>
                  <a:schemeClr val="tx1"/>
                </a:solidFill>
                <a:effectLst/>
              </a:rPr>
              <a:t> </a:t>
            </a:r>
            <a:endParaRPr kumimoji="0" lang="es-ES" altLang="en-US"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79273893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fontScale="90000"/>
          </a:bodyPr>
          <a:lstStyle/>
          <a:p>
            <a:pPr algn="ctr"/>
            <a:r>
              <a:rPr lang="es-AR" sz="4000" b="1" dirty="0"/>
              <a:t>Monetización y </a:t>
            </a:r>
            <a:r>
              <a:rPr lang="es-AR" sz="4000" b="1" dirty="0" err="1"/>
              <a:t>Loot</a:t>
            </a:r>
            <a:r>
              <a:rPr lang="es-AR" sz="4000" b="1" dirty="0"/>
              <a:t> boxes </a:t>
            </a:r>
            <a:r>
              <a:rPr lang="es-AR" sz="4000" dirty="0"/>
              <a:t>(</a:t>
            </a:r>
            <a:r>
              <a:rPr lang="es-AR" sz="4000" dirty="0" err="1"/>
              <a:t>gaming</a:t>
            </a:r>
            <a:r>
              <a:rPr lang="es-AR" sz="4000" dirty="0"/>
              <a:t> vs </a:t>
            </a:r>
            <a:r>
              <a:rPr lang="es-AR" sz="4000" dirty="0" err="1"/>
              <a:t>gambling</a:t>
            </a:r>
            <a:r>
              <a:rPr lang="es-AR" sz="4000" dirty="0"/>
              <a:t>)</a:t>
            </a:r>
            <a:endParaRPr lang="en-US" sz="4000" dirty="0"/>
          </a:p>
        </p:txBody>
      </p:sp>
      <p:sp>
        <p:nvSpPr>
          <p:cNvPr id="3" name="Marcador de contenido 2"/>
          <p:cNvSpPr>
            <a:spLocks noGrp="1"/>
          </p:cNvSpPr>
          <p:nvPr>
            <p:ph idx="1"/>
          </p:nvPr>
        </p:nvSpPr>
        <p:spPr/>
        <p:txBody>
          <a:bodyPr>
            <a:normAutofit fontScale="77500" lnSpcReduction="20000"/>
          </a:bodyPr>
          <a:lstStyle/>
          <a:p>
            <a:r>
              <a:rPr lang="es-AR" sz="3500" dirty="0"/>
              <a:t>Las "</a:t>
            </a:r>
            <a:r>
              <a:rPr lang="es-AR" sz="3500" dirty="0" err="1"/>
              <a:t>loot</a:t>
            </a:r>
            <a:r>
              <a:rPr lang="es-AR" sz="3500" dirty="0"/>
              <a:t> boxes" son cajas virtuales que contienen recompensas aleatorias, como skins, ítems raros o mejoras de jugabilidad. Aunque pueden ser adquiridas con monedas del juego o dinero real, su naturaleza aleatoria ha generado debates sobre su similitud con el juego de azar</a:t>
            </a:r>
            <a:endParaRPr lang="en-US" sz="3500" dirty="0"/>
          </a:p>
          <a:p>
            <a:r>
              <a:rPr lang="es-AR" sz="3500" dirty="0"/>
              <a:t>Por ejemplo, en países como China y Australia, las </a:t>
            </a:r>
            <a:r>
              <a:rPr lang="es-AR" sz="3500" dirty="0" err="1"/>
              <a:t>loot</a:t>
            </a:r>
            <a:r>
              <a:rPr lang="es-AR" sz="3500" dirty="0"/>
              <a:t> boxes han sido reguladas debido a preocupaciones sobre la adicción y el impacto en los menores</a:t>
            </a:r>
          </a:p>
          <a:p>
            <a:r>
              <a:rPr lang="es-AR" dirty="0">
                <a:solidFill>
                  <a:srgbClr val="00B0F0"/>
                </a:solidFill>
                <a:hlinkClick r:id="rId2">
                  <a:extLst>
                    <a:ext uri="{A12FA001-AC4F-418D-AE19-62706E023703}">
                      <ahyp:hlinkClr xmlns:ahyp="http://schemas.microsoft.com/office/drawing/2018/hyperlinkcolor" val="tx"/>
                    </a:ext>
                  </a:extLst>
                </a:hlinkClick>
              </a:rPr>
              <a:t>https://expansion.mx/tecnologia/2021/08/11/que-son-las-loot-boxes-y-por-que-quieren-prohibir-su-venta-a-menores</a:t>
            </a:r>
            <a:endParaRPr lang="es-AR" dirty="0">
              <a:solidFill>
                <a:srgbClr val="00B0F0"/>
              </a:solidFill>
            </a:endParaRPr>
          </a:p>
          <a:p>
            <a:r>
              <a:rPr lang="es-AR" u="sng" dirty="0">
                <a:solidFill>
                  <a:srgbClr val="00B0F0"/>
                </a:solidFill>
                <a:hlinkClick r:id="rId3">
                  <a:extLst>
                    <a:ext uri="{A12FA001-AC4F-418D-AE19-62706E023703}">
                      <ahyp:hlinkClr xmlns:ahyp="http://schemas.microsoft.com/office/drawing/2018/hyperlinkcolor" val="tx"/>
                    </a:ext>
                  </a:extLst>
                </a:hlinkClick>
              </a:rPr>
              <a:t>Funcionamiento y legalidad de las </a:t>
            </a:r>
            <a:r>
              <a:rPr lang="es-AR" u="sng" dirty="0" err="1">
                <a:solidFill>
                  <a:srgbClr val="00B0F0"/>
                </a:solidFill>
                <a:hlinkClick r:id="rId3">
                  <a:extLst>
                    <a:ext uri="{A12FA001-AC4F-418D-AE19-62706E023703}">
                      <ahyp:hlinkClr xmlns:ahyp="http://schemas.microsoft.com/office/drawing/2018/hyperlinkcolor" val="tx"/>
                    </a:ext>
                  </a:extLst>
                </a:hlinkClick>
              </a:rPr>
              <a:t>loot</a:t>
            </a:r>
            <a:r>
              <a:rPr lang="es-AR" u="sng" dirty="0">
                <a:solidFill>
                  <a:srgbClr val="00B0F0"/>
                </a:solidFill>
                <a:hlinkClick r:id="rId3">
                  <a:extLst>
                    <a:ext uri="{A12FA001-AC4F-418D-AE19-62706E023703}">
                      <ahyp:hlinkClr xmlns:ahyp="http://schemas.microsoft.com/office/drawing/2018/hyperlinkcolor" val="tx"/>
                    </a:ext>
                  </a:extLst>
                </a:hlinkClick>
              </a:rPr>
              <a:t> boxes en videojuegos - Zona Techno </a:t>
            </a:r>
            <a:r>
              <a:rPr lang="es-AR" u="sng" dirty="0" err="1">
                <a:solidFill>
                  <a:srgbClr val="00B0F0"/>
                </a:solidFill>
                <a:hlinkClick r:id="rId3">
                  <a:extLst>
                    <a:ext uri="{A12FA001-AC4F-418D-AE19-62706E023703}">
                      <ahyp:hlinkClr xmlns:ahyp="http://schemas.microsoft.com/office/drawing/2018/hyperlinkcolor" val="tx"/>
                    </a:ext>
                  </a:extLst>
                </a:hlinkClick>
              </a:rPr>
              <a:t>Crew</a:t>
            </a:r>
            <a:endParaRPr lang="en-US" dirty="0">
              <a:solidFill>
                <a:srgbClr val="00B0F0"/>
              </a:solidFill>
            </a:endParaRPr>
          </a:p>
          <a:p>
            <a:pPr marL="0" indent="0">
              <a:buNone/>
            </a:pPr>
            <a:endParaRPr lang="es-AR" dirty="0"/>
          </a:p>
        </p:txBody>
      </p:sp>
    </p:spTree>
    <p:extLst>
      <p:ext uri="{BB962C8B-B14F-4D97-AF65-F5344CB8AC3E}">
        <p14:creationId xmlns:p14="http://schemas.microsoft.com/office/powerpoint/2010/main" val="208703616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fontScale="90000"/>
          </a:bodyPr>
          <a:lstStyle/>
          <a:p>
            <a:pPr algn="ctr"/>
            <a:r>
              <a:rPr lang="es-AR" sz="4000" b="1" dirty="0"/>
              <a:t>Impactos Éticos Modelo de Negocio "</a:t>
            </a:r>
            <a:r>
              <a:rPr lang="es-AR" sz="4000" b="1" dirty="0" err="1"/>
              <a:t>Freemium</a:t>
            </a:r>
            <a:r>
              <a:rPr lang="es-AR" sz="4000" b="1" dirty="0"/>
              <a:t>"</a:t>
            </a:r>
            <a:endParaRPr lang="en-US" sz="4000" b="1" dirty="0"/>
          </a:p>
        </p:txBody>
      </p:sp>
      <p:sp>
        <p:nvSpPr>
          <p:cNvPr id="3" name="Marcador de contenido 2"/>
          <p:cNvSpPr>
            <a:spLocks noGrp="1"/>
          </p:cNvSpPr>
          <p:nvPr>
            <p:ph idx="1"/>
          </p:nvPr>
        </p:nvSpPr>
        <p:spPr/>
        <p:txBody>
          <a:bodyPr>
            <a:normAutofit fontScale="92500" lnSpcReduction="10000"/>
          </a:bodyPr>
          <a:lstStyle/>
          <a:p>
            <a:r>
              <a:rPr lang="es-AR" dirty="0"/>
              <a:t>El modelo "</a:t>
            </a:r>
            <a:r>
              <a:rPr lang="es-AR" dirty="0" err="1"/>
              <a:t>freemium</a:t>
            </a:r>
            <a:r>
              <a:rPr lang="es-AR" dirty="0"/>
              <a:t>" ofrece un juego básico de forma gratuita, pero requiere pagos para acceder a funcionalidades avanzadas</a:t>
            </a:r>
            <a:endParaRPr lang="en-US" dirty="0"/>
          </a:p>
          <a:p>
            <a:r>
              <a:rPr lang="es-AR" dirty="0"/>
              <a:t>Aunque este modelo puede atraer a una amplia base de usuarios, también puede llevar a prácticas de </a:t>
            </a:r>
            <a:r>
              <a:rPr lang="es-AR" dirty="0" err="1"/>
              <a:t>microtransacciones</a:t>
            </a:r>
            <a:r>
              <a:rPr lang="es-AR" dirty="0"/>
              <a:t> que explotan la adicción y el comportamiento compulsivo de los jugadores</a:t>
            </a:r>
            <a:endParaRPr lang="en-US" dirty="0"/>
          </a:p>
          <a:p>
            <a:r>
              <a:rPr lang="es-AR" dirty="0"/>
              <a:t>Por ejemplo, algunos juegos permiten a los jugadores avanzar más rápido si compran ítems </a:t>
            </a:r>
            <a:r>
              <a:rPr lang="es-AR" dirty="0" err="1"/>
              <a:t>premium</a:t>
            </a:r>
            <a:r>
              <a:rPr lang="es-AR" dirty="0"/>
              <a:t>, lo que puede crear una desventaja injusta para aquellos que no pueden o no quieren gastar dinero adicional.</a:t>
            </a:r>
            <a:endParaRPr lang="en-US" dirty="0"/>
          </a:p>
          <a:p>
            <a:r>
              <a:rPr lang="en-US" dirty="0"/>
              <a:t> </a:t>
            </a:r>
            <a:r>
              <a:rPr lang="en-US" u="sng" dirty="0">
                <a:hlinkClick r:id="rId2"/>
              </a:rPr>
              <a:t>https://vce.usc.edu/volume-7-issue-2/how-free-is-freemium-an-analysis-of-the-ethics-of-the-freemium-model-in-video-games/</a:t>
            </a:r>
            <a:endParaRPr lang="en-US" dirty="0"/>
          </a:p>
          <a:p>
            <a:pPr marL="0" indent="0">
              <a:buNone/>
            </a:pPr>
            <a:endParaRPr lang="es-AR" dirty="0"/>
          </a:p>
        </p:txBody>
      </p:sp>
    </p:spTree>
    <p:extLst>
      <p:ext uri="{BB962C8B-B14F-4D97-AF65-F5344CB8AC3E}">
        <p14:creationId xmlns:p14="http://schemas.microsoft.com/office/powerpoint/2010/main" val="341960574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pPr algn="ctr"/>
            <a:r>
              <a:rPr lang="es-AR" dirty="0"/>
              <a:t>Diseño Ético en la UX de videojuegos</a:t>
            </a:r>
            <a:endParaRPr lang="en-US" sz="4000" b="1" dirty="0"/>
          </a:p>
        </p:txBody>
      </p:sp>
      <p:sp>
        <p:nvSpPr>
          <p:cNvPr id="3" name="Marcador de contenido 2"/>
          <p:cNvSpPr>
            <a:spLocks noGrp="1"/>
          </p:cNvSpPr>
          <p:nvPr>
            <p:ph idx="1"/>
          </p:nvPr>
        </p:nvSpPr>
        <p:spPr>
          <a:xfrm>
            <a:off x="680321" y="2264898"/>
            <a:ext cx="9613861" cy="3671291"/>
          </a:xfrm>
        </p:spPr>
        <p:txBody>
          <a:bodyPr>
            <a:normAutofit fontScale="55000" lnSpcReduction="20000"/>
          </a:bodyPr>
          <a:lstStyle/>
          <a:p>
            <a:pPr marL="0" indent="0">
              <a:buNone/>
            </a:pPr>
            <a:r>
              <a:rPr lang="es-ES" sz="2500" dirty="0"/>
              <a:t>•  </a:t>
            </a:r>
            <a:r>
              <a:rPr lang="es-ES" sz="2500" b="1" dirty="0"/>
              <a:t>Evitar Patrones Oscuros:</a:t>
            </a:r>
          </a:p>
          <a:p>
            <a:pPr marL="0" indent="0">
              <a:buNone/>
            </a:pPr>
            <a:r>
              <a:rPr lang="es-ES" sz="2500" dirty="0"/>
              <a:t>	Presión Temporal</a:t>
            </a:r>
          </a:p>
          <a:p>
            <a:pPr marL="0" indent="0">
              <a:buNone/>
            </a:pPr>
            <a:r>
              <a:rPr lang="es-ES" sz="2500" dirty="0"/>
              <a:t>	Complicación en Cancelaciones</a:t>
            </a:r>
          </a:p>
          <a:p>
            <a:pPr marL="0" indent="0">
              <a:buNone/>
            </a:pPr>
            <a:r>
              <a:rPr lang="es-ES" sz="2500" dirty="0"/>
              <a:t>	Recompensas Emocionales</a:t>
            </a:r>
          </a:p>
          <a:p>
            <a:pPr marL="0" indent="0">
              <a:buNone/>
            </a:pPr>
            <a:r>
              <a:rPr lang="es-ES" sz="2500" dirty="0"/>
              <a:t>•  </a:t>
            </a:r>
            <a:r>
              <a:rPr lang="es-ES" sz="2500" b="1" dirty="0"/>
              <a:t>Control de Gastos y Límite de Tiempo de Juego</a:t>
            </a:r>
            <a:r>
              <a:rPr lang="es-ES" sz="2500" dirty="0"/>
              <a:t>:</a:t>
            </a:r>
          </a:p>
          <a:p>
            <a:pPr marL="0" indent="0">
              <a:buNone/>
            </a:pPr>
            <a:r>
              <a:rPr lang="es-ES" sz="2500" dirty="0"/>
              <a:t>	Límites de Gasto y Tiempo para Menores</a:t>
            </a:r>
          </a:p>
          <a:p>
            <a:pPr marL="0" indent="0">
              <a:buNone/>
            </a:pPr>
            <a:r>
              <a:rPr lang="es-ES" sz="2500" dirty="0"/>
              <a:t>	Restricciones para Prevenir Adicción</a:t>
            </a:r>
          </a:p>
          <a:p>
            <a:pPr marL="0" indent="0">
              <a:buNone/>
            </a:pPr>
            <a:r>
              <a:rPr lang="es-ES" sz="2500" dirty="0"/>
              <a:t>•  </a:t>
            </a:r>
            <a:r>
              <a:rPr lang="es-ES" sz="2500" b="1" dirty="0"/>
              <a:t>Alternativas Éticas a las Compras Directas:</a:t>
            </a:r>
          </a:p>
          <a:p>
            <a:pPr marL="0" indent="0">
              <a:buNone/>
            </a:pPr>
            <a:r>
              <a:rPr lang="es-ES" sz="2500" dirty="0"/>
              <a:t>	Opciones Sin Costos Monetarios</a:t>
            </a:r>
          </a:p>
          <a:p>
            <a:pPr marL="0" indent="0">
              <a:buNone/>
            </a:pPr>
            <a:r>
              <a:rPr lang="es-ES" sz="2500" dirty="0"/>
              <a:t>	Recompensas Basadas en Habilidad o Logros y No en Gastos</a:t>
            </a:r>
          </a:p>
          <a:p>
            <a:pPr marL="0" indent="0">
              <a:buNone/>
            </a:pPr>
            <a:r>
              <a:rPr lang="es-ES" sz="2500" dirty="0"/>
              <a:t>•  </a:t>
            </a:r>
            <a:r>
              <a:rPr lang="es-ES" sz="2500" b="1" dirty="0"/>
              <a:t>Transparencia en la Experiencia del Usuario:</a:t>
            </a:r>
          </a:p>
          <a:p>
            <a:pPr marL="0" indent="0">
              <a:buNone/>
            </a:pPr>
            <a:r>
              <a:rPr lang="es-ES" sz="2500" dirty="0"/>
              <a:t>	Probabilidades en </a:t>
            </a:r>
            <a:r>
              <a:rPr lang="es-ES" sz="2500" dirty="0" err="1"/>
              <a:t>Loot</a:t>
            </a:r>
            <a:r>
              <a:rPr lang="es-ES" sz="2500" dirty="0"/>
              <a:t> Boxes</a:t>
            </a:r>
          </a:p>
          <a:p>
            <a:pPr marL="0" indent="0">
              <a:buNone/>
            </a:pPr>
            <a:r>
              <a:rPr lang="es-ES" sz="2500" dirty="0"/>
              <a:t>	Desglose Claro de Costos</a:t>
            </a:r>
          </a:p>
          <a:p>
            <a:pPr marL="0" indent="0">
              <a:buNone/>
            </a:pPr>
            <a:endParaRPr lang="es-AR" dirty="0"/>
          </a:p>
        </p:txBody>
      </p:sp>
    </p:spTree>
    <p:extLst>
      <p:ext uri="{BB962C8B-B14F-4D97-AF65-F5344CB8AC3E}">
        <p14:creationId xmlns:p14="http://schemas.microsoft.com/office/powerpoint/2010/main" val="385340057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pPr algn="ctr"/>
            <a:r>
              <a:rPr lang="es-AR" dirty="0"/>
              <a:t>Ética y Videojuegos GDC2019</a:t>
            </a:r>
            <a:endParaRPr lang="en-US" dirty="0"/>
          </a:p>
        </p:txBody>
      </p:sp>
      <p:sp>
        <p:nvSpPr>
          <p:cNvPr id="3" name="Marcador de contenido 2"/>
          <p:cNvSpPr>
            <a:spLocks noGrp="1"/>
          </p:cNvSpPr>
          <p:nvPr>
            <p:ph idx="1"/>
          </p:nvPr>
        </p:nvSpPr>
        <p:spPr>
          <a:xfrm>
            <a:off x="680321" y="2069587"/>
            <a:ext cx="9613861" cy="3599316"/>
          </a:xfrm>
        </p:spPr>
        <p:txBody>
          <a:bodyPr>
            <a:noAutofit/>
          </a:bodyPr>
          <a:lstStyle/>
          <a:p>
            <a:pPr marL="0" indent="0">
              <a:buNone/>
            </a:pPr>
            <a:r>
              <a:rPr lang="es-ES" sz="1700" dirty="0"/>
              <a:t>•  Conciencia sobre Sesgos en IA:</a:t>
            </a:r>
          </a:p>
          <a:p>
            <a:pPr marL="0" indent="0">
              <a:buNone/>
            </a:pPr>
            <a:r>
              <a:rPr lang="es-ES" sz="1700" dirty="0"/>
              <a:t>los sesgos pueden influir en el diseño de personajes y sistemas en los videojuegos. Ejemplos: situaciones en juegos donde ciertos personajes repetidamente enfrentaban violencia o estereotipos negativos. Estos sesgos pueden surgir de prejuicios inconscientes del equipo de desarrollo o de la forma en que se programa la IA.</a:t>
            </a:r>
          </a:p>
          <a:p>
            <a:pPr marL="0" indent="0">
              <a:buNone/>
            </a:pPr>
            <a:r>
              <a:rPr lang="es-ES" sz="1700" dirty="0"/>
              <a:t>•  Privacidad de Datos y Regulaciones:</a:t>
            </a:r>
          </a:p>
          <a:p>
            <a:pPr marL="0" indent="0">
              <a:buNone/>
            </a:pPr>
            <a:r>
              <a:rPr lang="es-ES" sz="1700" dirty="0"/>
              <a:t>GDPR en Europa, las empresas deben ser transparentes sobre la recopilación y el uso de datos de los jugadores. Los panelistas enfatizaron la importancia de proteger la privacidad y regular la recolección de datos, evitando prácticas abusivas que puedan aprovecharse de los usuarios.</a:t>
            </a:r>
          </a:p>
          <a:p>
            <a:pPr marL="0" indent="0">
              <a:buNone/>
            </a:pPr>
            <a:r>
              <a:rPr lang="es-ES" sz="1700" dirty="0"/>
              <a:t>•  Responsabilidad Ética en el Diseño de Experiencias:</a:t>
            </a:r>
          </a:p>
          <a:p>
            <a:pPr marL="0" indent="0">
              <a:buNone/>
            </a:pPr>
            <a:r>
              <a:rPr lang="es-ES" sz="1700" dirty="0"/>
              <a:t>diseñadores y desarrolladores de IA deben considerar el impacto psicológico de sus productos en los jugadores, especialmente en menores de edad. Evitar patrones oscuros y la manipulación emocional, que es fundamental diseñar experiencias que respeten la autonomía y el bienestar del jugador.</a:t>
            </a:r>
          </a:p>
        </p:txBody>
      </p:sp>
    </p:spTree>
    <p:extLst>
      <p:ext uri="{BB962C8B-B14F-4D97-AF65-F5344CB8AC3E}">
        <p14:creationId xmlns:p14="http://schemas.microsoft.com/office/powerpoint/2010/main" val="655764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AR" dirty="0"/>
              <a:t>Ética y Videojuegos GDC2019 cont.</a:t>
            </a:r>
            <a:endParaRPr lang="en-US" dirty="0"/>
          </a:p>
        </p:txBody>
      </p:sp>
      <p:sp>
        <p:nvSpPr>
          <p:cNvPr id="3" name="Marcador de contenido 2"/>
          <p:cNvSpPr>
            <a:spLocks noGrp="1"/>
          </p:cNvSpPr>
          <p:nvPr>
            <p:ph idx="1"/>
          </p:nvPr>
        </p:nvSpPr>
        <p:spPr>
          <a:xfrm>
            <a:off x="680320" y="2097722"/>
            <a:ext cx="9613861" cy="3599316"/>
          </a:xfrm>
        </p:spPr>
        <p:txBody>
          <a:bodyPr>
            <a:noAutofit/>
          </a:bodyPr>
          <a:lstStyle/>
          <a:p>
            <a:pPr marL="0" indent="0">
              <a:buNone/>
            </a:pPr>
            <a:r>
              <a:rPr lang="es-ES" sz="1700" dirty="0"/>
              <a:t>•  Creación de IA Responsable y Transparente:</a:t>
            </a:r>
          </a:p>
          <a:p>
            <a:pPr marL="0" indent="0">
              <a:buNone/>
            </a:pPr>
            <a:r>
              <a:rPr lang="es-ES" sz="1700" dirty="0"/>
              <a:t>Asegurarse que los usuarios sepan cuándo están interactuando con IA. Los jugadores pueden desarrollar vínculos emocionales con personajes de IA, lo cual puede resultar beneficioso, pero también puede ser peligroso si no se maneja de manera ética y responsable.</a:t>
            </a:r>
          </a:p>
          <a:p>
            <a:pPr marL="0" indent="0">
              <a:buNone/>
            </a:pPr>
            <a:r>
              <a:rPr lang="es-ES" sz="1700" dirty="0"/>
              <a:t>•  Importancia de la Diversidad en Equipos de Desarrollo:</a:t>
            </a:r>
          </a:p>
          <a:p>
            <a:pPr marL="0" indent="0">
              <a:buNone/>
            </a:pPr>
            <a:r>
              <a:rPr lang="es-ES" sz="1700" dirty="0"/>
              <a:t>Contar con equipos diversos puede ayudar a identificar y mitigar posibles sesgos en los sistemas de IA. Tener personas de diferentes contextos ayuda a anticipar cómo los usuarios percibirán ciertas decisiones de diseño, y a crear personajes y sistemas más inclusivos.</a:t>
            </a:r>
          </a:p>
          <a:p>
            <a:pPr marL="0" indent="0">
              <a:buNone/>
            </a:pPr>
            <a:r>
              <a:rPr lang="es-ES" sz="1700" dirty="0"/>
              <a:t>•  Educación en Ética y Psicología para Desarrolladores:</a:t>
            </a:r>
          </a:p>
          <a:p>
            <a:pPr marL="0" indent="0">
              <a:buNone/>
            </a:pPr>
            <a:r>
              <a:rPr lang="es-ES" sz="1700" dirty="0"/>
              <a:t>Los desarrolladores de videojuegos y programadores deberían recibir formación en ética y psicología para entender mejor cómo sus decisiones afectan a los usuarios. Mayor comprensión de estos temas, permite crear experiencias de juego más responsables y respetuosas.</a:t>
            </a:r>
          </a:p>
        </p:txBody>
      </p:sp>
    </p:spTree>
    <p:extLst>
      <p:ext uri="{BB962C8B-B14F-4D97-AF65-F5344CB8AC3E}">
        <p14:creationId xmlns:p14="http://schemas.microsoft.com/office/powerpoint/2010/main" val="22761345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AR" dirty="0"/>
              <a:t>Ética y Videojuegos GDC2019 cont.</a:t>
            </a:r>
            <a:endParaRPr lang="en-US" dirty="0"/>
          </a:p>
        </p:txBody>
      </p:sp>
      <p:sp>
        <p:nvSpPr>
          <p:cNvPr id="3" name="Marcador de contenido 2"/>
          <p:cNvSpPr>
            <a:spLocks noGrp="1"/>
          </p:cNvSpPr>
          <p:nvPr>
            <p:ph idx="1"/>
          </p:nvPr>
        </p:nvSpPr>
        <p:spPr>
          <a:xfrm>
            <a:off x="525576" y="2336873"/>
            <a:ext cx="9613861" cy="3599316"/>
          </a:xfrm>
        </p:spPr>
        <p:txBody>
          <a:bodyPr>
            <a:noAutofit/>
          </a:bodyPr>
          <a:lstStyle/>
          <a:p>
            <a:pPr marL="0" indent="0">
              <a:buNone/>
            </a:pPr>
            <a:r>
              <a:rPr lang="es-ES" sz="1800" dirty="0"/>
              <a:t>•  Desafíos con el Uso Extensivo de Datos y el Aprendizaje Automático:</a:t>
            </a:r>
          </a:p>
          <a:p>
            <a:pPr marL="0" indent="0">
              <a:buNone/>
            </a:pPr>
            <a:r>
              <a:rPr lang="es-ES" sz="1800" dirty="0"/>
              <a:t>Uno de los mayores riesgos del uso de IA y </a:t>
            </a:r>
            <a:r>
              <a:rPr lang="es-ES" sz="1800" dirty="0" err="1"/>
              <a:t>big</a:t>
            </a:r>
            <a:r>
              <a:rPr lang="es-ES" sz="1800" dirty="0"/>
              <a:t> data es que estos amplifican los sesgos y prejuicios ya existentes. SE hizo un llamado a establecer procesos para revisar y ajustar continuamente los algoritmos y datos utilizados en los videojuegos.</a:t>
            </a:r>
          </a:p>
          <a:p>
            <a:pPr marL="0" indent="0">
              <a:buNone/>
            </a:pPr>
            <a:r>
              <a:rPr lang="es-ES" sz="1800" dirty="0"/>
              <a:t>•  Empoderamiento del Usuario y Control de la Experiencia:</a:t>
            </a:r>
          </a:p>
          <a:p>
            <a:pPr marL="0" indent="0">
              <a:buNone/>
            </a:pPr>
            <a:r>
              <a:rPr lang="es-ES" sz="1800" dirty="0"/>
              <a:t>Se propuso la idea de dar a los usuarios mayor control sobre los datos que comparten y su experiencia general en los videojuegos. Esto incluye opciones para "reiniciar" preferencias o cambiar el tipo de contenido que desean consumir, lo que podría ayudar a mitigar el impacto de contenidos no deseados o inapropiados</a:t>
            </a:r>
          </a:p>
        </p:txBody>
      </p:sp>
    </p:spTree>
    <p:extLst>
      <p:ext uri="{BB962C8B-B14F-4D97-AF65-F5344CB8AC3E}">
        <p14:creationId xmlns:p14="http://schemas.microsoft.com/office/powerpoint/2010/main" val="123565854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pPr algn="ctr"/>
            <a:r>
              <a:rPr lang="es-AR" dirty="0"/>
              <a:t>Ética y juegos</a:t>
            </a:r>
            <a:endParaRPr lang="en-US" dirty="0"/>
          </a:p>
        </p:txBody>
      </p:sp>
      <p:sp>
        <p:nvSpPr>
          <p:cNvPr id="3" name="Marcador de contenido 2"/>
          <p:cNvSpPr>
            <a:spLocks noGrp="1"/>
          </p:cNvSpPr>
          <p:nvPr>
            <p:ph idx="1"/>
          </p:nvPr>
        </p:nvSpPr>
        <p:spPr/>
        <p:txBody>
          <a:bodyPr>
            <a:normAutofit fontScale="77500" lnSpcReduction="20000"/>
          </a:bodyPr>
          <a:lstStyle/>
          <a:p>
            <a:pPr marL="0" indent="0">
              <a:buNone/>
            </a:pPr>
            <a:r>
              <a:rPr lang="es-ES" dirty="0"/>
              <a:t>En esta charla de GDC de 2019, la experta en UX Celia </a:t>
            </a:r>
            <a:r>
              <a:rPr lang="es-ES" dirty="0" err="1"/>
              <a:t>Hodent</a:t>
            </a:r>
            <a:r>
              <a:rPr lang="es-ES" dirty="0"/>
              <a:t> analiza lo que dice la investigación científica sobre los posibles problemas que los videojuegos pueden crear en términos de adicción, violencia, </a:t>
            </a:r>
            <a:r>
              <a:rPr lang="es-ES" dirty="0" err="1"/>
              <a:t>baules</a:t>
            </a:r>
            <a:r>
              <a:rPr lang="es-ES" dirty="0"/>
              <a:t> con recompensas y patrones oscuros (sin infundir miedo) e invita a los espectadores a pensar dónde la industria debe trazar la línea.</a:t>
            </a:r>
            <a:endParaRPr lang="es-AR" dirty="0"/>
          </a:p>
          <a:p>
            <a:r>
              <a:rPr lang="es-AR" dirty="0">
                <a:solidFill>
                  <a:srgbClr val="00B0F0"/>
                </a:solidFill>
                <a:hlinkClick r:id="rId2">
                  <a:extLst>
                    <a:ext uri="{A12FA001-AC4F-418D-AE19-62706E023703}">
                      <ahyp:hlinkClr xmlns:ahyp="http://schemas.microsoft.com/office/drawing/2018/hyperlinkcolor" val="tx"/>
                    </a:ext>
                  </a:extLst>
                </a:hlinkClick>
              </a:rPr>
              <a:t>https://www.youtube.com/watch?v=V3PiM1y3jRI</a:t>
            </a:r>
            <a:endParaRPr lang="es-AR" dirty="0">
              <a:solidFill>
                <a:srgbClr val="00B0F0"/>
              </a:solidFill>
            </a:endParaRPr>
          </a:p>
          <a:p>
            <a:pPr marL="0" indent="0">
              <a:buNone/>
            </a:pPr>
            <a:r>
              <a:rPr lang="es-AR" dirty="0" err="1"/>
              <a:t>Loot</a:t>
            </a:r>
            <a:r>
              <a:rPr lang="es-AR" dirty="0"/>
              <a:t> boxes (</a:t>
            </a:r>
            <a:r>
              <a:rPr lang="es-AR" dirty="0" err="1"/>
              <a:t>gaming</a:t>
            </a:r>
            <a:r>
              <a:rPr lang="es-AR" dirty="0"/>
              <a:t> vs </a:t>
            </a:r>
            <a:r>
              <a:rPr lang="es-AR" dirty="0" err="1"/>
              <a:t>gambling</a:t>
            </a:r>
            <a:r>
              <a:rPr lang="es-AR" dirty="0"/>
              <a:t>):</a:t>
            </a:r>
          </a:p>
          <a:p>
            <a:r>
              <a:rPr lang="es-AR" dirty="0">
                <a:solidFill>
                  <a:srgbClr val="00B0F0"/>
                </a:solidFill>
                <a:hlinkClick r:id="rId3">
                  <a:extLst>
                    <a:ext uri="{A12FA001-AC4F-418D-AE19-62706E023703}">
                      <ahyp:hlinkClr xmlns:ahyp="http://schemas.microsoft.com/office/drawing/2018/hyperlinkcolor" val="tx"/>
                    </a:ext>
                  </a:extLst>
                </a:hlinkClick>
              </a:rPr>
              <a:t>https://expansion.mx/tecnologia/2021/08/11/que-son-las-loot-boxes-y-por-que-quieren-prohibir-su-venta-a-menores</a:t>
            </a:r>
            <a:endParaRPr lang="es-AR" dirty="0">
              <a:solidFill>
                <a:srgbClr val="00B0F0"/>
              </a:solidFill>
            </a:endParaRPr>
          </a:p>
          <a:p>
            <a:pPr marL="0" indent="0">
              <a:buNone/>
            </a:pPr>
            <a:r>
              <a:rPr lang="es-ES" dirty="0"/>
              <a:t>En esta sesión de GDC de 2019, los panelistas </a:t>
            </a:r>
            <a:r>
              <a:rPr lang="es-ES" dirty="0" err="1"/>
              <a:t>Luke</a:t>
            </a:r>
            <a:r>
              <a:rPr lang="es-ES" dirty="0"/>
              <a:t> </a:t>
            </a:r>
            <a:r>
              <a:rPr lang="es-ES" dirty="0" err="1"/>
              <a:t>Dicken</a:t>
            </a:r>
            <a:r>
              <a:rPr lang="es-ES" dirty="0"/>
              <a:t>, Celia </a:t>
            </a:r>
            <a:r>
              <a:rPr lang="es-ES" dirty="0" err="1"/>
              <a:t>Hodent</a:t>
            </a:r>
            <a:r>
              <a:rPr lang="es-ES" dirty="0"/>
              <a:t>, </a:t>
            </a:r>
            <a:r>
              <a:rPr lang="es-ES" dirty="0" err="1"/>
              <a:t>Aleissia</a:t>
            </a:r>
            <a:r>
              <a:rPr lang="es-ES" dirty="0"/>
              <a:t> </a:t>
            </a:r>
            <a:r>
              <a:rPr lang="es-ES" dirty="0" err="1"/>
              <a:t>Laidacker</a:t>
            </a:r>
            <a:r>
              <a:rPr lang="es-ES" dirty="0"/>
              <a:t>, Emily Short y </a:t>
            </a:r>
            <a:r>
              <a:rPr lang="es-ES" dirty="0" err="1"/>
              <a:t>Timoni</a:t>
            </a:r>
            <a:r>
              <a:rPr lang="es-ES" dirty="0"/>
              <a:t> West analizan las oportunidades, los desafíos y las soluciones en torno a la ética del uso de la inteligencia artificial para los juegos y cómo puede imbuir su IA con un pensamiento ético.</a:t>
            </a:r>
            <a:endParaRPr lang="es-AR" dirty="0"/>
          </a:p>
          <a:p>
            <a:r>
              <a:rPr lang="en-US" dirty="0">
                <a:solidFill>
                  <a:srgbClr val="00B0F0"/>
                </a:solidFill>
                <a:hlinkClick r:id="rId4">
                  <a:extLst>
                    <a:ext uri="{A12FA001-AC4F-418D-AE19-62706E023703}">
                      <ahyp:hlinkClr xmlns:ahyp="http://schemas.microsoft.com/office/drawing/2018/hyperlinkcolor" val="tx"/>
                    </a:ext>
                  </a:extLst>
                </a:hlinkClick>
              </a:rPr>
              <a:t>https://www.youtube.com/watch?v=qLjBENfVsCM</a:t>
            </a:r>
            <a:endParaRPr lang="en-US" dirty="0">
              <a:solidFill>
                <a:srgbClr val="00B0F0"/>
              </a:solidFill>
            </a:endParaRPr>
          </a:p>
          <a:p>
            <a:pPr marL="0" indent="0">
              <a:buNone/>
            </a:pPr>
            <a:endParaRPr lang="en-US" dirty="0"/>
          </a:p>
        </p:txBody>
      </p:sp>
    </p:spTree>
    <p:extLst>
      <p:ext uri="{BB962C8B-B14F-4D97-AF65-F5344CB8AC3E}">
        <p14:creationId xmlns:p14="http://schemas.microsoft.com/office/powerpoint/2010/main" val="208418549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pPr algn="ctr"/>
            <a:r>
              <a:rPr lang="es-AR" dirty="0"/>
              <a:t>Ética y juegos 3</a:t>
            </a:r>
            <a:endParaRPr lang="en-US" dirty="0"/>
          </a:p>
        </p:txBody>
      </p:sp>
      <p:sp>
        <p:nvSpPr>
          <p:cNvPr id="3" name="Marcador de contenido 2"/>
          <p:cNvSpPr>
            <a:spLocks noGrp="1"/>
          </p:cNvSpPr>
          <p:nvPr>
            <p:ph idx="1"/>
          </p:nvPr>
        </p:nvSpPr>
        <p:spPr/>
        <p:txBody>
          <a:bodyPr>
            <a:normAutofit/>
          </a:bodyPr>
          <a:lstStyle/>
          <a:p>
            <a:pPr marL="0" indent="0">
              <a:buNone/>
            </a:pPr>
            <a:r>
              <a:rPr lang="es-ES" dirty="0">
                <a:solidFill>
                  <a:srgbClr val="00B0F0"/>
                </a:solidFill>
                <a:hlinkClick r:id="rId2">
                  <a:extLst>
                    <a:ext uri="{A12FA001-AC4F-418D-AE19-62706E023703}">
                      <ahyp:hlinkClr xmlns:ahyp="http://schemas.microsoft.com/office/drawing/2018/hyperlinkcolor" val="tx"/>
                    </a:ext>
                  </a:extLst>
                </a:hlinkClick>
              </a:rPr>
              <a:t>https://igda.org/about-us/core-values-and-code-of-ethics//</a:t>
            </a:r>
            <a:endParaRPr lang="es-ES" dirty="0">
              <a:solidFill>
                <a:srgbClr val="00B0F0"/>
              </a:solidFill>
            </a:endParaRPr>
          </a:p>
          <a:p>
            <a:endParaRPr lang="es-ES" dirty="0">
              <a:solidFill>
                <a:srgbClr val="00B0F0"/>
              </a:solidFill>
            </a:endParaRPr>
          </a:p>
          <a:p>
            <a:pPr marL="0" indent="0">
              <a:buNone/>
            </a:pPr>
            <a:endParaRPr lang="es-ES" dirty="0">
              <a:solidFill>
                <a:srgbClr val="00B0F0"/>
              </a:solidFill>
            </a:endParaRPr>
          </a:p>
          <a:p>
            <a:pPr marL="0" indent="0">
              <a:buNone/>
            </a:pPr>
            <a:r>
              <a:rPr lang="en-US" dirty="0">
                <a:solidFill>
                  <a:srgbClr val="00B0F0"/>
                </a:solidFill>
                <a:hlinkClick r:id="rId3">
                  <a:extLst>
                    <a:ext uri="{A12FA001-AC4F-418D-AE19-62706E023703}">
                      <ahyp:hlinkClr xmlns:ahyp="http://schemas.microsoft.com/office/drawing/2018/hyperlinkcolor" val="tx"/>
                    </a:ext>
                  </a:extLst>
                </a:hlinkClick>
              </a:rPr>
              <a:t>https://vce.usc.edu/volume-5-issue-1/pay-to-play-the-ethics-of-video-game-economics/</a:t>
            </a:r>
            <a:endParaRPr lang="en-US" dirty="0">
              <a:solidFill>
                <a:srgbClr val="00B0F0"/>
              </a:solidFill>
            </a:endParaRPr>
          </a:p>
          <a:p>
            <a:pPr marL="0" indent="0">
              <a:buNone/>
            </a:pPr>
            <a:endParaRPr lang="es-AR" dirty="0">
              <a:solidFill>
                <a:srgbClr val="00B0F0"/>
              </a:solidFill>
            </a:endParaRPr>
          </a:p>
          <a:p>
            <a:pPr marL="0" indent="0">
              <a:buNone/>
            </a:pPr>
            <a:r>
              <a:rPr lang="en-US" dirty="0">
                <a:solidFill>
                  <a:srgbClr val="00B0F0"/>
                </a:solidFill>
                <a:hlinkClick r:id="rId4">
                  <a:extLst>
                    <a:ext uri="{A12FA001-AC4F-418D-AE19-62706E023703}">
                      <ahyp:hlinkClr xmlns:ahyp="http://schemas.microsoft.com/office/drawing/2018/hyperlinkcolor" val="tx"/>
                    </a:ext>
                  </a:extLst>
                </a:hlinkClick>
              </a:rPr>
              <a:t>https://www.researchgate.net/publication/328829359_Ethical_Issues_in_Gaming_A_Literature_Review</a:t>
            </a:r>
            <a:endParaRPr lang="en-US" dirty="0">
              <a:solidFill>
                <a:srgbClr val="00B0F0"/>
              </a:solidFill>
            </a:endParaRPr>
          </a:p>
          <a:p>
            <a:pPr marL="0" indent="0">
              <a:buNone/>
            </a:pPr>
            <a:endParaRPr lang="en-US" dirty="0"/>
          </a:p>
        </p:txBody>
      </p:sp>
    </p:spTree>
    <p:extLst>
      <p:ext uri="{BB962C8B-B14F-4D97-AF65-F5344CB8AC3E}">
        <p14:creationId xmlns:p14="http://schemas.microsoft.com/office/powerpoint/2010/main" val="365546741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pPr algn="ctr"/>
            <a:r>
              <a:rPr lang="es-AR" dirty="0"/>
              <a:t>Sobre patrones oscuros</a:t>
            </a:r>
            <a:endParaRPr lang="en-US" dirty="0"/>
          </a:p>
        </p:txBody>
      </p:sp>
      <p:sp>
        <p:nvSpPr>
          <p:cNvPr id="3" name="Marcador de contenido 2"/>
          <p:cNvSpPr>
            <a:spLocks noGrp="1"/>
          </p:cNvSpPr>
          <p:nvPr>
            <p:ph idx="1"/>
          </p:nvPr>
        </p:nvSpPr>
        <p:spPr/>
        <p:txBody>
          <a:bodyPr>
            <a:normAutofit fontScale="92500"/>
          </a:bodyPr>
          <a:lstStyle/>
          <a:p>
            <a:r>
              <a:rPr lang="es-ES" dirty="0">
                <a:solidFill>
                  <a:srgbClr val="00B0F0"/>
                </a:solidFill>
                <a:hlinkClick r:id="rId2">
                  <a:extLst>
                    <a:ext uri="{A12FA001-AC4F-418D-AE19-62706E023703}">
                      <ahyp:hlinkClr xmlns:ahyp="http://schemas.microsoft.com/office/drawing/2018/hyperlinkcolor" val="tx"/>
                    </a:ext>
                  </a:extLst>
                </a:hlinkClick>
              </a:rPr>
              <a:t>https://www.cronista.com/infotechnology/mundo-cio/como-evitar-que-los-juegos-moviles-manipulan-a-los-ninos-para-que-gasten-mas/</a:t>
            </a:r>
            <a:endParaRPr lang="es-ES" dirty="0">
              <a:solidFill>
                <a:srgbClr val="00B0F0"/>
              </a:solidFill>
            </a:endParaRPr>
          </a:p>
          <a:p>
            <a:r>
              <a:rPr lang="es-ES" dirty="0">
                <a:solidFill>
                  <a:srgbClr val="00B0F0"/>
                </a:solidFill>
                <a:hlinkClick r:id="rId3">
                  <a:extLst>
                    <a:ext uri="{A12FA001-AC4F-418D-AE19-62706E023703}">
                      <ahyp:hlinkClr xmlns:ahyp="http://schemas.microsoft.com/office/drawing/2018/hyperlinkcolor" val="tx"/>
                    </a:ext>
                  </a:extLst>
                </a:hlinkClick>
              </a:rPr>
              <a:t>https://www.infobae.com/america/tecno/2021/12/02/la-etica-en-el-mundo-de-los-videojuegos-gamers-en-camino-a-ser-deportistas-olimpicos/</a:t>
            </a:r>
            <a:endParaRPr lang="es-ES" dirty="0">
              <a:solidFill>
                <a:srgbClr val="00B0F0"/>
              </a:solidFill>
            </a:endParaRPr>
          </a:p>
          <a:p>
            <a:r>
              <a:rPr lang="es-ES" dirty="0">
                <a:solidFill>
                  <a:srgbClr val="00B0F0"/>
                </a:solidFill>
                <a:hlinkClick r:id="rId4">
                  <a:extLst>
                    <a:ext uri="{A12FA001-AC4F-418D-AE19-62706E023703}">
                      <ahyp:hlinkClr xmlns:ahyp="http://schemas.microsoft.com/office/drawing/2018/hyperlinkcolor" val="tx"/>
                    </a:ext>
                  </a:extLst>
                </a:hlinkClick>
              </a:rPr>
              <a:t>https://www.technologyreview.es//s/13950/el-reto-casi-imposible-de-ofrecer-seguridad-y-privacidad-en-el-metaverso</a:t>
            </a:r>
            <a:endParaRPr lang="es-ES" dirty="0">
              <a:solidFill>
                <a:srgbClr val="00B0F0"/>
              </a:solidFill>
            </a:endParaRPr>
          </a:p>
          <a:p>
            <a:pPr marL="0" indent="0">
              <a:buNone/>
            </a:pPr>
            <a:r>
              <a:rPr lang="es-ES" sz="2200" dirty="0"/>
              <a:t>Un patrón oscuro de juego es algo que se agrega deliberadamente a un juego para causar una experiencia negativa no deseada para el jugador con un resultado positivo para el desarrollador del juego.</a:t>
            </a:r>
            <a:endParaRPr lang="es-ES" sz="2200" dirty="0">
              <a:hlinkClick r:id="rId5"/>
            </a:endParaRPr>
          </a:p>
          <a:p>
            <a:endParaRPr lang="es-ES" dirty="0"/>
          </a:p>
          <a:p>
            <a:pPr marL="0" indent="0">
              <a:buNone/>
            </a:pPr>
            <a:endParaRPr lang="es-ES" dirty="0"/>
          </a:p>
          <a:p>
            <a:pPr marL="0" indent="0">
              <a:buNone/>
            </a:pPr>
            <a:endParaRPr lang="en-US" dirty="0"/>
          </a:p>
        </p:txBody>
      </p:sp>
    </p:spTree>
    <p:extLst>
      <p:ext uri="{BB962C8B-B14F-4D97-AF65-F5344CB8AC3E}">
        <p14:creationId xmlns:p14="http://schemas.microsoft.com/office/powerpoint/2010/main" val="207826690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pPr algn="ctr"/>
            <a:r>
              <a:rPr lang="es-AR" dirty="0"/>
              <a:t>Sobre patrones oscuros</a:t>
            </a:r>
            <a:endParaRPr lang="en-US" dirty="0"/>
          </a:p>
        </p:txBody>
      </p:sp>
      <p:sp>
        <p:nvSpPr>
          <p:cNvPr id="3" name="Marcador de contenido 2"/>
          <p:cNvSpPr>
            <a:spLocks noGrp="1"/>
          </p:cNvSpPr>
          <p:nvPr>
            <p:ph idx="1"/>
          </p:nvPr>
        </p:nvSpPr>
        <p:spPr/>
        <p:txBody>
          <a:bodyPr>
            <a:normAutofit/>
          </a:bodyPr>
          <a:lstStyle/>
          <a:p>
            <a:pPr marL="0" indent="0">
              <a:buNone/>
            </a:pPr>
            <a:r>
              <a:rPr lang="es-AR" dirty="0"/>
              <a:t>Evita los patrones oscuros de los videojuegos adictivos.</a:t>
            </a:r>
          </a:p>
          <a:p>
            <a:pPr marL="0" indent="0">
              <a:buNone/>
            </a:pPr>
            <a:r>
              <a:rPr lang="es-ES" dirty="0">
                <a:solidFill>
                  <a:srgbClr val="00B0F0"/>
                </a:solidFill>
                <a:hlinkClick r:id="rId2">
                  <a:extLst>
                    <a:ext uri="{A12FA001-AC4F-418D-AE19-62706E023703}">
                      <ahyp:hlinkClr xmlns:ahyp="http://schemas.microsoft.com/office/drawing/2018/hyperlinkcolor" val="tx"/>
                    </a:ext>
                  </a:extLst>
                </a:hlinkClick>
              </a:rPr>
              <a:t>https://www.darkpattern.games/</a:t>
            </a:r>
            <a:endParaRPr lang="es-ES" dirty="0">
              <a:solidFill>
                <a:srgbClr val="00B0F0"/>
              </a:solidFill>
            </a:endParaRPr>
          </a:p>
          <a:p>
            <a:pPr marL="0" indent="0">
              <a:buNone/>
            </a:pPr>
            <a:endParaRPr lang="es-AR" dirty="0"/>
          </a:p>
          <a:p>
            <a:pPr marL="0" indent="0">
              <a:buNone/>
            </a:pPr>
            <a:r>
              <a:rPr lang="es-AR" dirty="0"/>
              <a:t>Un sitio web de análisis de juegos dedicado a ayudarte a encontrar juegos que no usan trucos psicológicos para manipularte y convertirte en un jugador adicto. Descubre los patrones oscuros que los diseñadores de juegos usan para desperdiciar tu valioso tiempo y dinero.</a:t>
            </a:r>
            <a:endParaRPr lang="es-ES" dirty="0"/>
          </a:p>
          <a:p>
            <a:pPr marL="0" indent="0">
              <a:buNone/>
            </a:pPr>
            <a:endParaRPr lang="es-ES" dirty="0"/>
          </a:p>
          <a:p>
            <a:pPr marL="0" indent="0">
              <a:buNone/>
            </a:pPr>
            <a:endParaRPr lang="en-US" dirty="0"/>
          </a:p>
        </p:txBody>
      </p:sp>
    </p:spTree>
    <p:extLst>
      <p:ext uri="{BB962C8B-B14F-4D97-AF65-F5344CB8AC3E}">
        <p14:creationId xmlns:p14="http://schemas.microsoft.com/office/powerpoint/2010/main" val="103697974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pPr algn="ctr"/>
            <a:r>
              <a:rPr lang="es-AR" dirty="0"/>
              <a:t>Ética y juegos 3</a:t>
            </a:r>
            <a:endParaRPr lang="en-US" dirty="0"/>
          </a:p>
        </p:txBody>
      </p:sp>
      <p:sp>
        <p:nvSpPr>
          <p:cNvPr id="3" name="Marcador de contenido 2"/>
          <p:cNvSpPr>
            <a:spLocks noGrp="1"/>
          </p:cNvSpPr>
          <p:nvPr>
            <p:ph idx="1"/>
          </p:nvPr>
        </p:nvSpPr>
        <p:spPr/>
        <p:txBody>
          <a:bodyPr>
            <a:normAutofit/>
          </a:bodyPr>
          <a:lstStyle/>
          <a:p>
            <a:r>
              <a:rPr lang="en-US" b="1" dirty="0"/>
              <a:t>The Immoral Design of Diablo Immortal (</a:t>
            </a:r>
            <a:r>
              <a:rPr lang="en-US" b="1" dirty="0" err="1"/>
              <a:t>june</a:t>
            </a:r>
            <a:r>
              <a:rPr lang="en-US" b="1" dirty="0"/>
              <a:t>/2022)</a:t>
            </a:r>
          </a:p>
          <a:p>
            <a:pPr marL="0" indent="0">
              <a:buNone/>
            </a:pPr>
            <a:r>
              <a:rPr lang="en-US" dirty="0"/>
              <a:t>Diablo Immortal is a mobile and PC game based on Blizzard's long running Diablo series, it's basically a </a:t>
            </a:r>
            <a:r>
              <a:rPr lang="en-US" dirty="0" err="1"/>
              <a:t>gacha</a:t>
            </a:r>
            <a:r>
              <a:rPr lang="en-US" dirty="0"/>
              <a:t> game with a Diablo skin, it's undeniably fun, but the </a:t>
            </a:r>
            <a:r>
              <a:rPr lang="en-US" dirty="0" err="1"/>
              <a:t>monetisation</a:t>
            </a:r>
            <a:r>
              <a:rPr lang="en-US" dirty="0"/>
              <a:t>, is something else.</a:t>
            </a:r>
            <a:endParaRPr lang="en-US" b="1" dirty="0"/>
          </a:p>
          <a:p>
            <a:r>
              <a:rPr lang="es-ES" dirty="0">
                <a:solidFill>
                  <a:srgbClr val="00B0F0"/>
                </a:solidFill>
                <a:hlinkClick r:id="rId2">
                  <a:extLst>
                    <a:ext uri="{A12FA001-AC4F-418D-AE19-62706E023703}">
                      <ahyp:hlinkClr xmlns:ahyp="http://schemas.microsoft.com/office/drawing/2018/hyperlinkcolor" val="tx"/>
                    </a:ext>
                  </a:extLst>
                </a:hlinkClick>
              </a:rPr>
              <a:t>https://www.youtube.com/watch?v=o17lBUZgjTs</a:t>
            </a:r>
            <a:endParaRPr lang="es-ES" dirty="0">
              <a:solidFill>
                <a:srgbClr val="00B0F0"/>
              </a:solidFill>
            </a:endParaRPr>
          </a:p>
          <a:p>
            <a:pPr marL="0" indent="0">
              <a:buNone/>
            </a:pPr>
            <a:endParaRPr lang="es-ES" dirty="0"/>
          </a:p>
          <a:p>
            <a:pPr marL="0" indent="0">
              <a:buNone/>
            </a:pPr>
            <a:endParaRPr lang="en-US" dirty="0"/>
          </a:p>
        </p:txBody>
      </p:sp>
    </p:spTree>
    <p:extLst>
      <p:ext uri="{BB962C8B-B14F-4D97-AF65-F5344CB8AC3E}">
        <p14:creationId xmlns:p14="http://schemas.microsoft.com/office/powerpoint/2010/main" val="369194965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pPr algn="ctr"/>
            <a:r>
              <a:rPr lang="es-AR" dirty="0"/>
              <a:t>Ética en algoritmos</a:t>
            </a:r>
            <a:endParaRPr lang="en-US" dirty="0"/>
          </a:p>
        </p:txBody>
      </p:sp>
      <p:sp>
        <p:nvSpPr>
          <p:cNvPr id="3" name="Marcador de contenido 2"/>
          <p:cNvSpPr>
            <a:spLocks noGrp="1"/>
          </p:cNvSpPr>
          <p:nvPr>
            <p:ph idx="1"/>
          </p:nvPr>
        </p:nvSpPr>
        <p:spPr/>
        <p:txBody>
          <a:bodyPr/>
          <a:lstStyle/>
          <a:p>
            <a:pPr marL="0" indent="0">
              <a:buNone/>
            </a:pPr>
            <a:r>
              <a:rPr lang="en-US" dirty="0"/>
              <a:t>Como combater el </a:t>
            </a:r>
            <a:r>
              <a:rPr lang="en-US" dirty="0" err="1"/>
              <a:t>sesgo</a:t>
            </a:r>
            <a:r>
              <a:rPr lang="en-US" dirty="0"/>
              <a:t> de lo </a:t>
            </a:r>
            <a:r>
              <a:rPr lang="en-US" dirty="0" err="1"/>
              <a:t>algoritmos</a:t>
            </a:r>
            <a:endParaRPr lang="en-US" dirty="0"/>
          </a:p>
          <a:p>
            <a:r>
              <a:rPr lang="en-US" dirty="0">
                <a:solidFill>
                  <a:srgbClr val="00B0F0"/>
                </a:solidFill>
                <a:hlinkClick r:id="rId2">
                  <a:extLst>
                    <a:ext uri="{A12FA001-AC4F-418D-AE19-62706E023703}">
                      <ahyp:hlinkClr xmlns:ahyp="http://schemas.microsoft.com/office/drawing/2018/hyperlinkcolor" val="tx"/>
                    </a:ext>
                  </a:extLst>
                </a:hlinkClick>
              </a:rPr>
              <a:t>https://www.ted.com/talks/joy_buolamwini_how_i_m_fighting_bias_in_algorithms?language=es</a:t>
            </a:r>
            <a:endParaRPr lang="en-US" dirty="0">
              <a:solidFill>
                <a:srgbClr val="00B0F0"/>
              </a:solidFill>
            </a:endParaRPr>
          </a:p>
          <a:p>
            <a:pPr marL="0" indent="0">
              <a:buNone/>
            </a:pPr>
            <a:endParaRPr lang="en-US" dirty="0">
              <a:solidFill>
                <a:srgbClr val="00B0F0"/>
              </a:solidFill>
              <a:hlinkClick r:id="rId3">
                <a:extLst>
                  <a:ext uri="{A12FA001-AC4F-418D-AE19-62706E023703}">
                    <ahyp:hlinkClr xmlns:ahyp="http://schemas.microsoft.com/office/drawing/2018/hyperlinkcolor" val="tx"/>
                  </a:ext>
                </a:extLst>
              </a:hlinkClick>
            </a:endParaRPr>
          </a:p>
          <a:p>
            <a:pPr marL="0" indent="0">
              <a:buNone/>
            </a:pPr>
            <a:r>
              <a:rPr lang="es-AR" dirty="0" err="1">
                <a:solidFill>
                  <a:srgbClr val="00B0F0"/>
                </a:solidFill>
                <a:hlinkClick r:id="rId3">
                  <a:extLst>
                    <a:ext uri="{A12FA001-AC4F-418D-AE19-62706E023703}">
                      <ahyp:hlinkClr xmlns:ahyp="http://schemas.microsoft.com/office/drawing/2018/hyperlinkcolor" val="tx"/>
                    </a:ext>
                  </a:extLst>
                </a:hlinkClick>
              </a:rPr>
              <a:t>Weapons</a:t>
            </a:r>
            <a:r>
              <a:rPr lang="es-AR" dirty="0">
                <a:solidFill>
                  <a:srgbClr val="00B0F0"/>
                </a:solidFill>
                <a:hlinkClick r:id="rId3">
                  <a:extLst>
                    <a:ext uri="{A12FA001-AC4F-418D-AE19-62706E023703}">
                      <ahyp:hlinkClr xmlns:ahyp="http://schemas.microsoft.com/office/drawing/2018/hyperlinkcolor" val="tx"/>
                    </a:ext>
                  </a:extLst>
                </a:hlinkClick>
              </a:rPr>
              <a:t> of </a:t>
            </a:r>
            <a:r>
              <a:rPr lang="es-AR" dirty="0" err="1">
                <a:solidFill>
                  <a:srgbClr val="00B0F0"/>
                </a:solidFill>
                <a:hlinkClick r:id="rId3">
                  <a:extLst>
                    <a:ext uri="{A12FA001-AC4F-418D-AE19-62706E023703}">
                      <ahyp:hlinkClr xmlns:ahyp="http://schemas.microsoft.com/office/drawing/2018/hyperlinkcolor" val="tx"/>
                    </a:ext>
                  </a:extLst>
                </a:hlinkClick>
              </a:rPr>
              <a:t>Math</a:t>
            </a:r>
            <a:r>
              <a:rPr lang="es-AR" dirty="0">
                <a:solidFill>
                  <a:srgbClr val="00B0F0"/>
                </a:solidFill>
                <a:hlinkClick r:id="rId3">
                  <a:extLst>
                    <a:ext uri="{A12FA001-AC4F-418D-AE19-62706E023703}">
                      <ahyp:hlinkClr xmlns:ahyp="http://schemas.microsoft.com/office/drawing/2018/hyperlinkcolor" val="tx"/>
                    </a:ext>
                  </a:extLst>
                </a:hlinkClick>
              </a:rPr>
              <a:t> </a:t>
            </a:r>
            <a:r>
              <a:rPr lang="es-AR" dirty="0" err="1">
                <a:solidFill>
                  <a:srgbClr val="00B0F0"/>
                </a:solidFill>
                <a:hlinkClick r:id="rId3">
                  <a:extLst>
                    <a:ext uri="{A12FA001-AC4F-418D-AE19-62706E023703}">
                      <ahyp:hlinkClr xmlns:ahyp="http://schemas.microsoft.com/office/drawing/2018/hyperlinkcolor" val="tx"/>
                    </a:ext>
                  </a:extLst>
                </a:hlinkClick>
              </a:rPr>
              <a:t>Destruction</a:t>
            </a:r>
            <a:r>
              <a:rPr lang="es-AR" dirty="0">
                <a:solidFill>
                  <a:srgbClr val="00B0F0"/>
                </a:solidFill>
                <a:hlinkClick r:id="rId3">
                  <a:extLst>
                    <a:ext uri="{A12FA001-AC4F-418D-AE19-62706E023703}">
                      <ahyp:hlinkClr xmlns:ahyp="http://schemas.microsoft.com/office/drawing/2018/hyperlinkcolor" val="tx"/>
                    </a:ext>
                  </a:extLst>
                </a:hlinkClick>
              </a:rPr>
              <a:t>:</a:t>
            </a:r>
            <a:endParaRPr lang="en-US" dirty="0">
              <a:solidFill>
                <a:srgbClr val="00B0F0"/>
              </a:solidFill>
              <a:hlinkClick r:id="rId3">
                <a:extLst>
                  <a:ext uri="{A12FA001-AC4F-418D-AE19-62706E023703}">
                    <ahyp:hlinkClr xmlns:ahyp="http://schemas.microsoft.com/office/drawing/2018/hyperlinkcolor" val="tx"/>
                  </a:ext>
                </a:extLst>
              </a:hlinkClick>
            </a:endParaRPr>
          </a:p>
          <a:p>
            <a:r>
              <a:rPr lang="en-US" dirty="0">
                <a:solidFill>
                  <a:srgbClr val="00B0F0"/>
                </a:solidFill>
                <a:hlinkClick r:id="rId3">
                  <a:extLst>
                    <a:ext uri="{A12FA001-AC4F-418D-AE19-62706E023703}">
                      <ahyp:hlinkClr xmlns:ahyp="http://schemas.microsoft.com/office/drawing/2018/hyperlinkcolor" val="tx"/>
                    </a:ext>
                  </a:extLst>
                </a:hlinkClick>
              </a:rPr>
              <a:t>https://www.ted.com/talks/cathy_o_neil_the_era_of_blind_faith_in_big_data_must_end?language=es</a:t>
            </a:r>
            <a:endParaRPr lang="en-US" dirty="0">
              <a:solidFill>
                <a:srgbClr val="00B0F0"/>
              </a:solidFill>
            </a:endParaRPr>
          </a:p>
          <a:p>
            <a:endParaRPr lang="en-US" dirty="0"/>
          </a:p>
        </p:txBody>
      </p:sp>
    </p:spTree>
    <p:extLst>
      <p:ext uri="{BB962C8B-B14F-4D97-AF65-F5344CB8AC3E}">
        <p14:creationId xmlns:p14="http://schemas.microsoft.com/office/powerpoint/2010/main" val="390508426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pPr algn="ctr"/>
            <a:r>
              <a:rPr lang="es-AR" dirty="0" err="1"/>
              <a:t>Weapons</a:t>
            </a:r>
            <a:r>
              <a:rPr lang="es-AR" dirty="0"/>
              <a:t> </a:t>
            </a:r>
            <a:r>
              <a:rPr lang="es-AR" dirty="0" err="1"/>
              <a:t>of</a:t>
            </a:r>
            <a:r>
              <a:rPr lang="es-AR" dirty="0"/>
              <a:t> </a:t>
            </a:r>
            <a:r>
              <a:rPr lang="es-AR" dirty="0" err="1"/>
              <a:t>Math</a:t>
            </a:r>
            <a:r>
              <a:rPr lang="es-AR" dirty="0"/>
              <a:t> </a:t>
            </a:r>
            <a:r>
              <a:rPr lang="es-AR" dirty="0" err="1"/>
              <a:t>Destruction</a:t>
            </a:r>
            <a:endParaRPr lang="en-US" dirty="0"/>
          </a:p>
        </p:txBody>
      </p:sp>
      <p:sp>
        <p:nvSpPr>
          <p:cNvPr id="3" name="Marcador de contenido 2"/>
          <p:cNvSpPr>
            <a:spLocks noGrp="1"/>
          </p:cNvSpPr>
          <p:nvPr>
            <p:ph idx="1"/>
          </p:nvPr>
        </p:nvSpPr>
        <p:spPr/>
        <p:txBody>
          <a:bodyPr/>
          <a:lstStyle/>
          <a:p>
            <a:pPr marL="0" indent="0">
              <a:buNone/>
            </a:pPr>
            <a:r>
              <a:rPr lang="es-AR" b="1" dirty="0"/>
              <a:t>Tecnologías involucradas:</a:t>
            </a:r>
            <a:endParaRPr lang="es-AR" dirty="0"/>
          </a:p>
          <a:p>
            <a:pPr lvl="0"/>
            <a:r>
              <a:rPr lang="es-AR" b="1" dirty="0"/>
              <a:t>Algoritmos predictivos</a:t>
            </a:r>
            <a:r>
              <a:rPr lang="es-AR" dirty="0"/>
              <a:t>: Utilizados en sectores como educación, finanzas, empleo y justicia.</a:t>
            </a:r>
          </a:p>
          <a:p>
            <a:pPr lvl="0"/>
            <a:r>
              <a:rPr lang="es-AR" b="1" dirty="0"/>
              <a:t>Modelos de machine </a:t>
            </a:r>
            <a:r>
              <a:rPr lang="es-AR" b="1" dirty="0" err="1"/>
              <a:t>learning</a:t>
            </a:r>
            <a:r>
              <a:rPr lang="es-AR" dirty="0"/>
              <a:t>: Diseñados para analizar grandes volúmenes de datos y tomar decisiones basadas en patrones.</a:t>
            </a:r>
          </a:p>
          <a:p>
            <a:pPr lvl="0"/>
            <a:r>
              <a:rPr lang="es-AR" b="1" dirty="0"/>
              <a:t>Big Data</a:t>
            </a:r>
            <a:r>
              <a:rPr lang="es-AR" dirty="0"/>
              <a:t>: Amplio análisis de datos recopilados de diversas fuentes, muchas veces sin el consentimiento informado de los usuarios.</a:t>
            </a:r>
          </a:p>
          <a:p>
            <a:endParaRPr lang="en-US" dirty="0"/>
          </a:p>
        </p:txBody>
      </p:sp>
    </p:spTree>
    <p:extLst>
      <p:ext uri="{BB962C8B-B14F-4D97-AF65-F5344CB8AC3E}">
        <p14:creationId xmlns:p14="http://schemas.microsoft.com/office/powerpoint/2010/main" val="66582740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pPr algn="ctr"/>
            <a:r>
              <a:rPr lang="es-AR" dirty="0" err="1"/>
              <a:t>Weapons</a:t>
            </a:r>
            <a:r>
              <a:rPr lang="es-AR" dirty="0"/>
              <a:t> </a:t>
            </a:r>
            <a:r>
              <a:rPr lang="es-AR" dirty="0" err="1"/>
              <a:t>of</a:t>
            </a:r>
            <a:r>
              <a:rPr lang="es-AR" dirty="0"/>
              <a:t> </a:t>
            </a:r>
            <a:r>
              <a:rPr lang="es-AR" dirty="0" err="1"/>
              <a:t>Math</a:t>
            </a:r>
            <a:r>
              <a:rPr lang="es-AR" dirty="0"/>
              <a:t> </a:t>
            </a:r>
            <a:r>
              <a:rPr lang="es-AR" dirty="0" err="1"/>
              <a:t>Destruction</a:t>
            </a:r>
            <a:endParaRPr lang="en-US" dirty="0"/>
          </a:p>
        </p:txBody>
      </p:sp>
      <p:sp>
        <p:nvSpPr>
          <p:cNvPr id="3" name="Marcador de contenido 2"/>
          <p:cNvSpPr>
            <a:spLocks noGrp="1"/>
          </p:cNvSpPr>
          <p:nvPr>
            <p:ph idx="1"/>
          </p:nvPr>
        </p:nvSpPr>
        <p:spPr/>
        <p:txBody>
          <a:bodyPr>
            <a:normAutofit fontScale="92500" lnSpcReduction="20000"/>
          </a:bodyPr>
          <a:lstStyle/>
          <a:p>
            <a:pPr marL="0" indent="0">
              <a:buNone/>
            </a:pPr>
            <a:r>
              <a:rPr lang="es-AR" b="1" dirty="0"/>
              <a:t>Riesgos éticos planteados:</a:t>
            </a:r>
            <a:endParaRPr lang="es-AR" dirty="0"/>
          </a:p>
          <a:p>
            <a:pPr lvl="0"/>
            <a:r>
              <a:rPr lang="es-AR" b="1" dirty="0"/>
              <a:t>Falta de transparencia</a:t>
            </a:r>
            <a:r>
              <a:rPr lang="es-AR" dirty="0"/>
              <a:t>: Los algoritmos suelen ser cajas negras, lo que dificulta comprender cómo se toman las decisiones.</a:t>
            </a:r>
          </a:p>
          <a:p>
            <a:pPr lvl="0"/>
            <a:r>
              <a:rPr lang="es-AR" b="1" dirty="0"/>
              <a:t>Discriminación sistémica</a:t>
            </a:r>
            <a:r>
              <a:rPr lang="es-AR" dirty="0"/>
              <a:t>: Los modelos pueden perpetuar o amplificar sesgos sociales existentes debido a datos históricos sesgados.</a:t>
            </a:r>
          </a:p>
          <a:p>
            <a:pPr lvl="0"/>
            <a:r>
              <a:rPr lang="es-AR" b="1" dirty="0"/>
              <a:t>Impacto negativo en poblaciones vulnerables</a:t>
            </a:r>
            <a:r>
              <a:rPr lang="es-AR" dirty="0"/>
              <a:t>: Las decisiones algorítmicas afectan de manera desproporcionada a comunidades marginadas.</a:t>
            </a:r>
          </a:p>
          <a:p>
            <a:pPr lvl="0"/>
            <a:r>
              <a:rPr lang="es-AR" b="1" dirty="0"/>
              <a:t>Falsa objetividad</a:t>
            </a:r>
            <a:r>
              <a:rPr lang="es-AR" dirty="0"/>
              <a:t>: Se confía en los resultados como "neutrales", ignorando los sesgos inherentes en el diseño y los datos.</a:t>
            </a:r>
          </a:p>
          <a:p>
            <a:pPr lvl="0"/>
            <a:r>
              <a:rPr lang="es-AR" b="1" dirty="0"/>
              <a:t>Falta de responsabilidad</a:t>
            </a:r>
            <a:r>
              <a:rPr lang="es-AR" dirty="0"/>
              <a:t>: Los diseñadores de algoritmos a menudo no rinden cuentas por los daños causados.</a:t>
            </a:r>
          </a:p>
          <a:p>
            <a:endParaRPr lang="en-US" dirty="0"/>
          </a:p>
        </p:txBody>
      </p:sp>
    </p:spTree>
    <p:extLst>
      <p:ext uri="{BB962C8B-B14F-4D97-AF65-F5344CB8AC3E}">
        <p14:creationId xmlns:p14="http://schemas.microsoft.com/office/powerpoint/2010/main" val="111051308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pPr algn="ctr"/>
            <a:r>
              <a:rPr lang="es-AR" dirty="0"/>
              <a:t>Ética en algoritmos 2</a:t>
            </a:r>
            <a:endParaRPr lang="en-US" dirty="0"/>
          </a:p>
        </p:txBody>
      </p:sp>
      <p:sp>
        <p:nvSpPr>
          <p:cNvPr id="3" name="Marcador de contenido 2"/>
          <p:cNvSpPr>
            <a:spLocks noGrp="1"/>
          </p:cNvSpPr>
          <p:nvPr>
            <p:ph idx="1"/>
          </p:nvPr>
        </p:nvSpPr>
        <p:spPr/>
        <p:txBody>
          <a:bodyPr/>
          <a:lstStyle/>
          <a:p>
            <a:pPr marL="0" indent="0">
              <a:buNone/>
            </a:pPr>
            <a:r>
              <a:rPr lang="en-US" dirty="0" err="1"/>
              <a:t>Etica</a:t>
            </a:r>
            <a:r>
              <a:rPr lang="en-US" dirty="0"/>
              <a:t> </a:t>
            </a:r>
            <a:r>
              <a:rPr lang="en-US" dirty="0" err="1"/>
              <a:t>en</a:t>
            </a:r>
            <a:r>
              <a:rPr lang="en-US" dirty="0"/>
              <a:t> </a:t>
            </a:r>
            <a:r>
              <a:rPr lang="en-US" dirty="0" err="1"/>
              <a:t>Algortimos</a:t>
            </a:r>
            <a:r>
              <a:rPr lang="en-US" dirty="0"/>
              <a:t> y </a:t>
            </a:r>
            <a:r>
              <a:rPr lang="en-US" dirty="0" err="1"/>
              <a:t>Datos</a:t>
            </a:r>
            <a:r>
              <a:rPr lang="en-US" dirty="0"/>
              <a:t> </a:t>
            </a:r>
            <a:r>
              <a:rPr lang="en-US" dirty="0" err="1"/>
              <a:t>como</a:t>
            </a:r>
            <a:r>
              <a:rPr lang="en-US" dirty="0"/>
              <a:t> parte de </a:t>
            </a:r>
            <a:r>
              <a:rPr lang="en-US" dirty="0" err="1"/>
              <a:t>losprogramas</a:t>
            </a:r>
            <a:r>
              <a:rPr lang="en-US" dirty="0"/>
              <a:t> de </a:t>
            </a:r>
            <a:r>
              <a:rPr lang="en-US" dirty="0" err="1"/>
              <a:t>alfabetizacion</a:t>
            </a:r>
            <a:r>
              <a:rPr lang="en-US" dirty="0"/>
              <a:t> digital:</a:t>
            </a:r>
          </a:p>
          <a:p>
            <a:pPr marL="0" indent="0">
              <a:buNone/>
            </a:pPr>
            <a:r>
              <a:rPr lang="en-US" dirty="0">
                <a:solidFill>
                  <a:srgbClr val="00B0F0"/>
                </a:solidFill>
                <a:hlinkClick r:id="rId2">
                  <a:extLst>
                    <a:ext uri="{A12FA001-AC4F-418D-AE19-62706E023703}">
                      <ahyp:hlinkClr xmlns:ahyp="http://schemas.microsoft.com/office/drawing/2018/hyperlinkcolor" val="tx"/>
                    </a:ext>
                  </a:extLst>
                </a:hlinkClick>
              </a:rPr>
              <a:t>https://digital-skills-jobs.europa.eu/en/opportunities/training/data-and-algorithm-ethics</a:t>
            </a:r>
            <a:endParaRPr lang="en-US" dirty="0">
              <a:solidFill>
                <a:srgbClr val="00B0F0"/>
              </a:solidFill>
            </a:endParaRPr>
          </a:p>
          <a:p>
            <a:pPr marL="0" indent="0">
              <a:buNone/>
            </a:pPr>
            <a:endParaRPr lang="es-AR" dirty="0">
              <a:hlinkClick r:id="rId3"/>
            </a:endParaRPr>
          </a:p>
          <a:p>
            <a:pPr marL="0" indent="0">
              <a:buNone/>
            </a:pPr>
            <a:r>
              <a:rPr lang="es-AR" sz="2400" dirty="0">
                <a:latin typeface="Arial" panose="020B0604020202020204" pitchFamily="34" charset="0"/>
                <a:cs typeface="Arial" panose="020B0604020202020204" pitchFamily="34" charset="0"/>
              </a:rPr>
              <a:t>El uso responsable de Algoritmos enfatiza la explicación:</a:t>
            </a:r>
            <a:endParaRPr lang="en-US" sz="2400" dirty="0">
              <a:latin typeface="Arial" panose="020B0604020202020204" pitchFamily="34" charset="0"/>
              <a:cs typeface="Arial" panose="020B0604020202020204" pitchFamily="34" charset="0"/>
              <a:hlinkClick r:id="rId3"/>
            </a:endParaRPr>
          </a:p>
          <a:p>
            <a:r>
              <a:rPr lang="en-US" dirty="0">
                <a:solidFill>
                  <a:srgbClr val="00B0F0"/>
                </a:solidFill>
                <a:hlinkClick r:id="rId4">
                  <a:extLst>
                    <a:ext uri="{A12FA001-AC4F-418D-AE19-62706E023703}">
                      <ahyp:hlinkClr xmlns:ahyp="http://schemas.microsoft.com/office/drawing/2018/hyperlinkcolor" val="tx"/>
                    </a:ext>
                  </a:extLst>
                </a:hlinkClick>
              </a:rPr>
              <a:t>https://www.thoughtworks.com/insights/blog/ethical-tech/use-algorithms-responsibly-prioritize-explainability</a:t>
            </a:r>
            <a:endParaRPr lang="en-US" dirty="0">
              <a:solidFill>
                <a:srgbClr val="00B0F0"/>
              </a:solidFill>
            </a:endParaRPr>
          </a:p>
          <a:p>
            <a:endParaRPr lang="en-US" dirty="0"/>
          </a:p>
        </p:txBody>
      </p:sp>
    </p:spTree>
    <p:extLst>
      <p:ext uri="{BB962C8B-B14F-4D97-AF65-F5344CB8AC3E}">
        <p14:creationId xmlns:p14="http://schemas.microsoft.com/office/powerpoint/2010/main" val="28364022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pPr algn="ctr"/>
            <a:r>
              <a:rPr lang="es-AR" dirty="0"/>
              <a:t>Ética en algoritmos 2</a:t>
            </a:r>
            <a:endParaRPr lang="en-US" dirty="0"/>
          </a:p>
        </p:txBody>
      </p:sp>
      <p:sp>
        <p:nvSpPr>
          <p:cNvPr id="3" name="Marcador de contenido 2"/>
          <p:cNvSpPr>
            <a:spLocks noGrp="1"/>
          </p:cNvSpPr>
          <p:nvPr>
            <p:ph idx="1"/>
          </p:nvPr>
        </p:nvSpPr>
        <p:spPr/>
        <p:txBody>
          <a:bodyPr>
            <a:normAutofit fontScale="85000" lnSpcReduction="20000"/>
          </a:bodyPr>
          <a:lstStyle/>
          <a:p>
            <a:pPr marL="0" indent="0">
              <a:buNone/>
            </a:pPr>
            <a:r>
              <a:rPr lang="en-US" b="1" dirty="0"/>
              <a:t>Computer science ethics education: The case for ethics integration in the tech classroom</a:t>
            </a:r>
          </a:p>
          <a:p>
            <a:r>
              <a:rPr lang="en-US" dirty="0">
                <a:solidFill>
                  <a:srgbClr val="00B0F0"/>
                </a:solidFill>
                <a:hlinkClick r:id="rId2">
                  <a:extLst>
                    <a:ext uri="{A12FA001-AC4F-418D-AE19-62706E023703}">
                      <ahyp:hlinkClr xmlns:ahyp="http://schemas.microsoft.com/office/drawing/2018/hyperlinkcolor" val="tx"/>
                    </a:ext>
                  </a:extLst>
                </a:hlinkClick>
              </a:rPr>
              <a:t>https://www.youtube.com/watch?v=LYRKqnLeIDo</a:t>
            </a:r>
            <a:endParaRPr lang="en-US" dirty="0">
              <a:solidFill>
                <a:srgbClr val="00B0F0"/>
              </a:solidFill>
            </a:endParaRPr>
          </a:p>
          <a:p>
            <a:pPr marL="0" indent="0">
              <a:buNone/>
            </a:pPr>
            <a:r>
              <a:rPr lang="en-US" b="1" dirty="0"/>
              <a:t>Considering the “Why” and Not Just the “How” of Computer Science</a:t>
            </a:r>
          </a:p>
          <a:p>
            <a:r>
              <a:rPr lang="en-US" dirty="0">
                <a:solidFill>
                  <a:srgbClr val="00B0F0"/>
                </a:solidFill>
                <a:hlinkClick r:id="rId3">
                  <a:extLst>
                    <a:ext uri="{A12FA001-AC4F-418D-AE19-62706E023703}">
                      <ahyp:hlinkClr xmlns:ahyp="http://schemas.microsoft.com/office/drawing/2018/hyperlinkcolor" val="tx"/>
                    </a:ext>
                  </a:extLst>
                </a:hlinkClick>
              </a:rPr>
              <a:t>https://www.bowdoin.edu/news/2021/12/considering-the-why-and-not-just-the-how-of-computer-science.html</a:t>
            </a:r>
            <a:endParaRPr lang="en-US" dirty="0">
              <a:solidFill>
                <a:srgbClr val="00B0F0"/>
              </a:solidFill>
            </a:endParaRPr>
          </a:p>
          <a:p>
            <a:pPr marL="0" indent="0">
              <a:buNone/>
            </a:pPr>
            <a:r>
              <a:rPr lang="en-US" b="1" dirty="0"/>
              <a:t>Ethical Reasoning for Computer Scientists</a:t>
            </a:r>
          </a:p>
          <a:p>
            <a:r>
              <a:rPr lang="en-US" dirty="0">
                <a:solidFill>
                  <a:srgbClr val="00B0F0"/>
                </a:solidFill>
                <a:hlinkClick r:id="rId4">
                  <a:extLst>
                    <a:ext uri="{A12FA001-AC4F-418D-AE19-62706E023703}">
                      <ahyp:hlinkClr xmlns:ahyp="http://schemas.microsoft.com/office/drawing/2018/hyperlinkcolor" val="tx"/>
                    </a:ext>
                  </a:extLst>
                </a:hlinkClick>
              </a:rPr>
              <a:t>https://www.youtube.com/watch?v=yoFpng7vhJY</a:t>
            </a:r>
            <a:endParaRPr lang="en-US" dirty="0">
              <a:solidFill>
                <a:srgbClr val="00B0F0"/>
              </a:solidFill>
            </a:endParaRPr>
          </a:p>
          <a:p>
            <a:pPr marL="0" indent="0">
              <a:buNone/>
            </a:pPr>
            <a:r>
              <a:rPr lang="es-AR" b="1" dirty="0"/>
              <a:t>Ética en Datos</a:t>
            </a:r>
            <a:endParaRPr lang="en-US" b="1" dirty="0"/>
          </a:p>
          <a:p>
            <a:pPr marL="0" indent="0">
              <a:buNone/>
            </a:pPr>
            <a:r>
              <a:rPr lang="en-US" dirty="0">
                <a:solidFill>
                  <a:srgbClr val="00B0F0"/>
                </a:solidFill>
                <a:hlinkClick r:id="rId5">
                  <a:extLst>
                    <a:ext uri="{A12FA001-AC4F-418D-AE19-62706E023703}">
                      <ahyp:hlinkClr xmlns:ahyp="http://schemas.microsoft.com/office/drawing/2018/hyperlinkcolor" val="tx"/>
                    </a:ext>
                  </a:extLst>
                </a:hlinkClick>
              </a:rPr>
              <a:t>https://indica.nl/blog/2022/12/7/data-ethics</a:t>
            </a:r>
            <a:endParaRPr lang="en-US" dirty="0">
              <a:solidFill>
                <a:srgbClr val="00B0F0"/>
              </a:solidFill>
            </a:endParaRPr>
          </a:p>
          <a:p>
            <a:pPr marL="0" indent="0">
              <a:buNone/>
            </a:pPr>
            <a:r>
              <a:rPr lang="en-US" dirty="0">
                <a:solidFill>
                  <a:srgbClr val="00B0F0"/>
                </a:solidFill>
                <a:hlinkClick r:id="rId6">
                  <a:extLst>
                    <a:ext uri="{A12FA001-AC4F-418D-AE19-62706E023703}">
                      <ahyp:hlinkClr xmlns:ahyp="http://schemas.microsoft.com/office/drawing/2018/hyperlinkcolor" val="tx"/>
                    </a:ext>
                  </a:extLst>
                </a:hlinkClick>
              </a:rPr>
              <a:t>https://www.itresourcescorp.com/big-data-ethics-framework/</a:t>
            </a:r>
            <a:endParaRPr lang="en-US" dirty="0">
              <a:solidFill>
                <a:srgbClr val="00B0F0"/>
              </a:solidFill>
            </a:endParaRPr>
          </a:p>
          <a:p>
            <a:pPr marL="0" indent="0">
              <a:buNone/>
            </a:pPr>
            <a:endParaRPr lang="en-US" dirty="0"/>
          </a:p>
        </p:txBody>
      </p:sp>
    </p:spTree>
    <p:extLst>
      <p:ext uri="{BB962C8B-B14F-4D97-AF65-F5344CB8AC3E}">
        <p14:creationId xmlns:p14="http://schemas.microsoft.com/office/powerpoint/2010/main" val="135992610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pPr algn="ctr"/>
            <a:r>
              <a:rPr lang="es-AR" sz="3200" b="1" dirty="0"/>
              <a:t>El sesgo algorítmico y el enfoque del diseño sensible al valor</a:t>
            </a:r>
            <a:endParaRPr lang="en-US" sz="3200" dirty="0"/>
          </a:p>
        </p:txBody>
      </p:sp>
      <p:sp>
        <p:nvSpPr>
          <p:cNvPr id="3" name="Marcador de contenido 2"/>
          <p:cNvSpPr>
            <a:spLocks noGrp="1"/>
          </p:cNvSpPr>
          <p:nvPr>
            <p:ph idx="1"/>
          </p:nvPr>
        </p:nvSpPr>
        <p:spPr/>
        <p:txBody>
          <a:bodyPr>
            <a:normAutofit fontScale="92500" lnSpcReduction="10000"/>
          </a:bodyPr>
          <a:lstStyle/>
          <a:p>
            <a:r>
              <a:rPr lang="en-US" dirty="0">
                <a:solidFill>
                  <a:srgbClr val="00B0F0"/>
                </a:solidFill>
                <a:hlinkClick r:id="rId2">
                  <a:extLst>
                    <a:ext uri="{A12FA001-AC4F-418D-AE19-62706E023703}">
                      <ahyp:hlinkClr xmlns:ahyp="http://schemas.microsoft.com/office/drawing/2018/hyperlinkcolor" val="tx"/>
                    </a:ext>
                  </a:extLst>
                </a:hlinkClick>
              </a:rPr>
              <a:t>https://revistalatam.digital/article/22tr02/</a:t>
            </a:r>
            <a:endParaRPr lang="en-US" dirty="0">
              <a:solidFill>
                <a:srgbClr val="00B0F0"/>
              </a:solidFill>
            </a:endParaRPr>
          </a:p>
          <a:p>
            <a:pPr marL="0" indent="0">
              <a:buNone/>
            </a:pPr>
            <a:r>
              <a:rPr lang="es-AR" b="1" dirty="0"/>
              <a:t>1. El problema del sesgo algorítmico</a:t>
            </a:r>
          </a:p>
          <a:p>
            <a:r>
              <a:rPr lang="es-AR" dirty="0"/>
              <a:t>Los algoritmos no son neutrales; pueden amplificar y perpetuar prejuicios sociales existentes.</a:t>
            </a:r>
          </a:p>
          <a:p>
            <a:r>
              <a:rPr lang="es-AR" dirty="0"/>
              <a:t>Ejemplos de sesgo: el caso de COMPAS en EE.UU., que sobreestimó el riesgo de reincidencia de afrodescendientes.</a:t>
            </a:r>
          </a:p>
          <a:p>
            <a:r>
              <a:rPr lang="es-AR" dirty="0"/>
              <a:t>Se distinguen tres tipos de sesgos:</a:t>
            </a:r>
          </a:p>
          <a:p>
            <a:pPr lvl="1"/>
            <a:r>
              <a:rPr lang="es-AR" b="1" dirty="0"/>
              <a:t>Preexistente:</a:t>
            </a:r>
            <a:r>
              <a:rPr lang="es-AR" dirty="0"/>
              <a:t> Originado en instituciones y prejuicios sociales.</a:t>
            </a:r>
          </a:p>
          <a:p>
            <a:pPr lvl="1"/>
            <a:r>
              <a:rPr lang="es-AR" b="1" dirty="0"/>
              <a:t>Técnico:</a:t>
            </a:r>
            <a:r>
              <a:rPr lang="es-AR" dirty="0"/>
              <a:t> Derivado de limitaciones o decisiones técnicas.</a:t>
            </a:r>
          </a:p>
          <a:p>
            <a:pPr lvl="1"/>
            <a:r>
              <a:rPr lang="es-AR" b="1" dirty="0"/>
              <a:t>Emergente:</a:t>
            </a:r>
            <a:r>
              <a:rPr lang="es-AR" dirty="0"/>
              <a:t> Surge en el uso, debido a valores cambiantes o desajustes contextuales.</a:t>
            </a:r>
          </a:p>
          <a:p>
            <a:pPr marL="0" indent="0">
              <a:buNone/>
            </a:pPr>
            <a:endParaRPr lang="en-US" b="1" dirty="0"/>
          </a:p>
        </p:txBody>
      </p:sp>
    </p:spTree>
    <p:extLst>
      <p:ext uri="{BB962C8B-B14F-4D97-AF65-F5344CB8AC3E}">
        <p14:creationId xmlns:p14="http://schemas.microsoft.com/office/powerpoint/2010/main" val="380878434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pPr algn="ctr"/>
            <a:r>
              <a:rPr lang="es-AR" b="1" dirty="0"/>
              <a:t>El sesgo algorítmico y el enfoque del diseño sensible al valor</a:t>
            </a:r>
            <a:endParaRPr lang="en-US" dirty="0"/>
          </a:p>
        </p:txBody>
      </p:sp>
      <p:sp>
        <p:nvSpPr>
          <p:cNvPr id="3" name="Marcador de contenido 2"/>
          <p:cNvSpPr>
            <a:spLocks noGrp="1"/>
          </p:cNvSpPr>
          <p:nvPr>
            <p:ph idx="1"/>
          </p:nvPr>
        </p:nvSpPr>
        <p:spPr/>
        <p:txBody>
          <a:bodyPr>
            <a:normAutofit fontScale="70000" lnSpcReduction="20000"/>
          </a:bodyPr>
          <a:lstStyle/>
          <a:p>
            <a:r>
              <a:rPr lang="es-AR" b="1" dirty="0"/>
              <a:t>2. El Diseño Sensible al Valor (VSD)</a:t>
            </a:r>
          </a:p>
          <a:p>
            <a:r>
              <a:rPr lang="es-AR" b="1" dirty="0"/>
              <a:t>Metodología:</a:t>
            </a:r>
            <a:endParaRPr lang="es-AR" dirty="0"/>
          </a:p>
          <a:p>
            <a:r>
              <a:rPr lang="es-AR" b="1" dirty="0"/>
              <a:t>Conceptual:</a:t>
            </a:r>
            <a:r>
              <a:rPr lang="es-AR" dirty="0"/>
              <a:t> Identifica valores humanos relevantes y actores afectados.</a:t>
            </a:r>
          </a:p>
          <a:p>
            <a:r>
              <a:rPr lang="es-AR" b="1" dirty="0"/>
              <a:t>Empírica:</a:t>
            </a:r>
            <a:r>
              <a:rPr lang="es-AR" dirty="0"/>
              <a:t> Estudia cómo los valores son percibidos y priorizados.</a:t>
            </a:r>
          </a:p>
          <a:p>
            <a:r>
              <a:rPr lang="es-AR" b="1" dirty="0"/>
              <a:t>Técnica:</a:t>
            </a:r>
            <a:r>
              <a:rPr lang="es-AR" dirty="0"/>
              <a:t> Diseña sistemas para integrar valores como privacidad, equidad y transparencia.</a:t>
            </a:r>
          </a:p>
          <a:p>
            <a:r>
              <a:rPr lang="es-AR" b="1" dirty="0"/>
              <a:t>FAT/ML (</a:t>
            </a:r>
            <a:r>
              <a:rPr lang="es-AR" b="1" dirty="0" err="1"/>
              <a:t>Fairness</a:t>
            </a:r>
            <a:r>
              <a:rPr lang="es-AR" b="1" dirty="0"/>
              <a:t>, </a:t>
            </a:r>
            <a:r>
              <a:rPr lang="es-AR" b="1" dirty="0" err="1"/>
              <a:t>Accountability</a:t>
            </a:r>
            <a:r>
              <a:rPr lang="es-AR" b="1" dirty="0"/>
              <a:t>, </a:t>
            </a:r>
            <a:r>
              <a:rPr lang="es-AR" b="1" dirty="0" err="1"/>
              <a:t>Transparency</a:t>
            </a:r>
            <a:r>
              <a:rPr lang="es-AR" b="1" dirty="0"/>
              <a:t> in Machine </a:t>
            </a:r>
            <a:r>
              <a:rPr lang="es-AR" b="1" dirty="0" err="1"/>
              <a:t>Learning</a:t>
            </a:r>
            <a:r>
              <a:rPr lang="es-AR" b="1" dirty="0"/>
              <a:t>):</a:t>
            </a:r>
            <a:endParaRPr lang="es-AR" dirty="0"/>
          </a:p>
          <a:p>
            <a:r>
              <a:rPr lang="es-AR" dirty="0"/>
              <a:t>Iniciativa destacada que fomenta el diseño ético en el aprendizaje automático.</a:t>
            </a:r>
          </a:p>
          <a:p>
            <a:r>
              <a:rPr lang="es-AR" dirty="0"/>
              <a:t>Ofrece un marco para abordar el sesgo y garantizar decisiones más justas en los sistemas algorítmicos.</a:t>
            </a:r>
          </a:p>
          <a:p>
            <a:r>
              <a:rPr lang="es-AR" b="1" dirty="0"/>
              <a:t>Objetivos del VSD:</a:t>
            </a:r>
            <a:endParaRPr lang="es-AR" dirty="0"/>
          </a:p>
          <a:p>
            <a:r>
              <a:rPr lang="es-AR" dirty="0"/>
              <a:t>Mitigar sesgos en sistemas existentes.</a:t>
            </a:r>
          </a:p>
          <a:p>
            <a:r>
              <a:rPr lang="es-AR" dirty="0"/>
              <a:t>Crear tecnologías éticas que consideren valores deseados.</a:t>
            </a:r>
          </a:p>
          <a:p>
            <a:pPr lvl="1"/>
            <a:endParaRPr lang="es-AR" dirty="0"/>
          </a:p>
          <a:p>
            <a:pPr marL="0" indent="0">
              <a:buNone/>
            </a:pPr>
            <a:endParaRPr lang="en-US" b="1" dirty="0"/>
          </a:p>
        </p:txBody>
      </p:sp>
    </p:spTree>
    <p:extLst>
      <p:ext uri="{BB962C8B-B14F-4D97-AF65-F5344CB8AC3E}">
        <p14:creationId xmlns:p14="http://schemas.microsoft.com/office/powerpoint/2010/main" val="155734025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pPr algn="ctr"/>
            <a:r>
              <a:rPr lang="es-AR" b="1" dirty="0"/>
              <a:t>El sesgo algorítmico y el enfoque del diseño sensible al valor</a:t>
            </a:r>
            <a:endParaRPr lang="en-US" dirty="0"/>
          </a:p>
        </p:txBody>
      </p:sp>
      <p:sp>
        <p:nvSpPr>
          <p:cNvPr id="3" name="Marcador de contenido 2"/>
          <p:cNvSpPr>
            <a:spLocks noGrp="1"/>
          </p:cNvSpPr>
          <p:nvPr>
            <p:ph idx="1"/>
          </p:nvPr>
        </p:nvSpPr>
        <p:spPr/>
        <p:txBody>
          <a:bodyPr>
            <a:normAutofit/>
          </a:bodyPr>
          <a:lstStyle/>
          <a:p>
            <a:r>
              <a:rPr lang="es-AR" b="1" dirty="0"/>
              <a:t>3. Sesgo y equidad en el aprendizaje automático</a:t>
            </a:r>
          </a:p>
          <a:p>
            <a:r>
              <a:rPr lang="es-AR" dirty="0"/>
              <a:t>El aprendizaje automático puede reproducir sesgos a través de:</a:t>
            </a:r>
          </a:p>
          <a:p>
            <a:pPr lvl="1"/>
            <a:r>
              <a:rPr lang="es-AR" dirty="0"/>
              <a:t>Conjuntos de datos sesgados.</a:t>
            </a:r>
          </a:p>
          <a:p>
            <a:pPr lvl="1"/>
            <a:r>
              <a:rPr lang="es-AR" dirty="0"/>
              <a:t>Elecciones subjetivas en el diseño de modelos.</a:t>
            </a:r>
          </a:p>
          <a:p>
            <a:pPr lvl="1"/>
            <a:r>
              <a:rPr lang="es-AR" dirty="0"/>
              <a:t>Relaciones indirectas entre datos y características protegidas.</a:t>
            </a:r>
          </a:p>
          <a:p>
            <a:r>
              <a:rPr lang="es-AR" dirty="0"/>
              <a:t>Investigadores proponen métricas y restricciones para mejorar la equidad algorítmica.</a:t>
            </a:r>
          </a:p>
          <a:p>
            <a:r>
              <a:rPr lang="es-AR" dirty="0"/>
              <a:t>FAT/ML (</a:t>
            </a:r>
            <a:r>
              <a:rPr lang="es-AR" dirty="0" err="1"/>
              <a:t>Fairness</a:t>
            </a:r>
            <a:r>
              <a:rPr lang="es-AR" dirty="0"/>
              <a:t>, </a:t>
            </a:r>
            <a:r>
              <a:rPr lang="es-AR" dirty="0" err="1"/>
              <a:t>Accountability</a:t>
            </a:r>
            <a:r>
              <a:rPr lang="es-AR" dirty="0"/>
              <a:t>, </a:t>
            </a:r>
            <a:r>
              <a:rPr lang="es-AR" dirty="0" err="1"/>
              <a:t>Transparency</a:t>
            </a:r>
            <a:r>
              <a:rPr lang="es-AR" dirty="0"/>
              <a:t> in Machine </a:t>
            </a:r>
            <a:r>
              <a:rPr lang="es-AR" dirty="0" err="1"/>
              <a:t>Learning</a:t>
            </a:r>
            <a:r>
              <a:rPr lang="es-AR" dirty="0"/>
              <a:t>) fomenta metodologías éticas en el diseño.</a:t>
            </a:r>
          </a:p>
          <a:p>
            <a:pPr marL="0" indent="0">
              <a:buNone/>
            </a:pPr>
            <a:endParaRPr lang="en-US" b="1" dirty="0"/>
          </a:p>
        </p:txBody>
      </p:sp>
    </p:spTree>
    <p:extLst>
      <p:ext uri="{BB962C8B-B14F-4D97-AF65-F5344CB8AC3E}">
        <p14:creationId xmlns:p14="http://schemas.microsoft.com/office/powerpoint/2010/main" val="219969659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pPr algn="ctr"/>
            <a:r>
              <a:rPr lang="es-AR" b="1" dirty="0"/>
              <a:t>El sesgo algorítmico y el enfoque del diseño sensible al valor</a:t>
            </a:r>
            <a:endParaRPr lang="en-US" dirty="0"/>
          </a:p>
        </p:txBody>
      </p:sp>
      <p:sp>
        <p:nvSpPr>
          <p:cNvPr id="3" name="Marcador de contenido 2"/>
          <p:cNvSpPr>
            <a:spLocks noGrp="1"/>
          </p:cNvSpPr>
          <p:nvPr>
            <p:ph idx="1"/>
          </p:nvPr>
        </p:nvSpPr>
        <p:spPr/>
        <p:txBody>
          <a:bodyPr>
            <a:normAutofit fontScale="92500" lnSpcReduction="20000"/>
          </a:bodyPr>
          <a:lstStyle/>
          <a:p>
            <a:r>
              <a:rPr lang="es-AR" b="1" dirty="0"/>
              <a:t>4. Retos y oportunidades del VSD</a:t>
            </a:r>
          </a:p>
          <a:p>
            <a:r>
              <a:rPr lang="es-AR" b="1" dirty="0"/>
              <a:t>Críticas:</a:t>
            </a:r>
            <a:r>
              <a:rPr lang="es-AR" dirty="0"/>
              <a:t> Se utiliza de manera limitada y fragmentaria, ignorando algunos principios clave como la interdisciplinariedad.</a:t>
            </a:r>
          </a:p>
          <a:p>
            <a:r>
              <a:rPr lang="es-AR" b="1" dirty="0"/>
              <a:t>Potencial:</a:t>
            </a:r>
            <a:r>
              <a:rPr lang="es-AR" dirty="0"/>
              <a:t> Contribuir a diseñar sistemas que consideren no solo los valores técnicos, sino también los sociales y culturales.</a:t>
            </a:r>
          </a:p>
          <a:p>
            <a:r>
              <a:rPr lang="es-AR" b="1" dirty="0"/>
              <a:t>Relación con sesgos cognitivos:</a:t>
            </a:r>
            <a:r>
              <a:rPr lang="es-AR" dirty="0"/>
              <a:t> Los sistemas pueden perpetuar sesgos humanos o ayudar a mitigarlos si son diseñados correctamente.</a:t>
            </a:r>
          </a:p>
          <a:p>
            <a:r>
              <a:rPr lang="es-AR" b="1" dirty="0"/>
              <a:t>Conclusión</a:t>
            </a:r>
          </a:p>
          <a:p>
            <a:r>
              <a:rPr lang="es-AR" dirty="0"/>
              <a:t>Es crucial abordar los sesgos algorítmicos no solo desde el diseño técnico, sino también desde una perspectiva social y ética más amplia. El VSD ofrece herramientas para integrar valores humanos en el diseño tecnológico, contribuyendo a sistemas más justos y responsables.</a:t>
            </a:r>
          </a:p>
          <a:p>
            <a:pPr marL="0" indent="0">
              <a:buNone/>
            </a:pPr>
            <a:endParaRPr lang="en-US" b="1" dirty="0"/>
          </a:p>
        </p:txBody>
      </p:sp>
    </p:spTree>
    <p:extLst>
      <p:ext uri="{BB962C8B-B14F-4D97-AF65-F5344CB8AC3E}">
        <p14:creationId xmlns:p14="http://schemas.microsoft.com/office/powerpoint/2010/main" val="298611296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pPr algn="ctr"/>
            <a:r>
              <a:rPr lang="en-US" b="1" dirty="0"/>
              <a:t>The great Hack (nada es privado) </a:t>
            </a:r>
            <a:endParaRPr lang="es-ES" b="1" dirty="0"/>
          </a:p>
        </p:txBody>
      </p:sp>
      <p:sp>
        <p:nvSpPr>
          <p:cNvPr id="3" name="Marcador de contenido 2"/>
          <p:cNvSpPr>
            <a:spLocks noGrp="1"/>
          </p:cNvSpPr>
          <p:nvPr>
            <p:ph idx="1"/>
          </p:nvPr>
        </p:nvSpPr>
        <p:spPr>
          <a:xfrm>
            <a:off x="680320" y="2083655"/>
            <a:ext cx="9613861" cy="3599316"/>
          </a:xfrm>
        </p:spPr>
        <p:txBody>
          <a:bodyPr>
            <a:noAutofit/>
          </a:bodyPr>
          <a:lstStyle/>
          <a:p>
            <a:pPr marL="0" indent="0">
              <a:buNone/>
            </a:pPr>
            <a:r>
              <a:rPr lang="es-AR" sz="1600" dirty="0"/>
              <a:t>La técnica utilizada en el escándalo de Cambridge </a:t>
            </a:r>
            <a:r>
              <a:rPr lang="es-AR" sz="1600" dirty="0" err="1"/>
              <a:t>Analytica</a:t>
            </a:r>
            <a:r>
              <a:rPr lang="es-AR" sz="1600" dirty="0"/>
              <a:t>: </a:t>
            </a:r>
          </a:p>
          <a:p>
            <a:pPr marL="0" indent="0">
              <a:buNone/>
            </a:pPr>
            <a:r>
              <a:rPr lang="es-AR" sz="1600" dirty="0"/>
              <a:t>1. Recopilación de datos masiva</a:t>
            </a:r>
          </a:p>
          <a:p>
            <a:pPr marL="0" indent="0">
              <a:buNone/>
            </a:pPr>
            <a:r>
              <a:rPr lang="es-AR" sz="1600" dirty="0"/>
              <a:t>•	Facebook fue la fuente principal de datos.</a:t>
            </a:r>
          </a:p>
          <a:p>
            <a:pPr marL="0" indent="0">
              <a:buNone/>
            </a:pPr>
            <a:r>
              <a:rPr lang="es-AR" sz="1600" dirty="0"/>
              <a:t>•	A través de una aplicación llamada "</a:t>
            </a:r>
            <a:r>
              <a:rPr lang="es-AR" sz="1600" dirty="0" err="1"/>
              <a:t>This</a:t>
            </a:r>
            <a:r>
              <a:rPr lang="es-AR" sz="1600" dirty="0"/>
              <a:t> </a:t>
            </a:r>
            <a:r>
              <a:rPr lang="es-AR" sz="1600" dirty="0" err="1"/>
              <a:t>is</a:t>
            </a:r>
            <a:r>
              <a:rPr lang="es-AR" sz="1600" dirty="0"/>
              <a:t> </a:t>
            </a:r>
            <a:r>
              <a:rPr lang="es-AR" sz="1600" dirty="0" err="1"/>
              <a:t>Your</a:t>
            </a:r>
            <a:r>
              <a:rPr lang="es-AR" sz="1600" dirty="0"/>
              <a:t> Digital </a:t>
            </a:r>
            <a:r>
              <a:rPr lang="es-AR" sz="1600" dirty="0" err="1"/>
              <a:t>Life</a:t>
            </a:r>
            <a:r>
              <a:rPr lang="es-AR" sz="1600" dirty="0"/>
              <a:t>" (un test de personalidad), recopiló datos personales no solo de quienes hicieron el test, sino también de sus contactos,</a:t>
            </a:r>
          </a:p>
          <a:p>
            <a:pPr marL="0" indent="0">
              <a:buNone/>
            </a:pPr>
            <a:r>
              <a:rPr lang="es-AR" sz="1600" dirty="0"/>
              <a:t>•	Se estima que accedieron a los datos de 87 millones de usuarios sin su consentimiento.</a:t>
            </a:r>
          </a:p>
          <a:p>
            <a:pPr marL="0" indent="0">
              <a:buNone/>
            </a:pPr>
            <a:r>
              <a:rPr lang="es-AR" sz="1600" dirty="0"/>
              <a:t>2. Perfilado psicométrico</a:t>
            </a:r>
          </a:p>
          <a:p>
            <a:pPr marL="0" indent="0">
              <a:buNone/>
            </a:pPr>
            <a:r>
              <a:rPr lang="es-AR" sz="1600" dirty="0"/>
              <a:t>•	Utilizando psicometría (una técnica que estudia las características psicológicas y de comportamiento), los datos recopilados se analizaron para crear perfiles psicológicos individuales.</a:t>
            </a:r>
          </a:p>
          <a:p>
            <a:pPr marL="0" indent="0">
              <a:buNone/>
            </a:pPr>
            <a:r>
              <a:rPr lang="es-AR" sz="1600" dirty="0"/>
              <a:t>•	Las personas se clasificaron en categorías como:</a:t>
            </a:r>
          </a:p>
          <a:p>
            <a:pPr marL="0" indent="0">
              <a:buNone/>
            </a:pPr>
            <a:r>
              <a:rPr lang="es-AR" sz="1600" dirty="0"/>
              <a:t>o	"</a:t>
            </a:r>
            <a:r>
              <a:rPr lang="es-AR" sz="1600" dirty="0" err="1"/>
              <a:t>Persuadibles</a:t>
            </a:r>
            <a:r>
              <a:rPr lang="es-AR" sz="1600" dirty="0"/>
              <a:t>": individuos indecisos que podían ser influenciados.</a:t>
            </a:r>
          </a:p>
          <a:p>
            <a:pPr marL="0" indent="0">
              <a:buNone/>
            </a:pPr>
            <a:r>
              <a:rPr lang="es-AR" sz="1600" dirty="0"/>
              <a:t>o	Segmentos de interés: perfiles con opiniones políticas específicas o vulnerabilidades emocionales.</a:t>
            </a:r>
          </a:p>
        </p:txBody>
      </p:sp>
    </p:spTree>
    <p:extLst>
      <p:ext uri="{BB962C8B-B14F-4D97-AF65-F5344CB8AC3E}">
        <p14:creationId xmlns:p14="http://schemas.microsoft.com/office/powerpoint/2010/main" val="157349156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n-US" b="1" dirty="0"/>
              <a:t>The great Hack (nada es privado) </a:t>
            </a:r>
            <a:endParaRPr lang="es-ES" b="1" dirty="0"/>
          </a:p>
        </p:txBody>
      </p:sp>
      <p:sp>
        <p:nvSpPr>
          <p:cNvPr id="3" name="Marcador de contenido 2"/>
          <p:cNvSpPr>
            <a:spLocks noGrp="1"/>
          </p:cNvSpPr>
          <p:nvPr>
            <p:ph idx="1"/>
          </p:nvPr>
        </p:nvSpPr>
        <p:spPr/>
        <p:txBody>
          <a:bodyPr>
            <a:normAutofit fontScale="62500" lnSpcReduction="20000"/>
          </a:bodyPr>
          <a:lstStyle/>
          <a:p>
            <a:r>
              <a:rPr lang="es-AR" b="1" dirty="0"/>
              <a:t>3. Microsegmentación y anuncios personalizados</a:t>
            </a:r>
            <a:endParaRPr lang="es-AR" dirty="0"/>
          </a:p>
          <a:p>
            <a:pPr lvl="0"/>
            <a:r>
              <a:rPr lang="es-AR" dirty="0"/>
              <a:t>Gracias a los perfiles psicométricos, Cambridge </a:t>
            </a:r>
            <a:r>
              <a:rPr lang="es-AR" dirty="0" err="1"/>
              <a:t>Analytica</a:t>
            </a:r>
            <a:r>
              <a:rPr lang="es-AR" dirty="0"/>
              <a:t> aplicó </a:t>
            </a:r>
            <a:r>
              <a:rPr lang="es-AR" b="1" dirty="0"/>
              <a:t>técnicas de microsegmentación</a:t>
            </a:r>
            <a:r>
              <a:rPr lang="es-AR" dirty="0"/>
              <a:t> para identificar grupos pequeños con comportamientos específicos.</a:t>
            </a:r>
          </a:p>
          <a:p>
            <a:pPr lvl="0"/>
            <a:r>
              <a:rPr lang="es-AR" dirty="0"/>
              <a:t>A estos segmentos se les enviaron anuncios </a:t>
            </a:r>
            <a:r>
              <a:rPr lang="es-AR" b="1" dirty="0"/>
              <a:t>altamente personalizados</a:t>
            </a:r>
            <a:r>
              <a:rPr lang="es-AR" dirty="0"/>
              <a:t> (a menudo alarmantes o divisivos) a través de redes sociales como </a:t>
            </a:r>
            <a:r>
              <a:rPr lang="es-AR" b="1" dirty="0"/>
              <a:t>Facebook</a:t>
            </a:r>
            <a:r>
              <a:rPr lang="es-AR" dirty="0"/>
              <a:t>, diseñados para manipular su opinión y comportamiento electoral.</a:t>
            </a:r>
          </a:p>
          <a:p>
            <a:r>
              <a:rPr lang="es-AR" b="1" dirty="0"/>
              <a:t>4. Uso de Inteligencia Artificial (IA)</a:t>
            </a:r>
            <a:endParaRPr lang="es-AR" dirty="0"/>
          </a:p>
          <a:p>
            <a:pPr lvl="0"/>
            <a:r>
              <a:rPr lang="es-AR" dirty="0"/>
              <a:t>Se emplearon algoritmos de </a:t>
            </a:r>
            <a:r>
              <a:rPr lang="es-AR" b="1" dirty="0"/>
              <a:t>machine </a:t>
            </a:r>
            <a:r>
              <a:rPr lang="es-AR" b="1" dirty="0" err="1"/>
              <a:t>learning</a:t>
            </a:r>
            <a:r>
              <a:rPr lang="es-AR" dirty="0"/>
              <a:t> para analizar los datos, identificar patrones y optimizar la precisión de los mensajes dirigidos.</a:t>
            </a:r>
          </a:p>
          <a:p>
            <a:pPr lvl="0"/>
            <a:r>
              <a:rPr lang="es-AR" dirty="0"/>
              <a:t>La IA permitía predecir cómo reaccionaría cada segmento ante distintos estímulos publicitarios.</a:t>
            </a:r>
          </a:p>
          <a:p>
            <a:r>
              <a:rPr lang="es-AR" b="1" dirty="0"/>
              <a:t>5. Manipulación emocional</a:t>
            </a:r>
            <a:endParaRPr lang="es-AR" dirty="0"/>
          </a:p>
          <a:p>
            <a:pPr lvl="0"/>
            <a:r>
              <a:rPr lang="es-AR" dirty="0"/>
              <a:t>Los mensajes no solo eran políticos; también apelaban a </a:t>
            </a:r>
            <a:r>
              <a:rPr lang="es-AR" b="1" dirty="0"/>
              <a:t>emociones fuertes</a:t>
            </a:r>
            <a:r>
              <a:rPr lang="es-AR" dirty="0"/>
              <a:t> como el miedo, la ira y la inseguridad.</a:t>
            </a:r>
          </a:p>
          <a:p>
            <a:pPr lvl="0"/>
            <a:r>
              <a:rPr lang="es-AR" dirty="0"/>
              <a:t>Se utilizaban noticias falsas y contenido </a:t>
            </a:r>
            <a:r>
              <a:rPr lang="es-AR" dirty="0" err="1"/>
              <a:t>polarizante</a:t>
            </a:r>
            <a:r>
              <a:rPr lang="es-AR" dirty="0"/>
              <a:t> para amplificar divisiones sociales y captar la atención de los usuarios.</a:t>
            </a:r>
          </a:p>
          <a:p>
            <a:pPr marL="0" indent="0">
              <a:buNone/>
            </a:pPr>
            <a:endParaRPr lang="es-AR" dirty="0"/>
          </a:p>
        </p:txBody>
      </p:sp>
    </p:spTree>
    <p:extLst>
      <p:ext uri="{BB962C8B-B14F-4D97-AF65-F5344CB8AC3E}">
        <p14:creationId xmlns:p14="http://schemas.microsoft.com/office/powerpoint/2010/main" val="121862827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b="1" dirty="0" err="1"/>
              <a:t>The</a:t>
            </a:r>
            <a:r>
              <a:rPr lang="es-ES" b="1" dirty="0"/>
              <a:t> Social </a:t>
            </a:r>
            <a:r>
              <a:rPr lang="es-ES" b="1" dirty="0" err="1"/>
              <a:t>Dilemma</a:t>
            </a:r>
            <a:r>
              <a:rPr lang="es-ES" b="1" dirty="0"/>
              <a:t>:</a:t>
            </a:r>
          </a:p>
        </p:txBody>
      </p:sp>
      <p:sp>
        <p:nvSpPr>
          <p:cNvPr id="3" name="Marcador de contenido 2"/>
          <p:cNvSpPr>
            <a:spLocks noGrp="1"/>
          </p:cNvSpPr>
          <p:nvPr>
            <p:ph idx="1"/>
          </p:nvPr>
        </p:nvSpPr>
        <p:spPr>
          <a:xfrm>
            <a:off x="500575" y="2177317"/>
            <a:ext cx="10839450" cy="4351338"/>
          </a:xfrm>
        </p:spPr>
        <p:txBody>
          <a:bodyPr>
            <a:normAutofit/>
          </a:bodyPr>
          <a:lstStyle/>
          <a:p>
            <a:r>
              <a:rPr lang="es-AR" sz="2000" b="1" dirty="0"/>
              <a:t>1. Manipulación de la conducta y atención</a:t>
            </a:r>
          </a:p>
          <a:p>
            <a:pPr lvl="0"/>
            <a:r>
              <a:rPr lang="es-AR" sz="2000" dirty="0"/>
              <a:t>Las redes sociales están diseñadas con </a:t>
            </a:r>
            <a:r>
              <a:rPr lang="es-AR" sz="2000" b="1" dirty="0"/>
              <a:t>algoritmos adictivos</a:t>
            </a:r>
            <a:r>
              <a:rPr lang="es-AR" sz="2000" dirty="0"/>
              <a:t> para capturar y retener la atención de los usuarios.</a:t>
            </a:r>
          </a:p>
          <a:p>
            <a:pPr lvl="0"/>
            <a:r>
              <a:rPr lang="es-AR" sz="2000" dirty="0"/>
              <a:t>Utilizan técnicas de </a:t>
            </a:r>
            <a:r>
              <a:rPr lang="es-AR" sz="2000" b="1" dirty="0"/>
              <a:t>persuasión</a:t>
            </a:r>
            <a:r>
              <a:rPr lang="es-AR" sz="2000" dirty="0"/>
              <a:t> basadas en la psicología para manipular el comportamiento y generar dependencia.</a:t>
            </a:r>
          </a:p>
          <a:p>
            <a:r>
              <a:rPr lang="es-AR" sz="2000" b="1" dirty="0"/>
              <a:t>Ejemplos de Diseño de interfaces adictivas</a:t>
            </a:r>
          </a:p>
          <a:p>
            <a:r>
              <a:rPr lang="es-AR" sz="2000" dirty="0"/>
              <a:t>Técnicas como </a:t>
            </a:r>
            <a:r>
              <a:rPr lang="es-AR" sz="2000" b="1" dirty="0" err="1"/>
              <a:t>scroll</a:t>
            </a:r>
            <a:r>
              <a:rPr lang="es-AR" sz="2000" b="1" dirty="0"/>
              <a:t> infinito</a:t>
            </a:r>
            <a:r>
              <a:rPr lang="es-AR" sz="2000" dirty="0"/>
              <a:t>, </a:t>
            </a:r>
            <a:r>
              <a:rPr lang="es-AR" sz="2000" b="1" dirty="0"/>
              <a:t>notificaciones </a:t>
            </a:r>
            <a:r>
              <a:rPr lang="es-AR" sz="2000" b="1" dirty="0" err="1"/>
              <a:t>push</a:t>
            </a:r>
            <a:r>
              <a:rPr lang="es-AR" sz="2000" dirty="0"/>
              <a:t> y sistemas de recompensas variables (como los "me gusta" y comentarios) están diseñadas para generar </a:t>
            </a:r>
            <a:r>
              <a:rPr lang="es-AR" sz="2000" b="1" dirty="0"/>
              <a:t>dopamina</a:t>
            </a:r>
            <a:r>
              <a:rPr lang="es-AR" sz="2000" dirty="0"/>
              <a:t> y crear adicción.</a:t>
            </a:r>
          </a:p>
          <a:p>
            <a:r>
              <a:rPr lang="es-AR" sz="2000" dirty="0"/>
              <a:t>Elementos visuales y sonoros (por ejemplo, el "ping" de una notificación) activan respuestas emocionales instantáneas.</a:t>
            </a:r>
          </a:p>
          <a:p>
            <a:pPr lvl="0"/>
            <a:endParaRPr lang="es-AR" dirty="0"/>
          </a:p>
        </p:txBody>
      </p:sp>
    </p:spTree>
    <p:extLst>
      <p:ext uri="{BB962C8B-B14F-4D97-AF65-F5344CB8AC3E}">
        <p14:creationId xmlns:p14="http://schemas.microsoft.com/office/powerpoint/2010/main" val="1519165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b="1" dirty="0" err="1"/>
              <a:t>The</a:t>
            </a:r>
            <a:r>
              <a:rPr lang="es-ES" b="1" dirty="0"/>
              <a:t> Social </a:t>
            </a:r>
            <a:r>
              <a:rPr lang="es-ES" b="1" dirty="0" err="1"/>
              <a:t>Dilemma</a:t>
            </a:r>
            <a:r>
              <a:rPr lang="es-ES" b="1" dirty="0"/>
              <a:t>:</a:t>
            </a:r>
          </a:p>
        </p:txBody>
      </p:sp>
      <p:sp>
        <p:nvSpPr>
          <p:cNvPr id="3" name="Marcador de contenido 2"/>
          <p:cNvSpPr>
            <a:spLocks noGrp="1"/>
          </p:cNvSpPr>
          <p:nvPr>
            <p:ph idx="1"/>
          </p:nvPr>
        </p:nvSpPr>
        <p:spPr/>
        <p:txBody>
          <a:bodyPr>
            <a:normAutofit/>
          </a:bodyPr>
          <a:lstStyle/>
          <a:p>
            <a:r>
              <a:rPr lang="es-AR" b="1" dirty="0"/>
              <a:t>2. Explotación de los datos personales</a:t>
            </a:r>
            <a:endParaRPr lang="es-AR" dirty="0"/>
          </a:p>
          <a:p>
            <a:pPr lvl="0"/>
            <a:r>
              <a:rPr lang="es-AR" dirty="0"/>
              <a:t>Se recopilan grandes volúmenes de </a:t>
            </a:r>
            <a:r>
              <a:rPr lang="es-AR" b="1" dirty="0"/>
              <a:t>datos privados</a:t>
            </a:r>
            <a:r>
              <a:rPr lang="es-AR" dirty="0"/>
              <a:t> sin el pleno conocimiento del usuario.</a:t>
            </a:r>
          </a:p>
          <a:p>
            <a:pPr lvl="0"/>
            <a:r>
              <a:rPr lang="es-AR" dirty="0"/>
              <a:t>Los datos se utilizan para predecir y manipular decisiones, mostrando contenido personalizado.</a:t>
            </a:r>
          </a:p>
          <a:p>
            <a:pPr lvl="0"/>
            <a:r>
              <a:rPr lang="es-AR" dirty="0"/>
              <a:t>Personalizan los </a:t>
            </a:r>
            <a:r>
              <a:rPr lang="es-AR" b="1" dirty="0" err="1"/>
              <a:t>feeds</a:t>
            </a:r>
            <a:r>
              <a:rPr lang="es-AR" b="1" dirty="0"/>
              <a:t> de noticias</a:t>
            </a:r>
            <a:r>
              <a:rPr lang="es-AR" dirty="0"/>
              <a:t>, sugerencias de amigos, videos y publicaciones para mantenerte más tiempo en la plataforma</a:t>
            </a:r>
          </a:p>
          <a:p>
            <a:pPr lvl="0"/>
            <a:r>
              <a:rPr lang="es-AR" dirty="0"/>
              <a:t>perfilan a cada usuario y predicen sus comportamientos, preferencias y vulnerabilidades emocionales.</a:t>
            </a:r>
          </a:p>
        </p:txBody>
      </p:sp>
    </p:spTree>
    <p:extLst>
      <p:ext uri="{BB962C8B-B14F-4D97-AF65-F5344CB8AC3E}">
        <p14:creationId xmlns:p14="http://schemas.microsoft.com/office/powerpoint/2010/main" val="281509845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b="1" dirty="0" err="1"/>
              <a:t>The</a:t>
            </a:r>
            <a:r>
              <a:rPr lang="es-ES" b="1" dirty="0"/>
              <a:t> Social </a:t>
            </a:r>
            <a:r>
              <a:rPr lang="es-ES" b="1" dirty="0" err="1"/>
              <a:t>Dilemma</a:t>
            </a:r>
            <a:r>
              <a:rPr lang="es-ES" b="1" dirty="0"/>
              <a:t>:</a:t>
            </a:r>
          </a:p>
        </p:txBody>
      </p:sp>
      <p:sp>
        <p:nvSpPr>
          <p:cNvPr id="3" name="Marcador de contenido 2"/>
          <p:cNvSpPr>
            <a:spLocks noGrp="1"/>
          </p:cNvSpPr>
          <p:nvPr>
            <p:ph idx="1"/>
          </p:nvPr>
        </p:nvSpPr>
        <p:spPr/>
        <p:txBody>
          <a:bodyPr>
            <a:normAutofit fontScale="92500" lnSpcReduction="20000"/>
          </a:bodyPr>
          <a:lstStyle/>
          <a:p>
            <a:r>
              <a:rPr lang="es-AR" b="1" dirty="0"/>
              <a:t>3. Polarización y desinformación</a:t>
            </a:r>
            <a:endParaRPr lang="es-AR" dirty="0"/>
          </a:p>
          <a:p>
            <a:pPr lvl="0"/>
            <a:r>
              <a:rPr lang="es-AR" dirty="0"/>
              <a:t>Los algoritmos priorizan el contenido que </a:t>
            </a:r>
            <a:r>
              <a:rPr lang="es-AR" b="1" dirty="0"/>
              <a:t>genera más interacción</a:t>
            </a:r>
            <a:r>
              <a:rPr lang="es-AR" dirty="0"/>
              <a:t>, lo cual puede amplificar noticias falsas, teorías conspirativas y contenido divisivo.</a:t>
            </a:r>
          </a:p>
          <a:p>
            <a:pPr lvl="0"/>
            <a:r>
              <a:rPr lang="es-AR" dirty="0"/>
              <a:t>Esto contribuye a la </a:t>
            </a:r>
            <a:r>
              <a:rPr lang="es-AR" b="1" dirty="0"/>
              <a:t>polarización social</a:t>
            </a:r>
            <a:r>
              <a:rPr lang="es-AR" dirty="0"/>
              <a:t> y afecta la estabilidad democrática.</a:t>
            </a:r>
          </a:p>
          <a:p>
            <a:r>
              <a:rPr lang="es-AR" b="1" dirty="0"/>
              <a:t>4. Erosión de la privacidad</a:t>
            </a:r>
            <a:endParaRPr lang="es-AR" dirty="0"/>
          </a:p>
          <a:p>
            <a:pPr lvl="0"/>
            <a:r>
              <a:rPr lang="es-AR" dirty="0"/>
              <a:t>La falta de control sobre los datos personales pone en riesgo la </a:t>
            </a:r>
            <a:r>
              <a:rPr lang="es-AR" b="1" dirty="0"/>
              <a:t>privacidad</a:t>
            </a:r>
            <a:r>
              <a:rPr lang="es-AR" dirty="0"/>
              <a:t> del usuario.</a:t>
            </a:r>
          </a:p>
          <a:p>
            <a:pPr lvl="0"/>
            <a:r>
              <a:rPr lang="es-AR" dirty="0"/>
              <a:t>Se expone información sensible que puede ser utilizada con fines comerciales o políticos.</a:t>
            </a:r>
          </a:p>
          <a:p>
            <a:pPr marL="0" indent="0">
              <a:buNone/>
            </a:pPr>
            <a:endParaRPr lang="es-ES" b="1" dirty="0"/>
          </a:p>
        </p:txBody>
      </p:sp>
    </p:spTree>
    <p:extLst>
      <p:ext uri="{BB962C8B-B14F-4D97-AF65-F5344CB8AC3E}">
        <p14:creationId xmlns:p14="http://schemas.microsoft.com/office/powerpoint/2010/main" val="299033558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b="1" dirty="0" err="1"/>
              <a:t>The</a:t>
            </a:r>
            <a:r>
              <a:rPr lang="es-ES" b="1" dirty="0"/>
              <a:t> Social </a:t>
            </a:r>
            <a:r>
              <a:rPr lang="es-ES" b="1" dirty="0" err="1"/>
              <a:t>Dilemma</a:t>
            </a:r>
            <a:r>
              <a:rPr lang="es-ES" b="1" dirty="0"/>
              <a:t>:</a:t>
            </a:r>
          </a:p>
        </p:txBody>
      </p:sp>
      <p:sp>
        <p:nvSpPr>
          <p:cNvPr id="3" name="Marcador de contenido 2"/>
          <p:cNvSpPr>
            <a:spLocks noGrp="1"/>
          </p:cNvSpPr>
          <p:nvPr>
            <p:ph idx="1"/>
          </p:nvPr>
        </p:nvSpPr>
        <p:spPr/>
        <p:txBody>
          <a:bodyPr>
            <a:normAutofit fontScale="85000" lnSpcReduction="10000"/>
          </a:bodyPr>
          <a:lstStyle/>
          <a:p>
            <a:r>
              <a:rPr lang="es-AR" b="1" dirty="0"/>
              <a:t>5. Impacto en la salud mental</a:t>
            </a:r>
            <a:endParaRPr lang="es-AR" dirty="0"/>
          </a:p>
          <a:p>
            <a:pPr lvl="0"/>
            <a:r>
              <a:rPr lang="es-AR" dirty="0"/>
              <a:t>Las redes sociales fomentan la comparación constante, lo que puede generar </a:t>
            </a:r>
            <a:r>
              <a:rPr lang="es-AR" b="1" dirty="0"/>
              <a:t>ansiedad, depresión</a:t>
            </a:r>
            <a:r>
              <a:rPr lang="es-AR" dirty="0"/>
              <a:t> y problemas de autoestima, especialmente en jóvenes.</a:t>
            </a:r>
          </a:p>
          <a:p>
            <a:pPr lvl="0"/>
            <a:r>
              <a:rPr lang="es-AR" dirty="0"/>
              <a:t>Las notificaciones y "me gusta" crean una dependencia a la </a:t>
            </a:r>
            <a:r>
              <a:rPr lang="es-AR" b="1" dirty="0"/>
              <a:t>validación externa</a:t>
            </a:r>
            <a:r>
              <a:rPr lang="es-AR" dirty="0"/>
              <a:t>.</a:t>
            </a:r>
          </a:p>
          <a:p>
            <a:r>
              <a:rPr lang="es-AR" b="1" dirty="0"/>
              <a:t>6. Falta de responsabilidad de las grandes tecnológicas</a:t>
            </a:r>
            <a:endParaRPr lang="es-AR" dirty="0"/>
          </a:p>
          <a:p>
            <a:pPr lvl="0"/>
            <a:r>
              <a:rPr lang="es-AR" dirty="0"/>
              <a:t>Las empresas priorizan el </a:t>
            </a:r>
            <a:r>
              <a:rPr lang="es-AR" b="1" dirty="0"/>
              <a:t>beneficio económico</a:t>
            </a:r>
            <a:r>
              <a:rPr lang="es-AR" dirty="0"/>
              <a:t> sobre el bienestar de los usuarios y la sociedad.</a:t>
            </a:r>
          </a:p>
          <a:p>
            <a:pPr lvl="0"/>
            <a:r>
              <a:rPr lang="es-AR" dirty="0"/>
              <a:t>Falta de regulación y transparencia en cómo funcionan los algoritmos y se manejan los datos.</a:t>
            </a:r>
          </a:p>
          <a:p>
            <a:r>
              <a:rPr lang="es-AR" b="1" dirty="0"/>
              <a:t>7. Amenaza a la democracia</a:t>
            </a:r>
            <a:endParaRPr lang="es-AR" dirty="0"/>
          </a:p>
          <a:p>
            <a:pPr marL="0" indent="0">
              <a:buNone/>
            </a:pPr>
            <a:endParaRPr lang="es-ES" b="1" dirty="0"/>
          </a:p>
        </p:txBody>
      </p:sp>
    </p:spTree>
    <p:extLst>
      <p:ext uri="{BB962C8B-B14F-4D97-AF65-F5344CB8AC3E}">
        <p14:creationId xmlns:p14="http://schemas.microsoft.com/office/powerpoint/2010/main" val="19894031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b="1" dirty="0"/>
              <a:t>Prejuicio cifrado (</a:t>
            </a:r>
            <a:r>
              <a:rPr lang="es-ES" b="1" dirty="0" err="1"/>
              <a:t>Coded</a:t>
            </a:r>
            <a:r>
              <a:rPr lang="es-ES" b="1" dirty="0"/>
              <a:t> </a:t>
            </a:r>
            <a:r>
              <a:rPr lang="es-ES" b="1" dirty="0" err="1"/>
              <a:t>Bias</a:t>
            </a:r>
            <a:r>
              <a:rPr lang="es-ES" b="1" dirty="0"/>
              <a:t>)</a:t>
            </a:r>
          </a:p>
        </p:txBody>
      </p:sp>
      <p:sp>
        <p:nvSpPr>
          <p:cNvPr id="3" name="Marcador de contenido 2"/>
          <p:cNvSpPr>
            <a:spLocks noGrp="1"/>
          </p:cNvSpPr>
          <p:nvPr>
            <p:ph idx="1"/>
          </p:nvPr>
        </p:nvSpPr>
        <p:spPr/>
        <p:txBody>
          <a:bodyPr>
            <a:normAutofit fontScale="92500" lnSpcReduction="20000"/>
          </a:bodyPr>
          <a:lstStyle/>
          <a:p>
            <a:r>
              <a:rPr lang="es-AR" dirty="0"/>
              <a:t>En </a:t>
            </a:r>
            <a:r>
              <a:rPr lang="es-AR" b="1" dirty="0"/>
              <a:t>"</a:t>
            </a:r>
            <a:r>
              <a:rPr lang="es-AR" b="1" dirty="0" err="1"/>
              <a:t>Coded</a:t>
            </a:r>
            <a:r>
              <a:rPr lang="es-AR" b="1" dirty="0"/>
              <a:t> </a:t>
            </a:r>
            <a:r>
              <a:rPr lang="es-AR" b="1" dirty="0" err="1"/>
              <a:t>Bias</a:t>
            </a:r>
            <a:r>
              <a:rPr lang="es-AR" b="1" dirty="0"/>
              <a:t>"</a:t>
            </a:r>
            <a:r>
              <a:rPr lang="es-AR" dirty="0"/>
              <a:t>, las tecnologías mencionadas afectan la ética de las siguientes maneras:</a:t>
            </a:r>
          </a:p>
          <a:p>
            <a:r>
              <a:rPr lang="es-AR" b="1" dirty="0"/>
              <a:t>Discriminación algorítmica</a:t>
            </a:r>
            <a:r>
              <a:rPr lang="es-AR" dirty="0"/>
              <a:t>: Amplifican sesgos existentes en datos históricos.</a:t>
            </a:r>
          </a:p>
          <a:p>
            <a:r>
              <a:rPr lang="es-AR" b="1" dirty="0"/>
              <a:t>Vigilancia y privacidad</a:t>
            </a:r>
            <a:r>
              <a:rPr lang="es-AR" dirty="0"/>
              <a:t>: El reconocimiento facial vulnera derechos individuales.</a:t>
            </a:r>
          </a:p>
          <a:p>
            <a:r>
              <a:rPr lang="es-AR" b="1" dirty="0"/>
              <a:t>Falta de transparencia</a:t>
            </a:r>
            <a:r>
              <a:rPr lang="es-AR" dirty="0"/>
              <a:t>: Las decisiones algorítmicas son opacas e inapelables.</a:t>
            </a:r>
          </a:p>
          <a:p>
            <a:r>
              <a:rPr lang="es-AR" b="1" dirty="0"/>
              <a:t>Responsabilidad ética</a:t>
            </a:r>
            <a:r>
              <a:rPr lang="es-AR" dirty="0"/>
              <a:t>: La tecnología carece de mecanismos de rendición de cuentas.</a:t>
            </a:r>
          </a:p>
          <a:p>
            <a:r>
              <a:rPr lang="es-AR" b="1" dirty="0"/>
              <a:t>Desigualdad sistémica</a:t>
            </a:r>
            <a:r>
              <a:rPr lang="es-AR" dirty="0"/>
              <a:t>: La automatización tiende a replicar y reforzar injusticias sociales.</a:t>
            </a:r>
          </a:p>
        </p:txBody>
      </p:sp>
    </p:spTree>
    <p:extLst>
      <p:ext uri="{BB962C8B-B14F-4D97-AF65-F5344CB8AC3E}">
        <p14:creationId xmlns:p14="http://schemas.microsoft.com/office/powerpoint/2010/main" val="69774341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b="1" dirty="0"/>
              <a:t>Fallo </a:t>
            </a:r>
            <a:r>
              <a:rPr lang="es-ES" b="1" dirty="0" err="1"/>
              <a:t>Juridico</a:t>
            </a:r>
            <a:r>
              <a:rPr lang="es-ES" b="1" dirty="0"/>
              <a:t> contra FB / Meta</a:t>
            </a:r>
          </a:p>
        </p:txBody>
      </p:sp>
      <p:sp>
        <p:nvSpPr>
          <p:cNvPr id="3" name="Marcador de contenido 2"/>
          <p:cNvSpPr>
            <a:spLocks noGrp="1"/>
          </p:cNvSpPr>
          <p:nvPr>
            <p:ph idx="1"/>
          </p:nvPr>
        </p:nvSpPr>
        <p:spPr/>
        <p:txBody>
          <a:bodyPr>
            <a:normAutofit lnSpcReduction="10000"/>
          </a:bodyPr>
          <a:lstStyle/>
          <a:p>
            <a:pPr marL="0" indent="0">
              <a:buNone/>
            </a:pPr>
            <a:r>
              <a:rPr lang="en-US" b="1" dirty="0"/>
              <a:t>41 </a:t>
            </a:r>
            <a:r>
              <a:rPr lang="es-ES" dirty="0"/>
              <a:t>estados de EE. UU. demandan a Meta por enganchar a los adolescentes a las redes sociales (mayor demanda desde el juicio a las tabacaleras)</a:t>
            </a:r>
            <a:endParaRPr lang="en-US" b="1" dirty="0"/>
          </a:p>
          <a:p>
            <a:pPr marL="0" indent="0">
              <a:buNone/>
            </a:pPr>
            <a:r>
              <a:rPr lang="en-US" dirty="0">
                <a:solidFill>
                  <a:srgbClr val="00B0F0"/>
                </a:solidFill>
                <a:hlinkClick r:id="rId2">
                  <a:extLst>
                    <a:ext uri="{A12FA001-AC4F-418D-AE19-62706E023703}">
                      <ahyp:hlinkClr xmlns:ahyp="http://schemas.microsoft.com/office/drawing/2018/hyperlinkcolor" val="tx"/>
                    </a:ext>
                  </a:extLst>
                </a:hlinkClick>
              </a:rPr>
              <a:t>https://theconversation.com/41-us-states-are-suing-meta-for-getting-teens-hooked-on-social-media-heres-what-to-expect-next-216914</a:t>
            </a:r>
            <a:endParaRPr lang="en-US" dirty="0">
              <a:solidFill>
                <a:srgbClr val="00B0F0"/>
              </a:solidFill>
            </a:endParaRPr>
          </a:p>
          <a:p>
            <a:pPr marL="0" indent="0">
              <a:buNone/>
            </a:pPr>
            <a:r>
              <a:rPr lang="es-ES" dirty="0">
                <a:solidFill>
                  <a:srgbClr val="00B0F0"/>
                </a:solidFill>
                <a:hlinkClick r:id="rId3">
                  <a:extLst>
                    <a:ext uri="{A12FA001-AC4F-418D-AE19-62706E023703}">
                      <ahyp:hlinkClr xmlns:ahyp="http://schemas.microsoft.com/office/drawing/2018/hyperlinkcolor" val="tx"/>
                    </a:ext>
                  </a:extLst>
                </a:hlinkClick>
              </a:rPr>
              <a:t>https://techhq.com/2023/12/whats-the-latest-on-meta-lawsuit-us-facebook-instagram/</a:t>
            </a:r>
            <a:endParaRPr lang="es-AR" dirty="0">
              <a:solidFill>
                <a:srgbClr val="00B0F0"/>
              </a:solidFill>
            </a:endParaRPr>
          </a:p>
          <a:p>
            <a:pPr marL="0" indent="0">
              <a:buNone/>
            </a:pPr>
            <a:r>
              <a:rPr lang="es-ES" dirty="0">
                <a:solidFill>
                  <a:srgbClr val="00B0F0"/>
                </a:solidFill>
                <a:hlinkClick r:id="rId4">
                  <a:extLst>
                    <a:ext uri="{A12FA001-AC4F-418D-AE19-62706E023703}">
                      <ahyp:hlinkClr xmlns:ahyp="http://schemas.microsoft.com/office/drawing/2018/hyperlinkcolor" val="tx"/>
                    </a:ext>
                  </a:extLst>
                </a:hlinkClick>
              </a:rPr>
              <a:t>https://www.theguardian.com/technology/2021/oct/05/facebook-harms-children-damaging-democracy-claims-whistleblower</a:t>
            </a:r>
            <a:endParaRPr lang="es-ES" dirty="0">
              <a:solidFill>
                <a:srgbClr val="00B0F0"/>
              </a:solidFill>
            </a:endParaRPr>
          </a:p>
          <a:p>
            <a:pPr marL="0" indent="0">
              <a:buNone/>
            </a:pPr>
            <a:endParaRPr lang="es-ES" dirty="0"/>
          </a:p>
        </p:txBody>
      </p:sp>
    </p:spTree>
    <p:extLst>
      <p:ext uri="{BB962C8B-B14F-4D97-AF65-F5344CB8AC3E}">
        <p14:creationId xmlns:p14="http://schemas.microsoft.com/office/powerpoint/2010/main" val="3668630192"/>
      </p:ext>
    </p:extLst>
  </p:cSld>
  <p:clrMapOvr>
    <a:masterClrMapping/>
  </p:clrMapOvr>
</p:sld>
</file>

<file path=ppt/theme/theme1.xml><?xml version="1.0" encoding="utf-8"?>
<a:theme xmlns:a="http://schemas.openxmlformats.org/drawingml/2006/main" name="Berlín">
  <a:themeElements>
    <a:clrScheme name="Berlín">
      <a:dk1>
        <a:sysClr val="windowText" lastClr="000000"/>
      </a:dk1>
      <a:lt1>
        <a:sysClr val="window" lastClr="FFFFFF"/>
      </a:lt1>
      <a:dk2>
        <a:srgbClr val="9D360E"/>
      </a:dk2>
      <a:lt2>
        <a:srgbClr val="E7E6E6"/>
      </a:lt2>
      <a:accent1>
        <a:srgbClr val="F09415"/>
      </a:accent1>
      <a:accent2>
        <a:srgbClr val="C1B56B"/>
      </a:accent2>
      <a:accent3>
        <a:srgbClr val="4BAF73"/>
      </a:accent3>
      <a:accent4>
        <a:srgbClr val="5AA6C0"/>
      </a:accent4>
      <a:accent5>
        <a:srgbClr val="D17DF9"/>
      </a:accent5>
      <a:accent6>
        <a:srgbClr val="FA7E5C"/>
      </a:accent6>
      <a:hlink>
        <a:srgbClr val="FFAE3E"/>
      </a:hlink>
      <a:folHlink>
        <a:srgbClr val="FCC77E"/>
      </a:folHlink>
    </a:clrScheme>
    <a:fontScheme name="Berlín">
      <a:majorFont>
        <a:latin typeface="Trebuchet MS" panose="020B060302020202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rebuchet MS" panose="020B0603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Berlín">
      <a:fillStyleLst>
        <a:solidFill>
          <a:schemeClr val="phClr"/>
        </a:solidFill>
        <a:gradFill rotWithShape="1">
          <a:gsLst>
            <a:gs pos="0">
              <a:schemeClr val="phClr">
                <a:tint val="60000"/>
                <a:satMod val="100000"/>
                <a:lumMod val="110000"/>
              </a:schemeClr>
            </a:gs>
            <a:gs pos="100000">
              <a:schemeClr val="phClr">
                <a:tint val="70000"/>
                <a:satMod val="100000"/>
                <a:lumMod val="100000"/>
              </a:schemeClr>
            </a:gs>
          </a:gsLst>
          <a:lin ang="5400000" scaled="0"/>
        </a:gradFill>
        <a:gradFill rotWithShape="1">
          <a:gsLst>
            <a:gs pos="0">
              <a:schemeClr val="phClr">
                <a:tint val="94000"/>
                <a:satMod val="103000"/>
                <a:lumMod val="102000"/>
              </a:schemeClr>
            </a:gs>
            <a:gs pos="50000">
              <a:schemeClr val="phClr">
                <a:shade val="100000"/>
                <a:satMod val="110000"/>
                <a:lumMod val="100000"/>
              </a:schemeClr>
            </a:gs>
            <a:gs pos="100000">
              <a:schemeClr val="phClr">
                <a:shade val="78000"/>
                <a:satMod val="120000"/>
                <a:lumMod val="99000"/>
              </a:schemeClr>
            </a:gs>
          </a:gsLst>
          <a:lin ang="5400000" scaled="0"/>
        </a:gradFill>
      </a:fillStyleLst>
      <a:lnStyleLst>
        <a:ln w="9525"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6000"/>
                <a:shade val="100000"/>
                <a:hueMod val="270000"/>
                <a:satMod val="200000"/>
                <a:lumMod val="128000"/>
              </a:schemeClr>
            </a:gs>
            <a:gs pos="50000">
              <a:schemeClr val="phClr">
                <a:shade val="100000"/>
                <a:hueMod val="100000"/>
                <a:satMod val="110000"/>
                <a:lumMod val="130000"/>
              </a:schemeClr>
            </a:gs>
            <a:gs pos="100000">
              <a:schemeClr val="phClr">
                <a:shade val="78000"/>
                <a:hueMod val="44000"/>
                <a:satMod val="200000"/>
                <a:lumMod val="69000"/>
              </a:schemeClr>
            </a:gs>
          </a:gsLst>
          <a:lin ang="2520000" scaled="0"/>
        </a:gradFill>
      </a:bgFillStyleLst>
    </a:fmtScheme>
  </a:themeElements>
  <a:objectDefaults/>
  <a:extraClrSchemeLst/>
  <a:extLst>
    <a:ext uri="{05A4C25C-085E-4340-85A3-A5531E510DB2}">
      <thm15:themeFamily xmlns:thm15="http://schemas.microsoft.com/office/thememl/2012/main" name="Berlin" id="{7B5DBA9E-B069-418E-9360-A61BDD0615A4}" vid="{C0CBE056-4EF4-4D92-969E-947779DA7AAA}"/>
    </a:ext>
  </a:extLst>
</a:theme>
</file>

<file path=docProps/app.xml><?xml version="1.0" encoding="utf-8"?>
<Properties xmlns="http://schemas.openxmlformats.org/officeDocument/2006/extended-properties" xmlns:vt="http://schemas.openxmlformats.org/officeDocument/2006/docPropsVTypes">
  <Template>TM04033917[[fn=Berlín]]</Template>
  <TotalTime>25829</TotalTime>
  <Words>3718</Words>
  <Application>Microsoft Office PowerPoint</Application>
  <PresentationFormat>Panorámica</PresentationFormat>
  <Paragraphs>246</Paragraphs>
  <Slides>36</Slides>
  <Notes>0</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36</vt:i4>
      </vt:variant>
    </vt:vector>
  </HeadingPairs>
  <TitlesOfParts>
    <vt:vector size="40" baseType="lpstr">
      <vt:lpstr>Arial</vt:lpstr>
      <vt:lpstr>Arial Unicode MS</vt:lpstr>
      <vt:lpstr>Trebuchet MS</vt:lpstr>
      <vt:lpstr>Berlín</vt:lpstr>
      <vt:lpstr>Ética y Tecnología</vt:lpstr>
      <vt:lpstr>Ética y Tecnología</vt:lpstr>
      <vt:lpstr>Riesgos en Tecnología (ACM)</vt:lpstr>
      <vt:lpstr>“A Net of Rights”</vt:lpstr>
      <vt:lpstr>HRPC.io </vt:lpstr>
      <vt:lpstr>DDHH en Internet (ONU 2021)</vt:lpstr>
      <vt:lpstr>Una red de derechos</vt:lpstr>
      <vt:lpstr>Tendencias en Video Juegos</vt:lpstr>
      <vt:lpstr>Monetización y Loot boxes (gaming vs gambling)</vt:lpstr>
      <vt:lpstr>Impactos Éticos Modelo de Negocio "Freemium"</vt:lpstr>
      <vt:lpstr>Diseño Ético en la UX de videojuegos</vt:lpstr>
      <vt:lpstr>Ética y Videojuegos GDC2019</vt:lpstr>
      <vt:lpstr>Ética y Videojuegos GDC2019 cont.</vt:lpstr>
      <vt:lpstr>Ética y Videojuegos GDC2019 cont.</vt:lpstr>
      <vt:lpstr>Ética y juegos</vt:lpstr>
      <vt:lpstr>Ética y juegos 3</vt:lpstr>
      <vt:lpstr>Sobre patrones oscuros</vt:lpstr>
      <vt:lpstr>Sobre patrones oscuros</vt:lpstr>
      <vt:lpstr>Ética y juegos 3</vt:lpstr>
      <vt:lpstr>Ética en algoritmos</vt:lpstr>
      <vt:lpstr>Weapons of Math Destruction</vt:lpstr>
      <vt:lpstr>Weapons of Math Destruction</vt:lpstr>
      <vt:lpstr>Ética en algoritmos 2</vt:lpstr>
      <vt:lpstr>Ética en algoritmos 2</vt:lpstr>
      <vt:lpstr>El sesgo algorítmico y el enfoque del diseño sensible al valor</vt:lpstr>
      <vt:lpstr>El sesgo algorítmico y el enfoque del diseño sensible al valor</vt:lpstr>
      <vt:lpstr>El sesgo algorítmico y el enfoque del diseño sensible al valor</vt:lpstr>
      <vt:lpstr>El sesgo algorítmico y el enfoque del diseño sensible al valor</vt:lpstr>
      <vt:lpstr>The great Hack (nada es privado) </vt:lpstr>
      <vt:lpstr>The great Hack (nada es privado) </vt:lpstr>
      <vt:lpstr>The Social Dilemma:</vt:lpstr>
      <vt:lpstr>The Social Dilemma:</vt:lpstr>
      <vt:lpstr>The Social Dilemma:</vt:lpstr>
      <vt:lpstr>The Social Dilemma:</vt:lpstr>
      <vt:lpstr>Prejuicio cifrado (Coded Bias)</vt:lpstr>
      <vt:lpstr>Fallo Juridico contra FB / Meta</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Etica y Tecnologia</dc:title>
  <dc:creator>Cespi2</dc:creator>
  <cp:lastModifiedBy>Usuario</cp:lastModifiedBy>
  <cp:revision>72</cp:revision>
  <dcterms:created xsi:type="dcterms:W3CDTF">2022-03-29T12:16:17Z</dcterms:created>
  <dcterms:modified xsi:type="dcterms:W3CDTF">2025-06-07T23:17:16Z</dcterms:modified>
</cp:coreProperties>
</file>