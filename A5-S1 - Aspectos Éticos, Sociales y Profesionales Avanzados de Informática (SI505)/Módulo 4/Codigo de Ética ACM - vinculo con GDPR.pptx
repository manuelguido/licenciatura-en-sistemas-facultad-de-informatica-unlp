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257" r:id="rId3"/>
    <p:sldId id="261" r:id="rId4"/>
    <p:sldId id="268" r:id="rId5"/>
    <p:sldId id="258" r:id="rId6"/>
    <p:sldId id="259" r:id="rId7"/>
    <p:sldId id="260" r:id="rId8"/>
    <p:sldId id="271" r:id="rId9"/>
    <p:sldId id="272" r:id="rId10"/>
    <p:sldId id="262" r:id="rId11"/>
    <p:sldId id="308" r:id="rId12"/>
    <p:sldId id="309" r:id="rId13"/>
    <p:sldId id="310" r:id="rId14"/>
    <p:sldId id="306" r:id="rId15"/>
    <p:sldId id="307" r:id="rId16"/>
    <p:sldId id="311" r:id="rId17"/>
    <p:sldId id="312" r:id="rId18"/>
    <p:sldId id="313" r:id="rId19"/>
    <p:sldId id="273" r:id="rId20"/>
    <p:sldId id="270" r:id="rId21"/>
    <p:sldId id="269" r:id="rId22"/>
    <p:sldId id="263" r:id="rId23"/>
    <p:sldId id="264" r:id="rId24"/>
    <p:sldId id="265" r:id="rId25"/>
    <p:sldId id="266" r:id="rId26"/>
    <p:sldId id="267" r:id="rId27"/>
  </p:sldIdLst>
  <p:sldSz cx="12192000" cy="6858000"/>
  <p:notesSz cx="6858000" cy="9144000"/>
  <p:defaultText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8309" autoAdjust="0"/>
    <p:restoredTop sz="94660"/>
  </p:normalViewPr>
  <p:slideViewPr>
    <p:cSldViewPr snapToGrid="0">
      <p:cViewPr varScale="1">
        <p:scale>
          <a:sx n="67" d="100"/>
          <a:sy n="67" d="100"/>
        </p:scale>
        <p:origin x="132"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D579B81-7E91-4879-B09E-4BA88EE60565}" type="datetimeFigureOut">
              <a:rPr lang="es-AR" smtClean="0"/>
              <a:t>7/6/2025</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4803BA0-AE32-4C19-B70E-68D2F28A11B8}" type="slidenum">
              <a:rPr lang="es-AR" smtClean="0"/>
              <a:t>‹Nº›</a:t>
            </a:fld>
            <a:endParaRPr lang="es-AR"/>
          </a:p>
        </p:txBody>
      </p:sp>
    </p:spTree>
    <p:extLst>
      <p:ext uri="{BB962C8B-B14F-4D97-AF65-F5344CB8AC3E}">
        <p14:creationId xmlns:p14="http://schemas.microsoft.com/office/powerpoint/2010/main" val="1892061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2aaec7523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12aaec7523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098938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2aaec7523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12aaec7523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4312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2aaec7523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12aaec7523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51157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2aaec7523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12aaec7523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75825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12aaec7523f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12aaec7523f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70096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C5C6421-6C97-4DF1-AA2C-457E027819D9}"/>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C81B8F74-75E4-43C5-B4A7-878780FC276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0C61BAC0-7562-4AFA-A5F0-72D0A705D695}"/>
              </a:ext>
            </a:extLst>
          </p:cNvPr>
          <p:cNvSpPr>
            <a:spLocks noGrp="1"/>
          </p:cNvSpPr>
          <p:nvPr>
            <p:ph type="dt" sz="half" idx="10"/>
          </p:nvPr>
        </p:nvSpPr>
        <p:spPr/>
        <p:txBody>
          <a:bodyPr/>
          <a:lstStyle/>
          <a:p>
            <a:fld id="{AC59DD20-ED11-4E71-92FD-A93D7BF866D0}" type="datetimeFigureOut">
              <a:rPr lang="es-AR" smtClean="0"/>
              <a:t>7/6/2025</a:t>
            </a:fld>
            <a:endParaRPr lang="es-AR"/>
          </a:p>
        </p:txBody>
      </p:sp>
      <p:sp>
        <p:nvSpPr>
          <p:cNvPr id="5" name="Marcador de pie de página 4">
            <a:extLst>
              <a:ext uri="{FF2B5EF4-FFF2-40B4-BE49-F238E27FC236}">
                <a16:creationId xmlns:a16="http://schemas.microsoft.com/office/drawing/2014/main" id="{7F7A7350-25B1-4916-9A82-DFEB544C5FD2}"/>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ADC4A6DB-C3E2-422C-A71B-517824B86EF7}"/>
              </a:ext>
            </a:extLst>
          </p:cNvPr>
          <p:cNvSpPr>
            <a:spLocks noGrp="1"/>
          </p:cNvSpPr>
          <p:nvPr>
            <p:ph type="sldNum" sz="quarter" idx="12"/>
          </p:nvPr>
        </p:nvSpPr>
        <p:spPr/>
        <p:txBody>
          <a:bodyPr/>
          <a:lstStyle/>
          <a:p>
            <a:fld id="{3EA22FA6-51BC-48E3-A8F0-D072A95BC8A6}" type="slidenum">
              <a:rPr lang="es-AR" smtClean="0"/>
              <a:t>‹Nº›</a:t>
            </a:fld>
            <a:endParaRPr lang="es-AR"/>
          </a:p>
        </p:txBody>
      </p:sp>
    </p:spTree>
    <p:extLst>
      <p:ext uri="{BB962C8B-B14F-4D97-AF65-F5344CB8AC3E}">
        <p14:creationId xmlns:p14="http://schemas.microsoft.com/office/powerpoint/2010/main" val="34912731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F16E9F-326D-4B91-BF5C-A98422C57763}"/>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282B4015-0493-4DEC-B204-37A7466D4B4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283EB004-97E0-48D7-93B2-4816250A14CF}"/>
              </a:ext>
            </a:extLst>
          </p:cNvPr>
          <p:cNvSpPr>
            <a:spLocks noGrp="1"/>
          </p:cNvSpPr>
          <p:nvPr>
            <p:ph type="dt" sz="half" idx="10"/>
          </p:nvPr>
        </p:nvSpPr>
        <p:spPr/>
        <p:txBody>
          <a:bodyPr/>
          <a:lstStyle/>
          <a:p>
            <a:fld id="{AC59DD20-ED11-4E71-92FD-A93D7BF866D0}" type="datetimeFigureOut">
              <a:rPr lang="es-AR" smtClean="0"/>
              <a:t>7/6/2025</a:t>
            </a:fld>
            <a:endParaRPr lang="es-AR"/>
          </a:p>
        </p:txBody>
      </p:sp>
      <p:sp>
        <p:nvSpPr>
          <p:cNvPr id="5" name="Marcador de pie de página 4">
            <a:extLst>
              <a:ext uri="{FF2B5EF4-FFF2-40B4-BE49-F238E27FC236}">
                <a16:creationId xmlns:a16="http://schemas.microsoft.com/office/drawing/2014/main" id="{DEAB65CB-5035-4F41-ADC6-38F138262613}"/>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4AE47550-C6BE-4DCC-8CF7-38AA53167991}"/>
              </a:ext>
            </a:extLst>
          </p:cNvPr>
          <p:cNvSpPr>
            <a:spLocks noGrp="1"/>
          </p:cNvSpPr>
          <p:nvPr>
            <p:ph type="sldNum" sz="quarter" idx="12"/>
          </p:nvPr>
        </p:nvSpPr>
        <p:spPr/>
        <p:txBody>
          <a:bodyPr/>
          <a:lstStyle/>
          <a:p>
            <a:fld id="{3EA22FA6-51BC-48E3-A8F0-D072A95BC8A6}" type="slidenum">
              <a:rPr lang="es-AR" smtClean="0"/>
              <a:t>‹Nº›</a:t>
            </a:fld>
            <a:endParaRPr lang="es-AR"/>
          </a:p>
        </p:txBody>
      </p:sp>
    </p:spTree>
    <p:extLst>
      <p:ext uri="{BB962C8B-B14F-4D97-AF65-F5344CB8AC3E}">
        <p14:creationId xmlns:p14="http://schemas.microsoft.com/office/powerpoint/2010/main" val="37633222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BF4FA3-3E69-4343-AED1-2BD307AFE32C}"/>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C150978A-B73C-459D-9F54-6DDEFD89D5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87EDE2DA-F840-44A1-8470-036ACE63A5C7}"/>
              </a:ext>
            </a:extLst>
          </p:cNvPr>
          <p:cNvSpPr>
            <a:spLocks noGrp="1"/>
          </p:cNvSpPr>
          <p:nvPr>
            <p:ph type="dt" sz="half" idx="10"/>
          </p:nvPr>
        </p:nvSpPr>
        <p:spPr/>
        <p:txBody>
          <a:bodyPr/>
          <a:lstStyle/>
          <a:p>
            <a:fld id="{AC59DD20-ED11-4E71-92FD-A93D7BF866D0}" type="datetimeFigureOut">
              <a:rPr lang="es-AR" smtClean="0"/>
              <a:t>7/6/2025</a:t>
            </a:fld>
            <a:endParaRPr lang="es-AR"/>
          </a:p>
        </p:txBody>
      </p:sp>
      <p:sp>
        <p:nvSpPr>
          <p:cNvPr id="5" name="Marcador de pie de página 4">
            <a:extLst>
              <a:ext uri="{FF2B5EF4-FFF2-40B4-BE49-F238E27FC236}">
                <a16:creationId xmlns:a16="http://schemas.microsoft.com/office/drawing/2014/main" id="{E70BDC0A-34DA-41A0-9249-DE6238F12F70}"/>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C05AABF-6405-4165-A5F9-5373680CEFBB}"/>
              </a:ext>
            </a:extLst>
          </p:cNvPr>
          <p:cNvSpPr>
            <a:spLocks noGrp="1"/>
          </p:cNvSpPr>
          <p:nvPr>
            <p:ph type="sldNum" sz="quarter" idx="12"/>
          </p:nvPr>
        </p:nvSpPr>
        <p:spPr/>
        <p:txBody>
          <a:bodyPr/>
          <a:lstStyle/>
          <a:p>
            <a:fld id="{3EA22FA6-51BC-48E3-A8F0-D072A95BC8A6}" type="slidenum">
              <a:rPr lang="es-AR" smtClean="0"/>
              <a:t>‹Nº›</a:t>
            </a:fld>
            <a:endParaRPr lang="es-AR"/>
          </a:p>
        </p:txBody>
      </p:sp>
    </p:spTree>
    <p:extLst>
      <p:ext uri="{BB962C8B-B14F-4D97-AF65-F5344CB8AC3E}">
        <p14:creationId xmlns:p14="http://schemas.microsoft.com/office/powerpoint/2010/main" val="4152796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85548D-819A-437E-9228-B74AE87CE9C6}"/>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578D3E13-4E2A-4A30-B544-6A07D609E76E}"/>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F971EF07-CF5C-44AD-BD46-650D6BDAA291}"/>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50508FAF-7F95-47AB-B9ED-69D7C93E23A2}"/>
              </a:ext>
            </a:extLst>
          </p:cNvPr>
          <p:cNvSpPr>
            <a:spLocks noGrp="1"/>
          </p:cNvSpPr>
          <p:nvPr>
            <p:ph type="dt" sz="half" idx="10"/>
          </p:nvPr>
        </p:nvSpPr>
        <p:spPr/>
        <p:txBody>
          <a:bodyPr/>
          <a:lstStyle/>
          <a:p>
            <a:fld id="{AC59DD20-ED11-4E71-92FD-A93D7BF866D0}" type="datetimeFigureOut">
              <a:rPr lang="es-AR" smtClean="0"/>
              <a:t>7/6/2025</a:t>
            </a:fld>
            <a:endParaRPr lang="es-AR"/>
          </a:p>
        </p:txBody>
      </p:sp>
      <p:sp>
        <p:nvSpPr>
          <p:cNvPr id="6" name="Marcador de pie de página 5">
            <a:extLst>
              <a:ext uri="{FF2B5EF4-FFF2-40B4-BE49-F238E27FC236}">
                <a16:creationId xmlns:a16="http://schemas.microsoft.com/office/drawing/2014/main" id="{B90476DE-4393-4BAF-9EE5-26E2D98BFAA7}"/>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FA408D96-36CB-437D-BBC4-473BC7EC9AA0}"/>
              </a:ext>
            </a:extLst>
          </p:cNvPr>
          <p:cNvSpPr>
            <a:spLocks noGrp="1"/>
          </p:cNvSpPr>
          <p:nvPr>
            <p:ph type="sldNum" sz="quarter" idx="12"/>
          </p:nvPr>
        </p:nvSpPr>
        <p:spPr/>
        <p:txBody>
          <a:bodyPr/>
          <a:lstStyle/>
          <a:p>
            <a:fld id="{3EA22FA6-51BC-48E3-A8F0-D072A95BC8A6}" type="slidenum">
              <a:rPr lang="es-AR" smtClean="0"/>
              <a:t>‹Nº›</a:t>
            </a:fld>
            <a:endParaRPr lang="es-AR"/>
          </a:p>
        </p:txBody>
      </p:sp>
    </p:spTree>
    <p:extLst>
      <p:ext uri="{BB962C8B-B14F-4D97-AF65-F5344CB8AC3E}">
        <p14:creationId xmlns:p14="http://schemas.microsoft.com/office/powerpoint/2010/main" val="34867096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4B7FFEF-C3F3-4071-8C87-4B5645671144}"/>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E9ABBAD5-67A9-4F78-BA88-CA1689A05D4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2FA46D35-E775-4B0F-9BF1-CD956FF7E538}"/>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8AAC8715-51A7-42DD-8A2E-297348821FD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94044552-B64A-4EF4-96A2-082281A713C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47F3091D-BC0D-4FB1-90CB-1447F9E1B53B}"/>
              </a:ext>
            </a:extLst>
          </p:cNvPr>
          <p:cNvSpPr>
            <a:spLocks noGrp="1"/>
          </p:cNvSpPr>
          <p:nvPr>
            <p:ph type="dt" sz="half" idx="10"/>
          </p:nvPr>
        </p:nvSpPr>
        <p:spPr/>
        <p:txBody>
          <a:bodyPr/>
          <a:lstStyle/>
          <a:p>
            <a:fld id="{AC59DD20-ED11-4E71-92FD-A93D7BF866D0}" type="datetimeFigureOut">
              <a:rPr lang="es-AR" smtClean="0"/>
              <a:t>7/6/2025</a:t>
            </a:fld>
            <a:endParaRPr lang="es-AR"/>
          </a:p>
        </p:txBody>
      </p:sp>
      <p:sp>
        <p:nvSpPr>
          <p:cNvPr id="8" name="Marcador de pie de página 7">
            <a:extLst>
              <a:ext uri="{FF2B5EF4-FFF2-40B4-BE49-F238E27FC236}">
                <a16:creationId xmlns:a16="http://schemas.microsoft.com/office/drawing/2014/main" id="{7B3CFA28-F08C-4C7A-ACC1-7C11D9A2B641}"/>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9DFBD29E-8077-45DD-B3E5-72B8E3C0352E}"/>
              </a:ext>
            </a:extLst>
          </p:cNvPr>
          <p:cNvSpPr>
            <a:spLocks noGrp="1"/>
          </p:cNvSpPr>
          <p:nvPr>
            <p:ph type="sldNum" sz="quarter" idx="12"/>
          </p:nvPr>
        </p:nvSpPr>
        <p:spPr/>
        <p:txBody>
          <a:bodyPr/>
          <a:lstStyle/>
          <a:p>
            <a:fld id="{3EA22FA6-51BC-48E3-A8F0-D072A95BC8A6}" type="slidenum">
              <a:rPr lang="es-AR" smtClean="0"/>
              <a:t>‹Nº›</a:t>
            </a:fld>
            <a:endParaRPr lang="es-AR"/>
          </a:p>
        </p:txBody>
      </p:sp>
    </p:spTree>
    <p:extLst>
      <p:ext uri="{BB962C8B-B14F-4D97-AF65-F5344CB8AC3E}">
        <p14:creationId xmlns:p14="http://schemas.microsoft.com/office/powerpoint/2010/main" val="3541794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A63C35-76EE-44F2-A4BE-C9031D0E3F0E}"/>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7476553E-B0E8-43F5-B08D-E54D61EA26FD}"/>
              </a:ext>
            </a:extLst>
          </p:cNvPr>
          <p:cNvSpPr>
            <a:spLocks noGrp="1"/>
          </p:cNvSpPr>
          <p:nvPr>
            <p:ph type="dt" sz="half" idx="10"/>
          </p:nvPr>
        </p:nvSpPr>
        <p:spPr/>
        <p:txBody>
          <a:bodyPr/>
          <a:lstStyle/>
          <a:p>
            <a:fld id="{AC59DD20-ED11-4E71-92FD-A93D7BF866D0}" type="datetimeFigureOut">
              <a:rPr lang="es-AR" smtClean="0"/>
              <a:t>7/6/2025</a:t>
            </a:fld>
            <a:endParaRPr lang="es-AR"/>
          </a:p>
        </p:txBody>
      </p:sp>
      <p:sp>
        <p:nvSpPr>
          <p:cNvPr id="4" name="Marcador de pie de página 3">
            <a:extLst>
              <a:ext uri="{FF2B5EF4-FFF2-40B4-BE49-F238E27FC236}">
                <a16:creationId xmlns:a16="http://schemas.microsoft.com/office/drawing/2014/main" id="{995BDA2E-A8F7-4631-BAC3-D07A21EC210D}"/>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3C80CC8F-A488-4BB3-9496-7A3C19B6171F}"/>
              </a:ext>
            </a:extLst>
          </p:cNvPr>
          <p:cNvSpPr>
            <a:spLocks noGrp="1"/>
          </p:cNvSpPr>
          <p:nvPr>
            <p:ph type="sldNum" sz="quarter" idx="12"/>
          </p:nvPr>
        </p:nvSpPr>
        <p:spPr/>
        <p:txBody>
          <a:bodyPr/>
          <a:lstStyle/>
          <a:p>
            <a:fld id="{3EA22FA6-51BC-48E3-A8F0-D072A95BC8A6}" type="slidenum">
              <a:rPr lang="es-AR" smtClean="0"/>
              <a:t>‹Nº›</a:t>
            </a:fld>
            <a:endParaRPr lang="es-AR"/>
          </a:p>
        </p:txBody>
      </p:sp>
    </p:spTree>
    <p:extLst>
      <p:ext uri="{BB962C8B-B14F-4D97-AF65-F5344CB8AC3E}">
        <p14:creationId xmlns:p14="http://schemas.microsoft.com/office/powerpoint/2010/main" val="2077291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58F3B939-FB9F-405C-99DD-A990AFF0AC11}"/>
              </a:ext>
            </a:extLst>
          </p:cNvPr>
          <p:cNvSpPr>
            <a:spLocks noGrp="1"/>
          </p:cNvSpPr>
          <p:nvPr>
            <p:ph type="dt" sz="half" idx="10"/>
          </p:nvPr>
        </p:nvSpPr>
        <p:spPr/>
        <p:txBody>
          <a:bodyPr/>
          <a:lstStyle/>
          <a:p>
            <a:fld id="{AC59DD20-ED11-4E71-92FD-A93D7BF866D0}" type="datetimeFigureOut">
              <a:rPr lang="es-AR" smtClean="0"/>
              <a:t>7/6/2025</a:t>
            </a:fld>
            <a:endParaRPr lang="es-AR"/>
          </a:p>
        </p:txBody>
      </p:sp>
      <p:sp>
        <p:nvSpPr>
          <p:cNvPr id="3" name="Marcador de pie de página 2">
            <a:extLst>
              <a:ext uri="{FF2B5EF4-FFF2-40B4-BE49-F238E27FC236}">
                <a16:creationId xmlns:a16="http://schemas.microsoft.com/office/drawing/2014/main" id="{C8C6E498-F09D-444B-B59C-8E9517E07A5E}"/>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632CA70A-DB78-47BD-B1ED-C8B584DCC2BC}"/>
              </a:ext>
            </a:extLst>
          </p:cNvPr>
          <p:cNvSpPr>
            <a:spLocks noGrp="1"/>
          </p:cNvSpPr>
          <p:nvPr>
            <p:ph type="sldNum" sz="quarter" idx="12"/>
          </p:nvPr>
        </p:nvSpPr>
        <p:spPr/>
        <p:txBody>
          <a:bodyPr/>
          <a:lstStyle/>
          <a:p>
            <a:fld id="{3EA22FA6-51BC-48E3-A8F0-D072A95BC8A6}" type="slidenum">
              <a:rPr lang="es-AR" smtClean="0"/>
              <a:t>‹Nº›</a:t>
            </a:fld>
            <a:endParaRPr lang="es-AR"/>
          </a:p>
        </p:txBody>
      </p:sp>
    </p:spTree>
    <p:extLst>
      <p:ext uri="{BB962C8B-B14F-4D97-AF65-F5344CB8AC3E}">
        <p14:creationId xmlns:p14="http://schemas.microsoft.com/office/powerpoint/2010/main" val="3447010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BAF9D6F-3887-47D5-ACC6-EF20FAEEF36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ACCA35B1-59CF-45E2-A379-A953AFB731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782E28A4-F834-47B1-9010-C0BCCE7974B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F058A36-760B-4771-B788-BA5E998FDE66}"/>
              </a:ext>
            </a:extLst>
          </p:cNvPr>
          <p:cNvSpPr>
            <a:spLocks noGrp="1"/>
          </p:cNvSpPr>
          <p:nvPr>
            <p:ph type="dt" sz="half" idx="10"/>
          </p:nvPr>
        </p:nvSpPr>
        <p:spPr/>
        <p:txBody>
          <a:bodyPr/>
          <a:lstStyle/>
          <a:p>
            <a:fld id="{AC59DD20-ED11-4E71-92FD-A93D7BF866D0}" type="datetimeFigureOut">
              <a:rPr lang="es-AR" smtClean="0"/>
              <a:t>7/6/2025</a:t>
            </a:fld>
            <a:endParaRPr lang="es-AR"/>
          </a:p>
        </p:txBody>
      </p:sp>
      <p:sp>
        <p:nvSpPr>
          <p:cNvPr id="6" name="Marcador de pie de página 5">
            <a:extLst>
              <a:ext uri="{FF2B5EF4-FFF2-40B4-BE49-F238E27FC236}">
                <a16:creationId xmlns:a16="http://schemas.microsoft.com/office/drawing/2014/main" id="{AE2EC98F-6B89-43CE-91EA-DB7091531252}"/>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CC70A791-2117-4042-8DF0-F833FAAFECA2}"/>
              </a:ext>
            </a:extLst>
          </p:cNvPr>
          <p:cNvSpPr>
            <a:spLocks noGrp="1"/>
          </p:cNvSpPr>
          <p:nvPr>
            <p:ph type="sldNum" sz="quarter" idx="12"/>
          </p:nvPr>
        </p:nvSpPr>
        <p:spPr/>
        <p:txBody>
          <a:bodyPr/>
          <a:lstStyle/>
          <a:p>
            <a:fld id="{3EA22FA6-51BC-48E3-A8F0-D072A95BC8A6}" type="slidenum">
              <a:rPr lang="es-AR" smtClean="0"/>
              <a:t>‹Nº›</a:t>
            </a:fld>
            <a:endParaRPr lang="es-AR"/>
          </a:p>
        </p:txBody>
      </p:sp>
    </p:spTree>
    <p:extLst>
      <p:ext uri="{BB962C8B-B14F-4D97-AF65-F5344CB8AC3E}">
        <p14:creationId xmlns:p14="http://schemas.microsoft.com/office/powerpoint/2010/main" val="2116539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B43DED-6D8E-4DF3-B40D-275F741A25B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12840481-1CC6-4C62-884C-EEC86FE58DB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CC1A762F-54F0-4D0B-9E4B-6FABA68797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C3265CE6-0B1B-4C17-B664-13A12D6A1AB0}"/>
              </a:ext>
            </a:extLst>
          </p:cNvPr>
          <p:cNvSpPr>
            <a:spLocks noGrp="1"/>
          </p:cNvSpPr>
          <p:nvPr>
            <p:ph type="dt" sz="half" idx="10"/>
          </p:nvPr>
        </p:nvSpPr>
        <p:spPr/>
        <p:txBody>
          <a:bodyPr/>
          <a:lstStyle/>
          <a:p>
            <a:fld id="{AC59DD20-ED11-4E71-92FD-A93D7BF866D0}" type="datetimeFigureOut">
              <a:rPr lang="es-AR" smtClean="0"/>
              <a:t>7/6/2025</a:t>
            </a:fld>
            <a:endParaRPr lang="es-AR"/>
          </a:p>
        </p:txBody>
      </p:sp>
      <p:sp>
        <p:nvSpPr>
          <p:cNvPr id="6" name="Marcador de pie de página 5">
            <a:extLst>
              <a:ext uri="{FF2B5EF4-FFF2-40B4-BE49-F238E27FC236}">
                <a16:creationId xmlns:a16="http://schemas.microsoft.com/office/drawing/2014/main" id="{30A4573D-BF5A-4EC8-BE01-309CFEF5DC09}"/>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3F6D529C-BA62-4A14-AD8C-7199995822A2}"/>
              </a:ext>
            </a:extLst>
          </p:cNvPr>
          <p:cNvSpPr>
            <a:spLocks noGrp="1"/>
          </p:cNvSpPr>
          <p:nvPr>
            <p:ph type="sldNum" sz="quarter" idx="12"/>
          </p:nvPr>
        </p:nvSpPr>
        <p:spPr/>
        <p:txBody>
          <a:bodyPr/>
          <a:lstStyle/>
          <a:p>
            <a:fld id="{3EA22FA6-51BC-48E3-A8F0-D072A95BC8A6}" type="slidenum">
              <a:rPr lang="es-AR" smtClean="0"/>
              <a:t>‹Nº›</a:t>
            </a:fld>
            <a:endParaRPr lang="es-AR"/>
          </a:p>
        </p:txBody>
      </p:sp>
    </p:spTree>
    <p:extLst>
      <p:ext uri="{BB962C8B-B14F-4D97-AF65-F5344CB8AC3E}">
        <p14:creationId xmlns:p14="http://schemas.microsoft.com/office/powerpoint/2010/main" val="13312470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DC9642-5D17-48A6-B212-CAA79D67E266}"/>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BB951949-3345-4B02-A2A7-D1199C5ABFBE}"/>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B6EF0BA0-19F2-4E66-A6BF-900567AE8BDB}"/>
              </a:ext>
            </a:extLst>
          </p:cNvPr>
          <p:cNvSpPr>
            <a:spLocks noGrp="1"/>
          </p:cNvSpPr>
          <p:nvPr>
            <p:ph type="dt" sz="half" idx="10"/>
          </p:nvPr>
        </p:nvSpPr>
        <p:spPr/>
        <p:txBody>
          <a:bodyPr/>
          <a:lstStyle/>
          <a:p>
            <a:fld id="{AC59DD20-ED11-4E71-92FD-A93D7BF866D0}" type="datetimeFigureOut">
              <a:rPr lang="es-AR" smtClean="0"/>
              <a:t>7/6/2025</a:t>
            </a:fld>
            <a:endParaRPr lang="es-AR"/>
          </a:p>
        </p:txBody>
      </p:sp>
      <p:sp>
        <p:nvSpPr>
          <p:cNvPr id="5" name="Marcador de pie de página 4">
            <a:extLst>
              <a:ext uri="{FF2B5EF4-FFF2-40B4-BE49-F238E27FC236}">
                <a16:creationId xmlns:a16="http://schemas.microsoft.com/office/drawing/2014/main" id="{791AF441-0C8C-4A6C-8541-AD4968740AB5}"/>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7ABD0BA-AF3C-44F1-BFE8-8973A7F39A49}"/>
              </a:ext>
            </a:extLst>
          </p:cNvPr>
          <p:cNvSpPr>
            <a:spLocks noGrp="1"/>
          </p:cNvSpPr>
          <p:nvPr>
            <p:ph type="sldNum" sz="quarter" idx="12"/>
          </p:nvPr>
        </p:nvSpPr>
        <p:spPr/>
        <p:txBody>
          <a:bodyPr/>
          <a:lstStyle/>
          <a:p>
            <a:fld id="{3EA22FA6-51BC-48E3-A8F0-D072A95BC8A6}" type="slidenum">
              <a:rPr lang="es-AR" smtClean="0"/>
              <a:t>‹Nº›</a:t>
            </a:fld>
            <a:endParaRPr lang="es-AR"/>
          </a:p>
        </p:txBody>
      </p:sp>
    </p:spTree>
    <p:extLst>
      <p:ext uri="{BB962C8B-B14F-4D97-AF65-F5344CB8AC3E}">
        <p14:creationId xmlns:p14="http://schemas.microsoft.com/office/powerpoint/2010/main" val="7818508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50F1EEA-A78B-4A9D-A625-C5EE05720F2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EB4B4167-6804-4E35-92B8-D1F906C452DE}"/>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1915C7E0-0E68-49BE-8DE1-18A6870AC7E3}"/>
              </a:ext>
            </a:extLst>
          </p:cNvPr>
          <p:cNvSpPr>
            <a:spLocks noGrp="1"/>
          </p:cNvSpPr>
          <p:nvPr>
            <p:ph type="dt" sz="half" idx="10"/>
          </p:nvPr>
        </p:nvSpPr>
        <p:spPr/>
        <p:txBody>
          <a:bodyPr/>
          <a:lstStyle/>
          <a:p>
            <a:fld id="{AC59DD20-ED11-4E71-92FD-A93D7BF866D0}" type="datetimeFigureOut">
              <a:rPr lang="es-AR" smtClean="0"/>
              <a:t>7/6/2025</a:t>
            </a:fld>
            <a:endParaRPr lang="es-AR"/>
          </a:p>
        </p:txBody>
      </p:sp>
      <p:sp>
        <p:nvSpPr>
          <p:cNvPr id="5" name="Marcador de pie de página 4">
            <a:extLst>
              <a:ext uri="{FF2B5EF4-FFF2-40B4-BE49-F238E27FC236}">
                <a16:creationId xmlns:a16="http://schemas.microsoft.com/office/drawing/2014/main" id="{2BE30032-085E-4457-B9C5-09ADC0B7BFFD}"/>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300856F6-4223-41B0-BBCA-BA15C10FD1EF}"/>
              </a:ext>
            </a:extLst>
          </p:cNvPr>
          <p:cNvSpPr>
            <a:spLocks noGrp="1"/>
          </p:cNvSpPr>
          <p:nvPr>
            <p:ph type="sldNum" sz="quarter" idx="12"/>
          </p:nvPr>
        </p:nvSpPr>
        <p:spPr/>
        <p:txBody>
          <a:bodyPr/>
          <a:lstStyle/>
          <a:p>
            <a:fld id="{3EA22FA6-51BC-48E3-A8F0-D072A95BC8A6}" type="slidenum">
              <a:rPr lang="es-AR" smtClean="0"/>
              <a:t>‹Nº›</a:t>
            </a:fld>
            <a:endParaRPr lang="es-AR"/>
          </a:p>
        </p:txBody>
      </p:sp>
    </p:spTree>
    <p:extLst>
      <p:ext uri="{BB962C8B-B14F-4D97-AF65-F5344CB8AC3E}">
        <p14:creationId xmlns:p14="http://schemas.microsoft.com/office/powerpoint/2010/main" val="19029860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Autofit/>
          </a:bodyPr>
          <a:lstStyle>
            <a:lvl1pPr marL="609585" lvl="0" indent="-457189" algn="just">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lgn="just">
              <a:spcBef>
                <a:spcPts val="2133"/>
              </a:spcBef>
              <a:spcAft>
                <a:spcPts val="0"/>
              </a:spcAft>
              <a:buSzPts val="1400"/>
              <a:buChar char="■"/>
              <a:defRPr sz="2267"/>
            </a:lvl3pPr>
            <a:lvl4pPr marL="2438339" lvl="3" indent="-423323">
              <a:spcBef>
                <a:spcPts val="0"/>
              </a:spcBef>
              <a:spcAft>
                <a:spcPts val="0"/>
              </a:spcAft>
              <a:buSzPts val="1400"/>
              <a:buChar char="●"/>
              <a:defRPr/>
            </a:lvl4pPr>
            <a:lvl5pPr marL="3047924" lvl="4" indent="-423323">
              <a:spcBef>
                <a:spcPts val="2133"/>
              </a:spcBef>
              <a:spcAft>
                <a:spcPts val="0"/>
              </a:spcAft>
              <a:buSzPts val="1400"/>
              <a:buChar char="○"/>
              <a:defRPr/>
            </a:lvl5pPr>
            <a:lvl6pPr marL="3657509" lvl="5" indent="-423323">
              <a:spcBef>
                <a:spcPts val="2133"/>
              </a:spcBef>
              <a:spcAft>
                <a:spcPts val="0"/>
              </a:spcAft>
              <a:buSzPts val="1400"/>
              <a:buChar char="■"/>
              <a:defRPr/>
            </a:lvl6pPr>
            <a:lvl7pPr marL="4267093" lvl="6" indent="-423323">
              <a:spcBef>
                <a:spcPts val="2133"/>
              </a:spcBef>
              <a:spcAft>
                <a:spcPts val="0"/>
              </a:spcAft>
              <a:buSzPts val="1400"/>
              <a:buChar char="●"/>
              <a:defRPr/>
            </a:lvl7pPr>
            <a:lvl8pPr marL="4876678" lvl="7" indent="-423323">
              <a:spcBef>
                <a:spcPts val="2133"/>
              </a:spcBef>
              <a:spcAft>
                <a:spcPts val="0"/>
              </a:spcAft>
              <a:buSzPts val="1400"/>
              <a:buChar char="○"/>
              <a:defRPr/>
            </a:lvl8pPr>
            <a:lvl9pPr marL="5486263" lvl="8" indent="-423323">
              <a:spcBef>
                <a:spcPts val="2133"/>
              </a:spcBef>
              <a:spcAft>
                <a:spcPts val="2133"/>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AR" smtClean="0"/>
              <a:pPr/>
              <a:t>‹Nº›</a:t>
            </a:fld>
            <a:endParaRPr lang="es-AR"/>
          </a:p>
        </p:txBody>
      </p:sp>
    </p:spTree>
    <p:extLst>
      <p:ext uri="{BB962C8B-B14F-4D97-AF65-F5344CB8AC3E}">
        <p14:creationId xmlns:p14="http://schemas.microsoft.com/office/powerpoint/2010/main" val="33184120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EF7E09D7-391A-414A-B8E3-53D48371FF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432A01E5-2EF4-4F82-B20A-5FAFCBBE5F9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6B14F95A-78DF-44B8-B9FF-B5660B71B84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59DD20-ED11-4E71-92FD-A93D7BF866D0}" type="datetimeFigureOut">
              <a:rPr lang="es-AR" smtClean="0"/>
              <a:t>7/6/2025</a:t>
            </a:fld>
            <a:endParaRPr lang="es-AR"/>
          </a:p>
        </p:txBody>
      </p:sp>
      <p:sp>
        <p:nvSpPr>
          <p:cNvPr id="5" name="Marcador de pie de página 4">
            <a:extLst>
              <a:ext uri="{FF2B5EF4-FFF2-40B4-BE49-F238E27FC236}">
                <a16:creationId xmlns:a16="http://schemas.microsoft.com/office/drawing/2014/main" id="{EF381493-E0C5-4016-9E2C-E85DFACA62A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AR"/>
          </a:p>
        </p:txBody>
      </p:sp>
      <p:sp>
        <p:nvSpPr>
          <p:cNvPr id="6" name="Marcador de número de diapositiva 5">
            <a:extLst>
              <a:ext uri="{FF2B5EF4-FFF2-40B4-BE49-F238E27FC236}">
                <a16:creationId xmlns:a16="http://schemas.microsoft.com/office/drawing/2014/main" id="{95DDB808-AB87-47DD-AEB8-7B3221347C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A22FA6-51BC-48E3-A8F0-D072A95BC8A6}" type="slidenum">
              <a:rPr lang="es-AR" smtClean="0"/>
              <a:t>‹Nº›</a:t>
            </a:fld>
            <a:endParaRPr lang="es-AR"/>
          </a:p>
        </p:txBody>
      </p:sp>
    </p:spTree>
    <p:extLst>
      <p:ext uri="{BB962C8B-B14F-4D97-AF65-F5344CB8AC3E}">
        <p14:creationId xmlns:p14="http://schemas.microsoft.com/office/powerpoint/2010/main" val="218923136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A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ifip.org/Reports/IFIP-Code-of-Ethics.pdf" TargetMode="External"/><Relationship Id="rId2" Type="http://schemas.openxmlformats.org/officeDocument/2006/relationships/hyperlink" Target="https://www.ifip.org/ifip-code-of-ethics/"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https://commission.europa.eu/law/law-topic/data-protection/reform/rules-business-and-organisations/obligations/how-can-i-demonstrate-my-organisation-compliant-gdpr_en" TargetMode="External"/><Relationship Id="rId2" Type="http://schemas.openxmlformats.org/officeDocument/2006/relationships/notesSlide" Target="../notesSlides/notesSlide2.xml"/><Relationship Id="rId1" Type="http://schemas.openxmlformats.org/officeDocument/2006/relationships/slideLayout" Target="../slideLayouts/slideLayout12.xml"/><Relationship Id="rId4" Type="http://schemas.openxmlformats.org/officeDocument/2006/relationships/hyperlink" Target="https://www.itgovernance.co.uk/gdpr-compliance-software"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s://ethics.acm.org/code-of-ethics/using-the-code/case-malware-disruption"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hyperlink" Target="https://ethics.acm.org/code-of-ethics/using-the-code/case-medical-implant-risk-analysis" TargetMode="Externa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hyperlink" Target="https://ethics.acm.org/code-of-ethics/using-the-code/case-abusive-workplace-behavior" TargetMode="Externa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ethics.acm.org/code-of-ethics/using-the-code/case-automated-active-response-weaponry/"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hyperlink" Target="https://ethics.acm.org/code-of-ethics/using-the-code/case-dark-ux-patterns/" TargetMode="Externa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ethics.acm.org/code-of-ethics/using-the-code/case-malicious-inputs-to-content-filter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8E836F-6BEC-4912-8513-1AF93174504C}"/>
              </a:ext>
            </a:extLst>
          </p:cNvPr>
          <p:cNvSpPr>
            <a:spLocks noGrp="1"/>
          </p:cNvSpPr>
          <p:nvPr>
            <p:ph type="ctrTitle"/>
          </p:nvPr>
        </p:nvSpPr>
        <p:spPr>
          <a:xfrm>
            <a:off x="1524000" y="1384663"/>
            <a:ext cx="9144000" cy="2037807"/>
          </a:xfrm>
          <a:ln w="9525">
            <a:solidFill>
              <a:schemeClr val="tx1"/>
            </a:solidFill>
          </a:ln>
        </p:spPr>
        <p:txBody>
          <a:bodyPr>
            <a:normAutofit fontScale="90000"/>
          </a:bodyPr>
          <a:lstStyle/>
          <a:p>
            <a:br>
              <a:rPr lang="es-AR" dirty="0"/>
            </a:br>
            <a:br>
              <a:rPr lang="es-AR" dirty="0"/>
            </a:br>
            <a:br>
              <a:rPr lang="es-AR" dirty="0"/>
            </a:br>
            <a:r>
              <a:rPr lang="es-AR" dirty="0"/>
              <a:t>Código de Ética ACM</a:t>
            </a:r>
            <a:br>
              <a:rPr lang="es-AR" dirty="0"/>
            </a:br>
            <a:endParaRPr lang="es-AR" dirty="0"/>
          </a:p>
        </p:txBody>
      </p:sp>
      <p:sp>
        <p:nvSpPr>
          <p:cNvPr id="3" name="Subtítulo 2">
            <a:extLst>
              <a:ext uri="{FF2B5EF4-FFF2-40B4-BE49-F238E27FC236}">
                <a16:creationId xmlns:a16="http://schemas.microsoft.com/office/drawing/2014/main" id="{607FC7F0-4A03-490A-A06F-5ED743FA0398}"/>
              </a:ext>
            </a:extLst>
          </p:cNvPr>
          <p:cNvSpPr>
            <a:spLocks noGrp="1"/>
          </p:cNvSpPr>
          <p:nvPr>
            <p:ph type="subTitle" idx="1"/>
          </p:nvPr>
        </p:nvSpPr>
        <p:spPr>
          <a:xfrm>
            <a:off x="1524000" y="3840480"/>
            <a:ext cx="9144000" cy="1417320"/>
          </a:xfrm>
        </p:spPr>
        <p:txBody>
          <a:bodyPr/>
          <a:lstStyle/>
          <a:p>
            <a:r>
              <a:rPr lang="es-AR" dirty="0"/>
              <a:t>Versión 2018</a:t>
            </a:r>
          </a:p>
        </p:txBody>
      </p:sp>
    </p:spTree>
    <p:extLst>
      <p:ext uri="{BB962C8B-B14F-4D97-AF65-F5344CB8AC3E}">
        <p14:creationId xmlns:p14="http://schemas.microsoft.com/office/powerpoint/2010/main" val="23995485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225D12-6D29-419D-A37E-25FF63DB6387}"/>
              </a:ext>
            </a:extLst>
          </p:cNvPr>
          <p:cNvSpPr>
            <a:spLocks noGrp="1"/>
          </p:cNvSpPr>
          <p:nvPr>
            <p:ph type="title"/>
          </p:nvPr>
        </p:nvSpPr>
        <p:spPr>
          <a:xfrm>
            <a:off x="1282337" y="378188"/>
            <a:ext cx="9363891" cy="1325563"/>
          </a:xfrm>
          <a:ln w="12700">
            <a:solidFill>
              <a:schemeClr val="tx1"/>
            </a:solidFill>
          </a:ln>
        </p:spPr>
        <p:txBody>
          <a:bodyPr/>
          <a:lstStyle/>
          <a:p>
            <a:pPr algn="ctr"/>
            <a:r>
              <a:rPr lang="es-AR" dirty="0"/>
              <a:t> </a:t>
            </a:r>
            <a:r>
              <a:rPr lang="es-AR" b="1" dirty="0"/>
              <a:t>1. PRINCIPIOS ÉTICOS GENERALES</a:t>
            </a:r>
          </a:p>
        </p:txBody>
      </p:sp>
      <p:sp>
        <p:nvSpPr>
          <p:cNvPr id="3" name="Marcador de contenido 2">
            <a:extLst>
              <a:ext uri="{FF2B5EF4-FFF2-40B4-BE49-F238E27FC236}">
                <a16:creationId xmlns:a16="http://schemas.microsoft.com/office/drawing/2014/main" id="{25BD8D28-B910-41F6-8715-1A08C1CE3B07}"/>
              </a:ext>
            </a:extLst>
          </p:cNvPr>
          <p:cNvSpPr>
            <a:spLocks noGrp="1"/>
          </p:cNvSpPr>
          <p:nvPr>
            <p:ph idx="1"/>
          </p:nvPr>
        </p:nvSpPr>
        <p:spPr>
          <a:xfrm>
            <a:off x="838200" y="1985553"/>
            <a:ext cx="10515600" cy="4191409"/>
          </a:xfrm>
        </p:spPr>
        <p:txBody>
          <a:bodyPr>
            <a:normAutofit lnSpcReduction="10000"/>
          </a:bodyPr>
          <a:lstStyle/>
          <a:p>
            <a:r>
              <a:rPr lang="es-AR" dirty="0"/>
              <a:t>1.1 Contribuir a la sociedad y al bienestar humano, reconociendo que todas las personas son partes interesadas en la Informática.</a:t>
            </a:r>
          </a:p>
          <a:p>
            <a:r>
              <a:rPr lang="es-AR" dirty="0"/>
              <a:t>1.2 </a:t>
            </a:r>
            <a:r>
              <a:rPr lang="es-AR" dirty="0">
                <a:latin typeface="Calibri Light" panose="020F0302020204030204" pitchFamily="34" charset="0"/>
                <a:cs typeface="Calibri Light" panose="020F0302020204030204" pitchFamily="34" charset="0"/>
              </a:rPr>
              <a:t>Evitar</a:t>
            </a:r>
            <a:r>
              <a:rPr lang="es-AR" dirty="0"/>
              <a:t> el daño.</a:t>
            </a:r>
          </a:p>
          <a:p>
            <a:r>
              <a:rPr lang="es-AR" dirty="0"/>
              <a:t>1.3 Ser honesto y confiable.</a:t>
            </a:r>
          </a:p>
          <a:p>
            <a:r>
              <a:rPr lang="es-AR" dirty="0"/>
              <a:t>1.4 Ser justo y tomar medidas para no discriminar.</a:t>
            </a:r>
          </a:p>
          <a:p>
            <a:r>
              <a:rPr lang="es-AR" dirty="0"/>
              <a:t>1.5 Respetar el trabajo necesario para producir nuevas ideas, inventos, trabajos creativos y artefactos informáticos.</a:t>
            </a:r>
          </a:p>
          <a:p>
            <a:r>
              <a:rPr lang="es-AR" dirty="0"/>
              <a:t>1.6 Respetar la privacidad.</a:t>
            </a:r>
          </a:p>
          <a:p>
            <a:r>
              <a:rPr lang="es-AR" dirty="0"/>
              <a:t>1.7 Respetar la confidencialidad.</a:t>
            </a:r>
          </a:p>
        </p:txBody>
      </p:sp>
    </p:spTree>
    <p:extLst>
      <p:ext uri="{BB962C8B-B14F-4D97-AF65-F5344CB8AC3E}">
        <p14:creationId xmlns:p14="http://schemas.microsoft.com/office/powerpoint/2010/main" val="2870599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2E2B33-04EC-4594-91EC-1B28A457F475}"/>
              </a:ext>
            </a:extLst>
          </p:cNvPr>
          <p:cNvSpPr>
            <a:spLocks noGrp="1"/>
          </p:cNvSpPr>
          <p:nvPr>
            <p:ph type="title"/>
          </p:nvPr>
        </p:nvSpPr>
        <p:spPr>
          <a:ln w="9525">
            <a:solidFill>
              <a:schemeClr val="tx1"/>
            </a:solidFill>
          </a:ln>
        </p:spPr>
        <p:txBody>
          <a:bodyPr>
            <a:normAutofit/>
          </a:bodyPr>
          <a:lstStyle/>
          <a:p>
            <a:r>
              <a:rPr lang="es-AR" b="1" dirty="0"/>
              <a:t>1.1 Contribuir a la sociedad y al bienestar humano.</a:t>
            </a:r>
          </a:p>
        </p:txBody>
      </p:sp>
      <p:sp>
        <p:nvSpPr>
          <p:cNvPr id="3" name="Marcador de contenido 2">
            <a:extLst>
              <a:ext uri="{FF2B5EF4-FFF2-40B4-BE49-F238E27FC236}">
                <a16:creationId xmlns:a16="http://schemas.microsoft.com/office/drawing/2014/main" id="{90399F40-F63A-443F-A001-C8DD84D02FDC}"/>
              </a:ext>
            </a:extLst>
          </p:cNvPr>
          <p:cNvSpPr>
            <a:spLocks noGrp="1"/>
          </p:cNvSpPr>
          <p:nvPr>
            <p:ph idx="1"/>
          </p:nvPr>
        </p:nvSpPr>
        <p:spPr>
          <a:xfrm>
            <a:off x="838200" y="2181497"/>
            <a:ext cx="10515600" cy="3995466"/>
          </a:xfrm>
        </p:spPr>
        <p:txBody>
          <a:bodyPr>
            <a:normAutofit fontScale="92500" lnSpcReduction="10000"/>
          </a:bodyPr>
          <a:lstStyle/>
          <a:p>
            <a:r>
              <a:rPr lang="es-AR" dirty="0"/>
              <a:t>Este principio, que se refiere a la calidad de vida de todas las personas, subraya la obligación de los profesionales de la Informática, tanto individual como colectivamente, de utilizar sus habilidades en beneficio de la sociedad, de sus miembros y del entorno que les rodea. Esta obligación implica </a:t>
            </a:r>
            <a:r>
              <a:rPr lang="es-AR" b="1" u="sng" dirty="0"/>
              <a:t>la promoción de los derechos humanos fundamentales </a:t>
            </a:r>
            <a:r>
              <a:rPr lang="es-AR" dirty="0"/>
              <a:t>y la protección del derecho a la autonomía de cada individuo. Un objetivo esencial de los profesionales de la informática </a:t>
            </a:r>
            <a:r>
              <a:rPr lang="es-AR" b="1" u="sng" dirty="0"/>
              <a:t>es minimizar las consecuencias negativas de la Informática</a:t>
            </a:r>
            <a:r>
              <a:rPr lang="es-AR" dirty="0"/>
              <a:t>, como las amenazas a la salud, la seguridad, la seguridad personal y la privacidad. Cuando los intereses de múltiples grupos entran en conflicto</a:t>
            </a:r>
            <a:r>
              <a:rPr lang="es-AR" u="sng" dirty="0"/>
              <a:t>, </a:t>
            </a:r>
            <a:r>
              <a:rPr lang="es-AR" b="1" u="sng" dirty="0"/>
              <a:t>las necesidades de los menos favorecidos deben recibir ser priorizadas </a:t>
            </a:r>
            <a:r>
              <a:rPr lang="es-AR" dirty="0"/>
              <a:t>y recibir una mayor atención.</a:t>
            </a:r>
          </a:p>
        </p:txBody>
      </p:sp>
    </p:spTree>
    <p:extLst>
      <p:ext uri="{BB962C8B-B14F-4D97-AF65-F5344CB8AC3E}">
        <p14:creationId xmlns:p14="http://schemas.microsoft.com/office/powerpoint/2010/main" val="14412533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2E2B33-04EC-4594-91EC-1B28A457F475}"/>
              </a:ext>
            </a:extLst>
          </p:cNvPr>
          <p:cNvSpPr>
            <a:spLocks noGrp="1"/>
          </p:cNvSpPr>
          <p:nvPr>
            <p:ph type="title"/>
          </p:nvPr>
        </p:nvSpPr>
        <p:spPr>
          <a:ln w="9525">
            <a:solidFill>
              <a:schemeClr val="tx1"/>
            </a:solidFill>
          </a:ln>
        </p:spPr>
        <p:txBody>
          <a:bodyPr>
            <a:normAutofit/>
          </a:bodyPr>
          <a:lstStyle/>
          <a:p>
            <a:r>
              <a:rPr lang="es-AR" b="1" dirty="0"/>
              <a:t>1.1 Contribuir a la sociedad y al bienestar humano.</a:t>
            </a:r>
          </a:p>
        </p:txBody>
      </p:sp>
      <p:sp>
        <p:nvSpPr>
          <p:cNvPr id="3" name="Marcador de contenido 2">
            <a:extLst>
              <a:ext uri="{FF2B5EF4-FFF2-40B4-BE49-F238E27FC236}">
                <a16:creationId xmlns:a16="http://schemas.microsoft.com/office/drawing/2014/main" id="{90399F40-F63A-443F-A001-C8DD84D02FDC}"/>
              </a:ext>
            </a:extLst>
          </p:cNvPr>
          <p:cNvSpPr>
            <a:spLocks noGrp="1"/>
          </p:cNvSpPr>
          <p:nvPr>
            <p:ph idx="1"/>
          </p:nvPr>
        </p:nvSpPr>
        <p:spPr>
          <a:xfrm>
            <a:off x="992776" y="2142309"/>
            <a:ext cx="10361023" cy="4034654"/>
          </a:xfrm>
        </p:spPr>
        <p:txBody>
          <a:bodyPr>
            <a:normAutofit fontScale="92500" lnSpcReduction="10000"/>
          </a:bodyPr>
          <a:lstStyle/>
          <a:p>
            <a:r>
              <a:rPr lang="es-AR" dirty="0"/>
              <a:t>Los profesionales de la computación deben evaluar si los resultados de sus esfuerzos </a:t>
            </a:r>
            <a:r>
              <a:rPr lang="es-AR" b="1" u="sng" dirty="0"/>
              <a:t>respetarán la diversidad</a:t>
            </a:r>
            <a:r>
              <a:rPr lang="es-AR" dirty="0"/>
              <a:t>, si serán utilizados de manera socialmente responsable, satisfaciendo las necesidades sociales y si </a:t>
            </a:r>
            <a:r>
              <a:rPr lang="es-AR" b="1" u="sng" dirty="0"/>
              <a:t>serán ampliamente accesibles</a:t>
            </a:r>
            <a:r>
              <a:rPr lang="es-AR" dirty="0"/>
              <a:t>. Se les anima a </a:t>
            </a:r>
            <a:r>
              <a:rPr lang="es-AR" b="1" u="sng" dirty="0"/>
              <a:t>contribuir activamente a la sociedad mediante el trabajo voluntario y altruista que beneficie el bien público</a:t>
            </a:r>
            <a:r>
              <a:rPr lang="es-AR" b="1" dirty="0"/>
              <a:t>.</a:t>
            </a:r>
          </a:p>
          <a:p>
            <a:endParaRPr lang="es-AR" dirty="0"/>
          </a:p>
          <a:p>
            <a:r>
              <a:rPr lang="es-AR" dirty="0"/>
              <a:t>Además de un entorno social seguro, el bienestar humano requiere de un entorno natural seguro. Por lo tanto, los profesionales de la Informática deberían promover la sostenibilidad del medio ambiente tanto a nivel local como global.</a:t>
            </a:r>
          </a:p>
        </p:txBody>
      </p:sp>
    </p:spTree>
    <p:extLst>
      <p:ext uri="{BB962C8B-B14F-4D97-AF65-F5344CB8AC3E}">
        <p14:creationId xmlns:p14="http://schemas.microsoft.com/office/powerpoint/2010/main" val="441343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C9369DE-8361-4175-8D10-F3C85CDF69C6}"/>
              </a:ext>
            </a:extLst>
          </p:cNvPr>
          <p:cNvSpPr>
            <a:spLocks noGrp="1"/>
          </p:cNvSpPr>
          <p:nvPr>
            <p:ph type="title"/>
          </p:nvPr>
        </p:nvSpPr>
        <p:spPr>
          <a:xfrm>
            <a:off x="838200" y="365126"/>
            <a:ext cx="10515600" cy="1228544"/>
          </a:xfrm>
          <a:ln w="9525">
            <a:solidFill>
              <a:schemeClr val="tx1"/>
            </a:solidFill>
          </a:ln>
        </p:spPr>
        <p:txBody>
          <a:bodyPr/>
          <a:lstStyle/>
          <a:p>
            <a:r>
              <a:rPr lang="es-AR" b="1" dirty="0"/>
              <a:t>2. RESPONSABILIDADES PROFESIONALES.</a:t>
            </a:r>
          </a:p>
        </p:txBody>
      </p:sp>
      <p:sp>
        <p:nvSpPr>
          <p:cNvPr id="3" name="Marcador de contenido 2">
            <a:extLst>
              <a:ext uri="{FF2B5EF4-FFF2-40B4-BE49-F238E27FC236}">
                <a16:creationId xmlns:a16="http://schemas.microsoft.com/office/drawing/2014/main" id="{840A54F1-DCC0-491C-A96A-C164C2F3D51B}"/>
              </a:ext>
            </a:extLst>
          </p:cNvPr>
          <p:cNvSpPr>
            <a:spLocks noGrp="1"/>
          </p:cNvSpPr>
          <p:nvPr>
            <p:ph idx="1"/>
          </p:nvPr>
        </p:nvSpPr>
        <p:spPr>
          <a:xfrm>
            <a:off x="838200" y="1946366"/>
            <a:ext cx="10515600" cy="4413477"/>
          </a:xfrm>
        </p:spPr>
        <p:txBody>
          <a:bodyPr>
            <a:normAutofit fontScale="77500" lnSpcReduction="20000"/>
          </a:bodyPr>
          <a:lstStyle/>
          <a:p>
            <a:r>
              <a:rPr lang="es-AR" dirty="0"/>
              <a:t>2.1 Esforzarse por lograr una alta calidad tanto en los procesos como en los productos del trabajo profesional.</a:t>
            </a:r>
          </a:p>
          <a:p>
            <a:r>
              <a:rPr lang="es-AR" dirty="0"/>
              <a:t>2.2 Mantener altos estándares de competencia profesional, conducta y práctica ética.</a:t>
            </a:r>
          </a:p>
          <a:p>
            <a:r>
              <a:rPr lang="es-AR" dirty="0"/>
              <a:t>2.3 Conocer y respetar las reglas vigentes relacionadas con el trabajo profesional.</a:t>
            </a:r>
          </a:p>
          <a:p>
            <a:r>
              <a:rPr lang="es-AR" dirty="0"/>
              <a:t>2.4 Aceptar y proporcionar una revisión profesional adecuada.</a:t>
            </a:r>
          </a:p>
          <a:p>
            <a:r>
              <a:rPr lang="es-AR" dirty="0"/>
              <a:t>2.5 Realizar evaluaciones integrales y exhaustivas de los sistemas informáticos y de sus impactos, incluyendo un análisis de los posibles riesgos.</a:t>
            </a:r>
          </a:p>
          <a:p>
            <a:r>
              <a:rPr lang="es-AR" dirty="0"/>
              <a:t>2.6 Trabajar solo en sus ámbitos de competencia.</a:t>
            </a:r>
          </a:p>
          <a:p>
            <a:r>
              <a:rPr lang="es-AR" dirty="0"/>
              <a:t>2.7 Fomentar la conciencia ciudadana sobre la Informática, las tecnologías relacionadas y sus consecuencias.</a:t>
            </a:r>
          </a:p>
          <a:p>
            <a:r>
              <a:rPr lang="es-AR" dirty="0"/>
              <a:t>2.8 Acceder a los recursos informáticos y de comunicación sólo cuando esté autorizado, o cuando sea necesario para proteger el bien público.</a:t>
            </a:r>
          </a:p>
          <a:p>
            <a:r>
              <a:rPr lang="es-AR" dirty="0"/>
              <a:t>2.9 Diseñar e implementar sistemas robustos, accesibles y seguros.</a:t>
            </a:r>
          </a:p>
        </p:txBody>
      </p:sp>
    </p:spTree>
    <p:extLst>
      <p:ext uri="{BB962C8B-B14F-4D97-AF65-F5344CB8AC3E}">
        <p14:creationId xmlns:p14="http://schemas.microsoft.com/office/powerpoint/2010/main" val="10657920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29E347-BA1F-419A-BE72-C9687F14B4E7}"/>
              </a:ext>
            </a:extLst>
          </p:cNvPr>
          <p:cNvSpPr>
            <a:spLocks noGrp="1"/>
          </p:cNvSpPr>
          <p:nvPr>
            <p:ph type="title"/>
          </p:nvPr>
        </p:nvSpPr>
        <p:spPr>
          <a:ln w="9525">
            <a:solidFill>
              <a:schemeClr val="tx1"/>
            </a:solidFill>
          </a:ln>
        </p:spPr>
        <p:txBody>
          <a:bodyPr/>
          <a:lstStyle/>
          <a:p>
            <a:pPr algn="ctr"/>
            <a:r>
              <a:rPr lang="es-AR" b="1" dirty="0"/>
              <a:t>3. PRINCIPIOS DE LIDERAZGO PROFESIONAL</a:t>
            </a:r>
            <a:r>
              <a:rPr lang="es-AR" dirty="0"/>
              <a:t>.</a:t>
            </a:r>
          </a:p>
        </p:txBody>
      </p:sp>
      <p:sp>
        <p:nvSpPr>
          <p:cNvPr id="3" name="Marcador de contenido 2">
            <a:extLst>
              <a:ext uri="{FF2B5EF4-FFF2-40B4-BE49-F238E27FC236}">
                <a16:creationId xmlns:a16="http://schemas.microsoft.com/office/drawing/2014/main" id="{A85DB41E-556B-42F9-AA32-B9D498B274FE}"/>
              </a:ext>
            </a:extLst>
          </p:cNvPr>
          <p:cNvSpPr>
            <a:spLocks noGrp="1"/>
          </p:cNvSpPr>
          <p:nvPr>
            <p:ph idx="1"/>
          </p:nvPr>
        </p:nvSpPr>
        <p:spPr/>
        <p:txBody>
          <a:bodyPr>
            <a:normAutofit fontScale="85000" lnSpcReduction="20000"/>
          </a:bodyPr>
          <a:lstStyle/>
          <a:p>
            <a:r>
              <a:rPr lang="es-AR" dirty="0"/>
              <a:t>3.1 Asegurar que el bien público sea la preocupación central en el trabajo profesional.</a:t>
            </a:r>
          </a:p>
          <a:p>
            <a:r>
              <a:rPr lang="es-AR" dirty="0"/>
              <a:t>3.2 Articular, fomentar la aceptación y evaluar el cumplimiento de las responsabilidades sociales por parte de los miembros de la organización o grupo.</a:t>
            </a:r>
          </a:p>
          <a:p>
            <a:r>
              <a:rPr lang="es-AR" dirty="0"/>
              <a:t>3.3 Administrar el personal y los recursos para mejorar la calidad de la vida profesional.</a:t>
            </a:r>
          </a:p>
          <a:p>
            <a:r>
              <a:rPr lang="es-AR" dirty="0"/>
              <a:t>3.4 Articular, aplicar y apoyar políticas y procesos que reflejen los principios del Código.</a:t>
            </a:r>
          </a:p>
          <a:p>
            <a:r>
              <a:rPr lang="es-AR" dirty="0"/>
              <a:t>3.5 Crear oportunidades para que los miembros de la organización o el grupo crezcan como profesionales.</a:t>
            </a:r>
          </a:p>
          <a:p>
            <a:r>
              <a:rPr lang="es-AR" dirty="0"/>
              <a:t>3.6 Tener cuidado al modificar o retirar sistemas.</a:t>
            </a:r>
          </a:p>
          <a:p>
            <a:r>
              <a:rPr lang="es-AR" dirty="0"/>
              <a:t>3.7 Reconocer y cuidar los sistemas que se integran en la infraestructura de la sociedad.</a:t>
            </a:r>
          </a:p>
        </p:txBody>
      </p:sp>
    </p:spTree>
    <p:extLst>
      <p:ext uri="{BB962C8B-B14F-4D97-AF65-F5344CB8AC3E}">
        <p14:creationId xmlns:p14="http://schemas.microsoft.com/office/powerpoint/2010/main" val="38638724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068224-090C-4F62-9E5C-C3C776F92461}"/>
              </a:ext>
            </a:extLst>
          </p:cNvPr>
          <p:cNvSpPr>
            <a:spLocks noGrp="1"/>
          </p:cNvSpPr>
          <p:nvPr>
            <p:ph type="title"/>
          </p:nvPr>
        </p:nvSpPr>
        <p:spPr>
          <a:ln w="9525">
            <a:solidFill>
              <a:schemeClr val="tx1"/>
            </a:solidFill>
          </a:ln>
        </p:spPr>
        <p:txBody>
          <a:bodyPr/>
          <a:lstStyle/>
          <a:p>
            <a:pPr algn="ctr"/>
            <a:r>
              <a:rPr lang="es-AR" b="1" dirty="0"/>
              <a:t>4. CUMPLIMIENTO DEL CÓDIGO.</a:t>
            </a:r>
          </a:p>
        </p:txBody>
      </p:sp>
      <p:sp>
        <p:nvSpPr>
          <p:cNvPr id="3" name="Marcador de contenido 2">
            <a:extLst>
              <a:ext uri="{FF2B5EF4-FFF2-40B4-BE49-F238E27FC236}">
                <a16:creationId xmlns:a16="http://schemas.microsoft.com/office/drawing/2014/main" id="{77C6F868-0C8D-467C-80EA-6ECAA2B8CAA6}"/>
              </a:ext>
            </a:extLst>
          </p:cNvPr>
          <p:cNvSpPr>
            <a:spLocks noGrp="1"/>
          </p:cNvSpPr>
          <p:nvPr>
            <p:ph idx="1"/>
          </p:nvPr>
        </p:nvSpPr>
        <p:spPr>
          <a:xfrm>
            <a:off x="979714" y="2873829"/>
            <a:ext cx="10110652" cy="3303134"/>
          </a:xfrm>
        </p:spPr>
        <p:txBody>
          <a:bodyPr/>
          <a:lstStyle/>
          <a:p>
            <a:r>
              <a:rPr lang="es-AR" dirty="0"/>
              <a:t>4.1 Defender, promover y respetar los principios del Código.</a:t>
            </a:r>
          </a:p>
          <a:p>
            <a:r>
              <a:rPr lang="es-AR" dirty="0"/>
              <a:t>4.2 Tratar las violaciones del Código como inconsistentes con la afiliación a ACM.</a:t>
            </a:r>
          </a:p>
        </p:txBody>
      </p:sp>
    </p:spTree>
    <p:extLst>
      <p:ext uri="{BB962C8B-B14F-4D97-AF65-F5344CB8AC3E}">
        <p14:creationId xmlns:p14="http://schemas.microsoft.com/office/powerpoint/2010/main" val="38366003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068224-090C-4F62-9E5C-C3C776F92461}"/>
              </a:ext>
            </a:extLst>
          </p:cNvPr>
          <p:cNvSpPr>
            <a:spLocks noGrp="1"/>
          </p:cNvSpPr>
          <p:nvPr>
            <p:ph type="title"/>
          </p:nvPr>
        </p:nvSpPr>
        <p:spPr>
          <a:ln w="9525">
            <a:solidFill>
              <a:schemeClr val="tx1"/>
            </a:solidFill>
          </a:ln>
        </p:spPr>
        <p:txBody>
          <a:bodyPr/>
          <a:lstStyle/>
          <a:p>
            <a:pPr algn="ctr"/>
            <a:r>
              <a:rPr lang="es-AR" b="1" dirty="0"/>
              <a:t>Código de Ética IFIP 2020</a:t>
            </a:r>
          </a:p>
        </p:txBody>
      </p:sp>
      <p:sp>
        <p:nvSpPr>
          <p:cNvPr id="3" name="Marcador de contenido 2">
            <a:extLst>
              <a:ext uri="{FF2B5EF4-FFF2-40B4-BE49-F238E27FC236}">
                <a16:creationId xmlns:a16="http://schemas.microsoft.com/office/drawing/2014/main" id="{77C6F868-0C8D-467C-80EA-6ECAA2B8CAA6}"/>
              </a:ext>
            </a:extLst>
          </p:cNvPr>
          <p:cNvSpPr>
            <a:spLocks noGrp="1"/>
          </p:cNvSpPr>
          <p:nvPr>
            <p:ph idx="1"/>
          </p:nvPr>
        </p:nvSpPr>
        <p:spPr>
          <a:xfrm>
            <a:off x="979714" y="2873829"/>
            <a:ext cx="10110652" cy="3303134"/>
          </a:xfrm>
        </p:spPr>
        <p:txBody>
          <a:bodyPr/>
          <a:lstStyle/>
          <a:p>
            <a:pPr marL="0" indent="0">
              <a:buNone/>
            </a:pPr>
            <a:r>
              <a:rPr lang="es-AR" dirty="0"/>
              <a:t>IFIP es una federación internacional que agrupa a sociedades nacionales e internacionales de informática. Su código de ética, adoptado en 2020, se basa en el código de la ACM</a:t>
            </a:r>
          </a:p>
          <a:p>
            <a:pPr marL="0" indent="0">
              <a:buNone/>
            </a:pPr>
            <a:endParaRPr lang="es-AR" dirty="0">
              <a:hlinkClick r:id="rId2"/>
            </a:endParaRPr>
          </a:p>
          <a:p>
            <a:r>
              <a:rPr lang="es-AR" dirty="0">
                <a:hlinkClick r:id="rId2"/>
              </a:rPr>
              <a:t>https://www.ifip.org/ifip-code-of-ethics/</a:t>
            </a:r>
            <a:endParaRPr lang="es-AR" dirty="0"/>
          </a:p>
          <a:p>
            <a:r>
              <a:rPr lang="es-AR" dirty="0">
                <a:hlinkClick r:id="rId3"/>
              </a:rPr>
              <a:t>https://ifip.org/Reports/IFIP-Code-of-Ethics.pdf</a:t>
            </a:r>
            <a:endParaRPr lang="es-AR" dirty="0"/>
          </a:p>
          <a:p>
            <a:pPr marL="0" indent="0">
              <a:buNone/>
            </a:pPr>
            <a:endParaRPr lang="es-AR" dirty="0"/>
          </a:p>
          <a:p>
            <a:endParaRPr lang="es-AR" dirty="0"/>
          </a:p>
        </p:txBody>
      </p:sp>
    </p:spTree>
    <p:extLst>
      <p:ext uri="{BB962C8B-B14F-4D97-AF65-F5344CB8AC3E}">
        <p14:creationId xmlns:p14="http://schemas.microsoft.com/office/powerpoint/2010/main" val="3612262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068224-090C-4F62-9E5C-C3C776F92461}"/>
              </a:ext>
            </a:extLst>
          </p:cNvPr>
          <p:cNvSpPr>
            <a:spLocks noGrp="1"/>
          </p:cNvSpPr>
          <p:nvPr>
            <p:ph type="title"/>
          </p:nvPr>
        </p:nvSpPr>
        <p:spPr>
          <a:ln w="9525">
            <a:solidFill>
              <a:schemeClr val="tx1"/>
            </a:solidFill>
          </a:ln>
        </p:spPr>
        <p:txBody>
          <a:bodyPr/>
          <a:lstStyle/>
          <a:p>
            <a:pPr algn="ctr"/>
            <a:r>
              <a:rPr lang="es-AR" b="1" dirty="0"/>
              <a:t>Comparación Código de Ética IFIP y ACM</a:t>
            </a:r>
          </a:p>
        </p:txBody>
      </p:sp>
      <p:sp>
        <p:nvSpPr>
          <p:cNvPr id="3" name="Marcador de contenido 2">
            <a:extLst>
              <a:ext uri="{FF2B5EF4-FFF2-40B4-BE49-F238E27FC236}">
                <a16:creationId xmlns:a16="http://schemas.microsoft.com/office/drawing/2014/main" id="{77C6F868-0C8D-467C-80EA-6ECAA2B8CAA6}"/>
              </a:ext>
            </a:extLst>
          </p:cNvPr>
          <p:cNvSpPr>
            <a:spLocks noGrp="1"/>
          </p:cNvSpPr>
          <p:nvPr>
            <p:ph idx="1"/>
          </p:nvPr>
        </p:nvSpPr>
        <p:spPr>
          <a:xfrm>
            <a:off x="979714" y="2873829"/>
            <a:ext cx="10110652" cy="3303134"/>
          </a:xfrm>
        </p:spPr>
        <p:txBody>
          <a:bodyPr/>
          <a:lstStyle/>
          <a:p>
            <a:pPr marL="0" indent="0">
              <a:buNone/>
            </a:pPr>
            <a:endParaRPr lang="es-AR" dirty="0"/>
          </a:p>
          <a:p>
            <a:endParaRPr lang="es-AR" dirty="0"/>
          </a:p>
        </p:txBody>
      </p:sp>
      <p:graphicFrame>
        <p:nvGraphicFramePr>
          <p:cNvPr id="5" name="Tabla 4">
            <a:extLst>
              <a:ext uri="{FF2B5EF4-FFF2-40B4-BE49-F238E27FC236}">
                <a16:creationId xmlns:a16="http://schemas.microsoft.com/office/drawing/2014/main" id="{9CA3436F-DB2B-4F3C-9920-BE52D218C23F}"/>
              </a:ext>
            </a:extLst>
          </p:cNvPr>
          <p:cNvGraphicFramePr>
            <a:graphicFrameLocks noGrp="1"/>
          </p:cNvGraphicFramePr>
          <p:nvPr>
            <p:extLst>
              <p:ext uri="{D42A27DB-BD31-4B8C-83A1-F6EECF244321}">
                <p14:modId xmlns:p14="http://schemas.microsoft.com/office/powerpoint/2010/main" val="3747838354"/>
              </p:ext>
            </p:extLst>
          </p:nvPr>
        </p:nvGraphicFramePr>
        <p:xfrm>
          <a:off x="883459" y="1809098"/>
          <a:ext cx="10425081" cy="4377309"/>
        </p:xfrm>
        <a:graphic>
          <a:graphicData uri="http://schemas.openxmlformats.org/drawingml/2006/table">
            <a:tbl>
              <a:tblPr/>
              <a:tblGrid>
                <a:gridCol w="2821766">
                  <a:extLst>
                    <a:ext uri="{9D8B030D-6E8A-4147-A177-3AD203B41FA5}">
                      <a16:colId xmlns:a16="http://schemas.microsoft.com/office/drawing/2014/main" val="695923746"/>
                    </a:ext>
                  </a:extLst>
                </a:gridCol>
                <a:gridCol w="3629025">
                  <a:extLst>
                    <a:ext uri="{9D8B030D-6E8A-4147-A177-3AD203B41FA5}">
                      <a16:colId xmlns:a16="http://schemas.microsoft.com/office/drawing/2014/main" val="1844371935"/>
                    </a:ext>
                  </a:extLst>
                </a:gridCol>
                <a:gridCol w="3974290">
                  <a:extLst>
                    <a:ext uri="{9D8B030D-6E8A-4147-A177-3AD203B41FA5}">
                      <a16:colId xmlns:a16="http://schemas.microsoft.com/office/drawing/2014/main" val="4014387773"/>
                    </a:ext>
                  </a:extLst>
                </a:gridCol>
              </a:tblGrid>
              <a:tr h="362611">
                <a:tc>
                  <a:txBody>
                    <a:bodyPr/>
                    <a:lstStyle/>
                    <a:p>
                      <a:r>
                        <a:rPr lang="es-AR" sz="1800" b="1"/>
                        <a:t>Principio</a:t>
                      </a:r>
                      <a:endParaRPr lang="es-AR" sz="1800"/>
                    </a:p>
                  </a:txBody>
                  <a:tcPr marL="90653" marR="90653" marT="45326" marB="45326" anchor="ctr">
                    <a:lnL>
                      <a:noFill/>
                    </a:lnL>
                    <a:lnR>
                      <a:noFill/>
                    </a:lnR>
                    <a:lnT>
                      <a:noFill/>
                    </a:lnT>
                    <a:lnB>
                      <a:noFill/>
                    </a:lnB>
                  </a:tcPr>
                </a:tc>
                <a:tc>
                  <a:txBody>
                    <a:bodyPr/>
                    <a:lstStyle/>
                    <a:p>
                      <a:r>
                        <a:rPr lang="es-AR" sz="1800" b="1" dirty="0"/>
                        <a:t>ACM</a:t>
                      </a:r>
                      <a:endParaRPr lang="es-AR" sz="1800" dirty="0"/>
                    </a:p>
                  </a:txBody>
                  <a:tcPr marL="90653" marR="90653" marT="45326" marB="45326" anchor="ctr">
                    <a:lnL>
                      <a:noFill/>
                    </a:lnL>
                    <a:lnR>
                      <a:noFill/>
                    </a:lnR>
                    <a:lnT>
                      <a:noFill/>
                    </a:lnT>
                    <a:lnB>
                      <a:noFill/>
                    </a:lnB>
                  </a:tcPr>
                </a:tc>
                <a:tc>
                  <a:txBody>
                    <a:bodyPr/>
                    <a:lstStyle/>
                    <a:p>
                      <a:r>
                        <a:rPr lang="es-AR" sz="1800" b="1" dirty="0"/>
                        <a:t>IFIP</a:t>
                      </a:r>
                      <a:endParaRPr lang="es-AR" sz="1800" dirty="0"/>
                    </a:p>
                  </a:txBody>
                  <a:tcPr marL="90653" marR="90653" marT="45326" marB="45326" anchor="ctr">
                    <a:lnL>
                      <a:noFill/>
                    </a:lnL>
                    <a:lnR>
                      <a:noFill/>
                    </a:lnR>
                    <a:lnT>
                      <a:noFill/>
                    </a:lnT>
                    <a:lnB>
                      <a:noFill/>
                    </a:lnB>
                  </a:tcPr>
                </a:tc>
                <a:extLst>
                  <a:ext uri="{0D108BD9-81ED-4DB2-BD59-A6C34878D82A}">
                    <a16:rowId xmlns:a16="http://schemas.microsoft.com/office/drawing/2014/main" val="3388542452"/>
                  </a:ext>
                </a:extLst>
              </a:tr>
              <a:tr h="634570">
                <a:tc>
                  <a:txBody>
                    <a:bodyPr/>
                    <a:lstStyle/>
                    <a:p>
                      <a:r>
                        <a:rPr lang="es-AR" sz="1800"/>
                        <a:t>Bienestar público</a:t>
                      </a:r>
                    </a:p>
                  </a:txBody>
                  <a:tcPr marL="90653" marR="90653" marT="45326" marB="45326" anchor="ctr">
                    <a:lnL>
                      <a:noFill/>
                    </a:lnL>
                    <a:lnR>
                      <a:noFill/>
                    </a:lnR>
                    <a:lnT>
                      <a:noFill/>
                    </a:lnT>
                    <a:lnB>
                      <a:noFill/>
                    </a:lnB>
                  </a:tcPr>
                </a:tc>
                <a:tc>
                  <a:txBody>
                    <a:bodyPr/>
                    <a:lstStyle/>
                    <a:p>
                      <a:r>
                        <a:rPr lang="es-AR" sz="1800"/>
                        <a:t>Promueve el bienestar de la sociedad y el medio ambiente.</a:t>
                      </a:r>
                    </a:p>
                  </a:txBody>
                  <a:tcPr marL="90653" marR="90653" marT="45326" marB="45326" anchor="ctr">
                    <a:lnL>
                      <a:noFill/>
                    </a:lnL>
                    <a:lnR>
                      <a:noFill/>
                    </a:lnR>
                    <a:lnT>
                      <a:noFill/>
                    </a:lnT>
                    <a:lnB>
                      <a:noFill/>
                    </a:lnB>
                  </a:tcPr>
                </a:tc>
                <a:tc>
                  <a:txBody>
                    <a:bodyPr/>
                    <a:lstStyle/>
                    <a:p>
                      <a:r>
                        <a:rPr lang="es-AR" sz="1800"/>
                        <a:t>Enfatiza la responsabilidad hacia el público y la sociedad en general.</a:t>
                      </a:r>
                    </a:p>
                  </a:txBody>
                  <a:tcPr marL="90653" marR="90653" marT="45326" marB="45326" anchor="ctr">
                    <a:lnL>
                      <a:noFill/>
                    </a:lnL>
                    <a:lnR>
                      <a:noFill/>
                    </a:lnR>
                    <a:lnT>
                      <a:noFill/>
                    </a:lnT>
                    <a:lnB>
                      <a:noFill/>
                    </a:lnB>
                  </a:tcPr>
                </a:tc>
                <a:extLst>
                  <a:ext uri="{0D108BD9-81ED-4DB2-BD59-A6C34878D82A}">
                    <a16:rowId xmlns:a16="http://schemas.microsoft.com/office/drawing/2014/main" val="1472488926"/>
                  </a:ext>
                </a:extLst>
              </a:tr>
              <a:tr h="634570">
                <a:tc>
                  <a:txBody>
                    <a:bodyPr/>
                    <a:lstStyle/>
                    <a:p>
                      <a:r>
                        <a:rPr lang="es-AR" sz="1800"/>
                        <a:t>Evitar daño</a:t>
                      </a:r>
                    </a:p>
                  </a:txBody>
                  <a:tcPr marL="90653" marR="90653" marT="45326" marB="45326" anchor="ctr">
                    <a:lnL>
                      <a:noFill/>
                    </a:lnL>
                    <a:lnR>
                      <a:noFill/>
                    </a:lnR>
                    <a:lnT>
                      <a:noFill/>
                    </a:lnT>
                    <a:lnB>
                      <a:noFill/>
                    </a:lnB>
                  </a:tcPr>
                </a:tc>
                <a:tc>
                  <a:txBody>
                    <a:bodyPr/>
                    <a:lstStyle/>
                    <a:p>
                      <a:r>
                        <a:rPr lang="es-AR" sz="1800"/>
                        <a:t>Insta a evitar causar daño y a mitigar riesgos.</a:t>
                      </a:r>
                    </a:p>
                  </a:txBody>
                  <a:tcPr marL="90653" marR="90653" marT="45326" marB="45326" anchor="ctr">
                    <a:lnL>
                      <a:noFill/>
                    </a:lnL>
                    <a:lnR>
                      <a:noFill/>
                    </a:lnR>
                    <a:lnT>
                      <a:noFill/>
                    </a:lnT>
                    <a:lnB>
                      <a:noFill/>
                    </a:lnB>
                  </a:tcPr>
                </a:tc>
                <a:tc>
                  <a:txBody>
                    <a:bodyPr/>
                    <a:lstStyle/>
                    <a:p>
                      <a:r>
                        <a:rPr lang="es-AR" sz="1800"/>
                        <a:t>Subraya la importancia de prevenir daños y proteger a los usuarios.</a:t>
                      </a:r>
                    </a:p>
                  </a:txBody>
                  <a:tcPr marL="90653" marR="90653" marT="45326" marB="45326" anchor="ctr">
                    <a:lnL>
                      <a:noFill/>
                    </a:lnL>
                    <a:lnR>
                      <a:noFill/>
                    </a:lnR>
                    <a:lnT>
                      <a:noFill/>
                    </a:lnT>
                    <a:lnB>
                      <a:noFill/>
                    </a:lnB>
                  </a:tcPr>
                </a:tc>
                <a:extLst>
                  <a:ext uri="{0D108BD9-81ED-4DB2-BD59-A6C34878D82A}">
                    <a16:rowId xmlns:a16="http://schemas.microsoft.com/office/drawing/2014/main" val="2085892483"/>
                  </a:ext>
                </a:extLst>
              </a:tr>
              <a:tr h="906529">
                <a:tc>
                  <a:txBody>
                    <a:bodyPr/>
                    <a:lstStyle/>
                    <a:p>
                      <a:r>
                        <a:rPr lang="es-AR" sz="1800"/>
                        <a:t>Honestidad y transparencia</a:t>
                      </a:r>
                    </a:p>
                  </a:txBody>
                  <a:tcPr marL="90653" marR="90653" marT="45326" marB="45326" anchor="ctr">
                    <a:lnL>
                      <a:noFill/>
                    </a:lnL>
                    <a:lnR>
                      <a:noFill/>
                    </a:lnR>
                    <a:lnT>
                      <a:noFill/>
                    </a:lnT>
                    <a:lnB>
                      <a:noFill/>
                    </a:lnB>
                  </a:tcPr>
                </a:tc>
                <a:tc>
                  <a:txBody>
                    <a:bodyPr/>
                    <a:lstStyle/>
                    <a:p>
                      <a:r>
                        <a:rPr lang="es-AR" sz="1800"/>
                        <a:t>Fomenta la honestidad en todas las comunicaciones y decisiones.</a:t>
                      </a:r>
                    </a:p>
                  </a:txBody>
                  <a:tcPr marL="90653" marR="90653" marT="45326" marB="45326" anchor="ctr">
                    <a:lnL>
                      <a:noFill/>
                    </a:lnL>
                    <a:lnR>
                      <a:noFill/>
                    </a:lnR>
                    <a:lnT>
                      <a:noFill/>
                    </a:lnT>
                    <a:lnB>
                      <a:noFill/>
                    </a:lnB>
                  </a:tcPr>
                </a:tc>
                <a:tc>
                  <a:txBody>
                    <a:bodyPr/>
                    <a:lstStyle/>
                    <a:p>
                      <a:r>
                        <a:rPr lang="es-AR" sz="1800"/>
                        <a:t>Destaca la necesidad de ser honesto y transparente en la práctica profesional.</a:t>
                      </a:r>
                    </a:p>
                  </a:txBody>
                  <a:tcPr marL="90653" marR="90653" marT="45326" marB="45326" anchor="ctr">
                    <a:lnL>
                      <a:noFill/>
                    </a:lnL>
                    <a:lnR>
                      <a:noFill/>
                    </a:lnR>
                    <a:lnT>
                      <a:noFill/>
                    </a:lnT>
                    <a:lnB>
                      <a:noFill/>
                    </a:lnB>
                  </a:tcPr>
                </a:tc>
                <a:extLst>
                  <a:ext uri="{0D108BD9-81ED-4DB2-BD59-A6C34878D82A}">
                    <a16:rowId xmlns:a16="http://schemas.microsoft.com/office/drawing/2014/main" val="212407718"/>
                  </a:ext>
                </a:extLst>
              </a:tr>
              <a:tr h="906529">
                <a:tc>
                  <a:txBody>
                    <a:bodyPr/>
                    <a:lstStyle/>
                    <a:p>
                      <a:r>
                        <a:rPr lang="es-AR" sz="1800"/>
                        <a:t>Competencia profesional</a:t>
                      </a:r>
                    </a:p>
                  </a:txBody>
                  <a:tcPr marL="90653" marR="90653" marT="45326" marB="45326" anchor="ctr">
                    <a:lnL>
                      <a:noFill/>
                    </a:lnL>
                    <a:lnR>
                      <a:noFill/>
                    </a:lnR>
                    <a:lnT>
                      <a:noFill/>
                    </a:lnT>
                    <a:lnB>
                      <a:noFill/>
                    </a:lnB>
                  </a:tcPr>
                </a:tc>
                <a:tc>
                  <a:txBody>
                    <a:bodyPr/>
                    <a:lstStyle/>
                    <a:p>
                      <a:r>
                        <a:rPr lang="es-AR" sz="1800"/>
                        <a:t>Aboga por mantener y mejorar la competencia profesional.</a:t>
                      </a:r>
                    </a:p>
                  </a:txBody>
                  <a:tcPr marL="90653" marR="90653" marT="45326" marB="45326" anchor="ctr">
                    <a:lnL>
                      <a:noFill/>
                    </a:lnL>
                    <a:lnR>
                      <a:noFill/>
                    </a:lnR>
                    <a:lnT>
                      <a:noFill/>
                    </a:lnT>
                    <a:lnB>
                      <a:noFill/>
                    </a:lnB>
                  </a:tcPr>
                </a:tc>
                <a:tc>
                  <a:txBody>
                    <a:bodyPr/>
                    <a:lstStyle/>
                    <a:p>
                      <a:r>
                        <a:rPr lang="es-AR" sz="1800"/>
                        <a:t>Requiere que los miembros se mantengan actualizados y competentes en sus áreas.</a:t>
                      </a:r>
                    </a:p>
                  </a:txBody>
                  <a:tcPr marL="90653" marR="90653" marT="45326" marB="45326" anchor="ctr">
                    <a:lnL>
                      <a:noFill/>
                    </a:lnL>
                    <a:lnR>
                      <a:noFill/>
                    </a:lnR>
                    <a:lnT>
                      <a:noFill/>
                    </a:lnT>
                    <a:lnB>
                      <a:noFill/>
                    </a:lnB>
                  </a:tcPr>
                </a:tc>
                <a:extLst>
                  <a:ext uri="{0D108BD9-81ED-4DB2-BD59-A6C34878D82A}">
                    <a16:rowId xmlns:a16="http://schemas.microsoft.com/office/drawing/2014/main" val="4010081728"/>
                  </a:ext>
                </a:extLst>
              </a:tr>
              <a:tr h="906529">
                <a:tc>
                  <a:txBody>
                    <a:bodyPr/>
                    <a:lstStyle/>
                    <a:p>
                      <a:r>
                        <a:rPr lang="es-AR" sz="1800"/>
                        <a:t>Respeto a la privacidad</a:t>
                      </a:r>
                    </a:p>
                  </a:txBody>
                  <a:tcPr marL="90653" marR="90653" marT="45326" marB="45326" anchor="ctr">
                    <a:lnL>
                      <a:noFill/>
                    </a:lnL>
                    <a:lnR>
                      <a:noFill/>
                    </a:lnR>
                    <a:lnT>
                      <a:noFill/>
                    </a:lnT>
                    <a:lnB>
                      <a:noFill/>
                    </a:lnB>
                  </a:tcPr>
                </a:tc>
                <a:tc>
                  <a:txBody>
                    <a:bodyPr/>
                    <a:lstStyle/>
                    <a:p>
                      <a:r>
                        <a:rPr lang="es-AR" sz="1800"/>
                        <a:t>Subraya la importancia de respetar la privacidad de los individuos.</a:t>
                      </a:r>
                    </a:p>
                  </a:txBody>
                  <a:tcPr marL="90653" marR="90653" marT="45326" marB="45326" anchor="ctr">
                    <a:lnL>
                      <a:noFill/>
                    </a:lnL>
                    <a:lnR>
                      <a:noFill/>
                    </a:lnR>
                    <a:lnT>
                      <a:noFill/>
                    </a:lnT>
                    <a:lnB>
                      <a:noFill/>
                    </a:lnB>
                  </a:tcPr>
                </a:tc>
                <a:tc>
                  <a:txBody>
                    <a:bodyPr/>
                    <a:lstStyle/>
                    <a:p>
                      <a:r>
                        <a:rPr lang="es-AR" sz="1800" dirty="0"/>
                        <a:t>Incluye reglas específicas sobre la confidencialidad y el manejo de información personal.</a:t>
                      </a:r>
                    </a:p>
                  </a:txBody>
                  <a:tcPr marL="90653" marR="90653" marT="45326" marB="45326" anchor="ctr">
                    <a:lnL>
                      <a:noFill/>
                    </a:lnL>
                    <a:lnR>
                      <a:noFill/>
                    </a:lnR>
                    <a:lnT>
                      <a:noFill/>
                    </a:lnT>
                    <a:lnB>
                      <a:noFill/>
                    </a:lnB>
                  </a:tcPr>
                </a:tc>
                <a:extLst>
                  <a:ext uri="{0D108BD9-81ED-4DB2-BD59-A6C34878D82A}">
                    <a16:rowId xmlns:a16="http://schemas.microsoft.com/office/drawing/2014/main" val="3514741279"/>
                  </a:ext>
                </a:extLst>
              </a:tr>
            </a:tbl>
          </a:graphicData>
        </a:graphic>
      </p:graphicFrame>
    </p:spTree>
    <p:extLst>
      <p:ext uri="{BB962C8B-B14F-4D97-AF65-F5344CB8AC3E}">
        <p14:creationId xmlns:p14="http://schemas.microsoft.com/office/powerpoint/2010/main" val="6223926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4770AE-E124-46B5-859E-EE1BE5715CB6}"/>
              </a:ext>
            </a:extLst>
          </p:cNvPr>
          <p:cNvSpPr>
            <a:spLocks noGrp="1"/>
          </p:cNvSpPr>
          <p:nvPr>
            <p:ph type="title"/>
          </p:nvPr>
        </p:nvSpPr>
        <p:spPr>
          <a:ln w="9525">
            <a:solidFill>
              <a:schemeClr val="tx1"/>
            </a:solidFill>
          </a:ln>
        </p:spPr>
        <p:txBody>
          <a:bodyPr/>
          <a:lstStyle/>
          <a:p>
            <a:r>
              <a:rPr lang="es-AR" b="1" dirty="0"/>
              <a:t>GDPR</a:t>
            </a:r>
          </a:p>
        </p:txBody>
      </p:sp>
      <p:sp>
        <p:nvSpPr>
          <p:cNvPr id="3" name="Marcador de contenido 2">
            <a:extLst>
              <a:ext uri="{FF2B5EF4-FFF2-40B4-BE49-F238E27FC236}">
                <a16:creationId xmlns:a16="http://schemas.microsoft.com/office/drawing/2014/main" id="{312BB712-03A2-455D-9F59-569E77C58794}"/>
              </a:ext>
            </a:extLst>
          </p:cNvPr>
          <p:cNvSpPr>
            <a:spLocks noGrp="1"/>
          </p:cNvSpPr>
          <p:nvPr>
            <p:ph idx="1"/>
          </p:nvPr>
        </p:nvSpPr>
        <p:spPr/>
        <p:txBody>
          <a:bodyPr>
            <a:normAutofit lnSpcReduction="10000"/>
          </a:bodyPr>
          <a:lstStyle/>
          <a:p>
            <a:pPr marL="0" indent="0">
              <a:buNone/>
            </a:pPr>
            <a:r>
              <a:rPr lang="es-AR" dirty="0"/>
              <a:t>El </a:t>
            </a:r>
            <a:r>
              <a:rPr lang="es-AR" b="1" dirty="0"/>
              <a:t>GDPR</a:t>
            </a:r>
            <a:r>
              <a:rPr lang="es-AR" dirty="0"/>
              <a:t> (Reglamento (UE) 2016/679) es una normativa de la </a:t>
            </a:r>
            <a:r>
              <a:rPr lang="es-AR" b="1" dirty="0"/>
              <a:t>Unión Europea</a:t>
            </a:r>
            <a:r>
              <a:rPr lang="es-AR" dirty="0"/>
              <a:t>, en vigor desde el </a:t>
            </a:r>
            <a:r>
              <a:rPr lang="es-AR" b="1" dirty="0"/>
              <a:t>25 de mayo de 2018</a:t>
            </a:r>
            <a:r>
              <a:rPr lang="es-AR" dirty="0"/>
              <a:t>, que establece un marco legal para la </a:t>
            </a:r>
            <a:r>
              <a:rPr lang="es-AR" b="1" dirty="0"/>
              <a:t>protección de datos personales</a:t>
            </a:r>
            <a:r>
              <a:rPr lang="es-AR" dirty="0"/>
              <a:t> de los individuos dentro del Espacio Económico Europeo (EEE).}</a:t>
            </a:r>
            <a:r>
              <a:rPr lang="es-AR" b="1" dirty="0"/>
              <a:t> </a:t>
            </a:r>
          </a:p>
          <a:p>
            <a:pPr marL="0" indent="0">
              <a:buNone/>
            </a:pPr>
            <a:r>
              <a:rPr lang="es-AR" b="1" dirty="0"/>
              <a:t>Objetivos principales:</a:t>
            </a:r>
          </a:p>
          <a:p>
            <a:r>
              <a:rPr lang="es-AR" dirty="0"/>
              <a:t>Proteger los </a:t>
            </a:r>
            <a:r>
              <a:rPr lang="es-AR" b="1" dirty="0"/>
              <a:t>derechos fundamentales</a:t>
            </a:r>
            <a:r>
              <a:rPr lang="es-AR" dirty="0"/>
              <a:t> de las personas en relación con el tratamiento de sus datos personales.</a:t>
            </a:r>
          </a:p>
          <a:p>
            <a:r>
              <a:rPr lang="es-AR" dirty="0"/>
              <a:t>Establecer reglas claras para </a:t>
            </a:r>
            <a:r>
              <a:rPr lang="es-AR" b="1" dirty="0"/>
              <a:t>empresas y organizaciones</a:t>
            </a:r>
            <a:r>
              <a:rPr lang="es-AR" dirty="0"/>
              <a:t> que procesan datos de ciudadanos europeos.</a:t>
            </a:r>
          </a:p>
          <a:p>
            <a:r>
              <a:rPr lang="es-AR" dirty="0"/>
              <a:t>Unificar la legislación sobre privacidad en toda la UE.</a:t>
            </a:r>
          </a:p>
          <a:p>
            <a:pPr marL="0" indent="0">
              <a:buNone/>
            </a:pPr>
            <a:endParaRPr lang="es-AR" dirty="0"/>
          </a:p>
        </p:txBody>
      </p:sp>
    </p:spTree>
    <p:extLst>
      <p:ext uri="{BB962C8B-B14F-4D97-AF65-F5344CB8AC3E}">
        <p14:creationId xmlns:p14="http://schemas.microsoft.com/office/powerpoint/2010/main" val="33930832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4770AE-E124-46B5-859E-EE1BE5715CB6}"/>
              </a:ext>
            </a:extLst>
          </p:cNvPr>
          <p:cNvSpPr>
            <a:spLocks noGrp="1"/>
          </p:cNvSpPr>
          <p:nvPr>
            <p:ph type="title"/>
          </p:nvPr>
        </p:nvSpPr>
        <p:spPr>
          <a:ln w="9525">
            <a:solidFill>
              <a:schemeClr val="tx1"/>
            </a:solidFill>
          </a:ln>
        </p:spPr>
        <p:txBody>
          <a:bodyPr/>
          <a:lstStyle/>
          <a:p>
            <a:r>
              <a:rPr lang="es-AR" b="1" dirty="0"/>
              <a:t>Principios Clave GDPR</a:t>
            </a:r>
          </a:p>
        </p:txBody>
      </p:sp>
      <p:sp>
        <p:nvSpPr>
          <p:cNvPr id="3" name="Marcador de contenido 2">
            <a:extLst>
              <a:ext uri="{FF2B5EF4-FFF2-40B4-BE49-F238E27FC236}">
                <a16:creationId xmlns:a16="http://schemas.microsoft.com/office/drawing/2014/main" id="{312BB712-03A2-455D-9F59-569E77C58794}"/>
              </a:ext>
            </a:extLst>
          </p:cNvPr>
          <p:cNvSpPr>
            <a:spLocks noGrp="1"/>
          </p:cNvSpPr>
          <p:nvPr>
            <p:ph idx="1"/>
          </p:nvPr>
        </p:nvSpPr>
        <p:spPr/>
        <p:txBody>
          <a:bodyPr>
            <a:normAutofit/>
          </a:bodyPr>
          <a:lstStyle/>
          <a:p>
            <a:r>
              <a:rPr lang="es-AR" b="1" dirty="0"/>
              <a:t>Licitud, lealtad y transparencia</a:t>
            </a:r>
            <a:r>
              <a:rPr lang="es-AR" dirty="0"/>
              <a:t>.</a:t>
            </a:r>
          </a:p>
          <a:p>
            <a:r>
              <a:rPr lang="es-AR" b="1" dirty="0"/>
              <a:t>Limitación de la finalidad</a:t>
            </a:r>
            <a:r>
              <a:rPr lang="es-AR" dirty="0"/>
              <a:t>.</a:t>
            </a:r>
          </a:p>
          <a:p>
            <a:r>
              <a:rPr lang="es-AR" b="1" dirty="0"/>
              <a:t>Minimización de datos</a:t>
            </a:r>
            <a:r>
              <a:rPr lang="es-AR" dirty="0"/>
              <a:t>.</a:t>
            </a:r>
          </a:p>
          <a:p>
            <a:r>
              <a:rPr lang="es-AR" b="1" dirty="0"/>
              <a:t>Exactitud</a:t>
            </a:r>
            <a:r>
              <a:rPr lang="es-AR" dirty="0"/>
              <a:t>.</a:t>
            </a:r>
          </a:p>
          <a:p>
            <a:r>
              <a:rPr lang="es-AR" b="1" dirty="0"/>
              <a:t>Limitación del plazo de conservación</a:t>
            </a:r>
            <a:r>
              <a:rPr lang="es-AR" dirty="0"/>
              <a:t>.</a:t>
            </a:r>
          </a:p>
          <a:p>
            <a:r>
              <a:rPr lang="es-AR" b="1" dirty="0"/>
              <a:t>Integridad y confidencialidad</a:t>
            </a:r>
            <a:r>
              <a:rPr lang="es-AR" dirty="0"/>
              <a:t>.</a:t>
            </a:r>
          </a:p>
          <a:p>
            <a:r>
              <a:rPr lang="es-AR" b="1" dirty="0"/>
              <a:t>Responsabilidad proactiva</a:t>
            </a:r>
            <a:r>
              <a:rPr lang="es-AR" dirty="0"/>
              <a:t> (</a:t>
            </a:r>
            <a:r>
              <a:rPr lang="es-AR" dirty="0" err="1"/>
              <a:t>accountability</a:t>
            </a:r>
            <a:r>
              <a:rPr lang="es-AR" dirty="0"/>
              <a:t>).</a:t>
            </a:r>
          </a:p>
          <a:p>
            <a:pPr marL="0" indent="0">
              <a:buNone/>
            </a:pPr>
            <a:endParaRPr lang="es-AR" dirty="0"/>
          </a:p>
        </p:txBody>
      </p:sp>
    </p:spTree>
    <p:extLst>
      <p:ext uri="{BB962C8B-B14F-4D97-AF65-F5344CB8AC3E}">
        <p14:creationId xmlns:p14="http://schemas.microsoft.com/office/powerpoint/2010/main" val="32878628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4770AE-E124-46B5-859E-EE1BE5715CB6}"/>
              </a:ext>
            </a:extLst>
          </p:cNvPr>
          <p:cNvSpPr>
            <a:spLocks noGrp="1"/>
          </p:cNvSpPr>
          <p:nvPr>
            <p:ph type="title"/>
          </p:nvPr>
        </p:nvSpPr>
        <p:spPr>
          <a:ln w="9525">
            <a:solidFill>
              <a:schemeClr val="tx1"/>
            </a:solidFill>
          </a:ln>
        </p:spPr>
        <p:txBody>
          <a:bodyPr/>
          <a:lstStyle/>
          <a:p>
            <a:r>
              <a:rPr lang="es-AR" b="1" dirty="0"/>
              <a:t>Principios Clave GDPR</a:t>
            </a:r>
          </a:p>
        </p:txBody>
      </p:sp>
      <p:sp>
        <p:nvSpPr>
          <p:cNvPr id="3" name="Marcador de contenido 2">
            <a:extLst>
              <a:ext uri="{FF2B5EF4-FFF2-40B4-BE49-F238E27FC236}">
                <a16:creationId xmlns:a16="http://schemas.microsoft.com/office/drawing/2014/main" id="{312BB712-03A2-455D-9F59-569E77C58794}"/>
              </a:ext>
            </a:extLst>
          </p:cNvPr>
          <p:cNvSpPr>
            <a:spLocks noGrp="1"/>
          </p:cNvSpPr>
          <p:nvPr>
            <p:ph idx="1"/>
          </p:nvPr>
        </p:nvSpPr>
        <p:spPr/>
        <p:txBody>
          <a:bodyPr>
            <a:normAutofit/>
          </a:bodyPr>
          <a:lstStyle/>
          <a:p>
            <a:pPr marL="0" indent="0">
              <a:buNone/>
            </a:pPr>
            <a:r>
              <a:rPr lang="es-AR" b="1" dirty="0"/>
              <a:t>Derechos de los interesados:</a:t>
            </a:r>
          </a:p>
          <a:p>
            <a:r>
              <a:rPr lang="es-AR" dirty="0"/>
              <a:t>Derecho de </a:t>
            </a:r>
            <a:r>
              <a:rPr lang="es-AR" b="1" dirty="0"/>
              <a:t>acceso</a:t>
            </a:r>
            <a:r>
              <a:rPr lang="es-AR" dirty="0"/>
              <a:t>, </a:t>
            </a:r>
            <a:r>
              <a:rPr lang="es-AR" b="1" dirty="0"/>
              <a:t>rectificación</a:t>
            </a:r>
            <a:r>
              <a:rPr lang="es-AR" dirty="0"/>
              <a:t>, </a:t>
            </a:r>
            <a:r>
              <a:rPr lang="es-AR" b="1" dirty="0"/>
              <a:t>supresión</a:t>
            </a:r>
            <a:r>
              <a:rPr lang="es-AR" dirty="0"/>
              <a:t> (“derecho al olvido”).</a:t>
            </a:r>
          </a:p>
          <a:p>
            <a:r>
              <a:rPr lang="es-AR" dirty="0"/>
              <a:t>Derecho a la </a:t>
            </a:r>
            <a:r>
              <a:rPr lang="es-AR" b="1" dirty="0"/>
              <a:t>portabilidad</a:t>
            </a:r>
            <a:r>
              <a:rPr lang="es-AR" dirty="0"/>
              <a:t> de los datos.</a:t>
            </a:r>
          </a:p>
          <a:p>
            <a:r>
              <a:rPr lang="es-AR" dirty="0"/>
              <a:t>Derecho a la </a:t>
            </a:r>
            <a:r>
              <a:rPr lang="es-AR" b="1" dirty="0"/>
              <a:t>oposición</a:t>
            </a:r>
            <a:r>
              <a:rPr lang="es-AR" dirty="0"/>
              <a:t> y a no ser objeto de decisiones automatizadas.</a:t>
            </a:r>
          </a:p>
          <a:p>
            <a:r>
              <a:rPr lang="es-AR" dirty="0"/>
              <a:t>Derecho a la </a:t>
            </a:r>
            <a:r>
              <a:rPr lang="es-AR" b="1" dirty="0"/>
              <a:t>limitación del tratamiento</a:t>
            </a:r>
            <a:r>
              <a:rPr lang="es-AR" dirty="0"/>
              <a:t>.</a:t>
            </a:r>
          </a:p>
          <a:p>
            <a:pPr marL="0" indent="0">
              <a:buNone/>
            </a:pPr>
            <a:endParaRPr lang="es-AR" dirty="0"/>
          </a:p>
        </p:txBody>
      </p:sp>
    </p:spTree>
    <p:extLst>
      <p:ext uri="{BB962C8B-B14F-4D97-AF65-F5344CB8AC3E}">
        <p14:creationId xmlns:p14="http://schemas.microsoft.com/office/powerpoint/2010/main" val="35381349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4770AE-E124-46B5-859E-EE1BE5715CB6}"/>
              </a:ext>
            </a:extLst>
          </p:cNvPr>
          <p:cNvSpPr>
            <a:spLocks noGrp="1"/>
          </p:cNvSpPr>
          <p:nvPr>
            <p:ph type="title"/>
          </p:nvPr>
        </p:nvSpPr>
        <p:spPr>
          <a:ln w="9525">
            <a:solidFill>
              <a:schemeClr val="tx1"/>
            </a:solidFill>
          </a:ln>
        </p:spPr>
        <p:txBody>
          <a:bodyPr/>
          <a:lstStyle/>
          <a:p>
            <a:r>
              <a:rPr lang="es-AR" b="1" dirty="0"/>
              <a:t>Principios Clave GDPR</a:t>
            </a:r>
          </a:p>
        </p:txBody>
      </p:sp>
      <p:sp>
        <p:nvSpPr>
          <p:cNvPr id="3" name="Marcador de contenido 2">
            <a:extLst>
              <a:ext uri="{FF2B5EF4-FFF2-40B4-BE49-F238E27FC236}">
                <a16:creationId xmlns:a16="http://schemas.microsoft.com/office/drawing/2014/main" id="{312BB712-03A2-455D-9F59-569E77C58794}"/>
              </a:ext>
            </a:extLst>
          </p:cNvPr>
          <p:cNvSpPr>
            <a:spLocks noGrp="1"/>
          </p:cNvSpPr>
          <p:nvPr>
            <p:ph idx="1"/>
          </p:nvPr>
        </p:nvSpPr>
        <p:spPr>
          <a:xfrm>
            <a:off x="838200" y="1825625"/>
            <a:ext cx="10515600" cy="4351338"/>
          </a:xfrm>
        </p:spPr>
        <p:txBody>
          <a:bodyPr>
            <a:normAutofit/>
          </a:bodyPr>
          <a:lstStyle/>
          <a:p>
            <a:r>
              <a:rPr lang="es-AR" b="1" dirty="0"/>
              <a:t>Obligaciones para organizaciones:</a:t>
            </a:r>
          </a:p>
          <a:p>
            <a:r>
              <a:rPr lang="es-AR" b="1" dirty="0"/>
              <a:t>Consentimiento explícito</a:t>
            </a:r>
            <a:r>
              <a:rPr lang="es-AR" dirty="0"/>
              <a:t> del usuario.</a:t>
            </a:r>
          </a:p>
          <a:p>
            <a:r>
              <a:rPr lang="es-AR" b="1" dirty="0"/>
              <a:t>Evaluaciones de impacto</a:t>
            </a:r>
            <a:r>
              <a:rPr lang="es-AR" dirty="0"/>
              <a:t> sobre protección de datos.</a:t>
            </a:r>
          </a:p>
          <a:p>
            <a:r>
              <a:rPr lang="es-AR" b="1" dirty="0"/>
              <a:t>Registro de actividades de tratamiento</a:t>
            </a:r>
            <a:r>
              <a:rPr lang="es-AR" dirty="0"/>
              <a:t>.</a:t>
            </a:r>
          </a:p>
          <a:p>
            <a:r>
              <a:rPr lang="es-AR" dirty="0"/>
              <a:t>Notificación de </a:t>
            </a:r>
            <a:r>
              <a:rPr lang="es-AR" b="1" dirty="0"/>
              <a:t>brechas de seguridad</a:t>
            </a:r>
            <a:r>
              <a:rPr lang="es-AR" dirty="0"/>
              <a:t> en menos de 72 horas.</a:t>
            </a:r>
          </a:p>
          <a:p>
            <a:r>
              <a:rPr lang="es-AR" dirty="0"/>
              <a:t>Designación de un </a:t>
            </a:r>
            <a:r>
              <a:rPr lang="es-AR" b="1" dirty="0"/>
              <a:t>Delegado de Protección de Datos (DPO)</a:t>
            </a:r>
            <a:r>
              <a:rPr lang="es-AR" dirty="0"/>
              <a:t> en ciertos casos.</a:t>
            </a:r>
          </a:p>
          <a:p>
            <a:pPr marL="0" indent="0">
              <a:buNone/>
            </a:pPr>
            <a:endParaRPr lang="es-AR" dirty="0"/>
          </a:p>
        </p:txBody>
      </p:sp>
    </p:spTree>
    <p:extLst>
      <p:ext uri="{BB962C8B-B14F-4D97-AF65-F5344CB8AC3E}">
        <p14:creationId xmlns:p14="http://schemas.microsoft.com/office/powerpoint/2010/main" val="17886187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r>
              <a:rPr lang="es" b="1" dirty="0">
                <a:solidFill>
                  <a:srgbClr val="0B0080"/>
                </a:solidFill>
              </a:rPr>
              <a:t>Legislacion de Privacidad GDPR</a:t>
            </a:r>
            <a:endParaRPr b="1" dirty="0">
              <a:solidFill>
                <a:srgbClr val="0B0080"/>
              </a:solidFill>
            </a:endParaRPr>
          </a:p>
        </p:txBody>
      </p:sp>
      <p:sp>
        <p:nvSpPr>
          <p:cNvPr id="214" name="Google Shape;214;p36"/>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152396" indent="0">
              <a:buNone/>
            </a:pPr>
            <a:endParaRPr sz="2400" dirty="0">
              <a:solidFill>
                <a:schemeClr val="lt1"/>
              </a:solidFill>
            </a:endParaRPr>
          </a:p>
        </p:txBody>
      </p:sp>
      <p:pic>
        <p:nvPicPr>
          <p:cNvPr id="2" name="Imagen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6479" y="1536633"/>
            <a:ext cx="6969820" cy="4555200"/>
          </a:xfrm>
          <a:prstGeom prst="rect">
            <a:avLst/>
          </a:prstGeom>
        </p:spPr>
      </p:pic>
    </p:spTree>
    <p:extLst>
      <p:ext uri="{BB962C8B-B14F-4D97-AF65-F5344CB8AC3E}">
        <p14:creationId xmlns:p14="http://schemas.microsoft.com/office/powerpoint/2010/main" val="1737619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r>
              <a:rPr lang="es" b="1" dirty="0">
                <a:solidFill>
                  <a:srgbClr val="0B0080"/>
                </a:solidFill>
              </a:rPr>
              <a:t>Legislacion de Privacidad GDPR</a:t>
            </a:r>
            <a:endParaRPr b="1" dirty="0">
              <a:solidFill>
                <a:srgbClr val="0B0080"/>
              </a:solidFill>
            </a:endParaRPr>
          </a:p>
        </p:txBody>
      </p:sp>
      <p:sp>
        <p:nvSpPr>
          <p:cNvPr id="214" name="Google Shape;214;p36"/>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152396" indent="0">
              <a:buNone/>
            </a:pPr>
            <a:r>
              <a:rPr lang="en-US" b="1" dirty="0"/>
              <a:t>How can I demonstrate that my </a:t>
            </a:r>
            <a:r>
              <a:rPr lang="en-US" b="1" dirty="0" err="1"/>
              <a:t>organisation</a:t>
            </a:r>
            <a:r>
              <a:rPr lang="en-US" b="1" dirty="0"/>
              <a:t> is compliant with the GDPR?</a:t>
            </a:r>
          </a:p>
          <a:p>
            <a:pPr marL="152396" indent="0">
              <a:buNone/>
            </a:pPr>
            <a:r>
              <a:rPr lang="en-US" dirty="0">
                <a:solidFill>
                  <a:schemeClr val="lt1"/>
                </a:solidFill>
                <a:hlinkClick r:id="rId3"/>
              </a:rPr>
              <a:t>https://commission.europa.eu/law/law-topic/data-protection/reform/rules-business-and-organisations/obligations/how-can-i-demonstrate-my-organisation-compliant-gdpr_en</a:t>
            </a:r>
            <a:endParaRPr lang="en-US" dirty="0">
              <a:solidFill>
                <a:schemeClr val="lt1"/>
              </a:solidFill>
            </a:endParaRPr>
          </a:p>
          <a:p>
            <a:pPr marL="152396" indent="0">
              <a:buNone/>
            </a:pPr>
            <a:r>
              <a:rPr lang="en-US" b="1" dirty="0"/>
              <a:t>Software for GDPR compliance</a:t>
            </a:r>
          </a:p>
          <a:p>
            <a:pPr marL="152396" indent="0">
              <a:buNone/>
            </a:pPr>
            <a:r>
              <a:rPr lang="en-US" dirty="0"/>
              <a:t>Data Flow Mapping Tool</a:t>
            </a:r>
          </a:p>
          <a:p>
            <a:pPr marL="152396" indent="0">
              <a:buNone/>
            </a:pPr>
            <a:r>
              <a:rPr lang="en-US" dirty="0">
                <a:solidFill>
                  <a:schemeClr val="tx1"/>
                </a:solidFill>
              </a:rPr>
              <a:t>DPIA  Tool (data protection impact assessment) </a:t>
            </a:r>
          </a:p>
          <a:p>
            <a:pPr marL="152396" indent="0">
              <a:buNone/>
            </a:pPr>
            <a:r>
              <a:rPr lang="es-AR" dirty="0">
                <a:solidFill>
                  <a:schemeClr val="tx1"/>
                </a:solidFill>
              </a:rPr>
              <a:t>GDPR Manager</a:t>
            </a:r>
          </a:p>
          <a:p>
            <a:pPr marL="152396" indent="0">
              <a:buNone/>
            </a:pPr>
            <a:r>
              <a:rPr lang="es-AR" dirty="0" err="1">
                <a:solidFill>
                  <a:schemeClr val="tx1"/>
                </a:solidFill>
              </a:rPr>
              <a:t>CyberComply</a:t>
            </a:r>
            <a:endParaRPr lang="es-AR" dirty="0">
              <a:solidFill>
                <a:schemeClr val="tx1"/>
              </a:solidFill>
            </a:endParaRPr>
          </a:p>
          <a:p>
            <a:pPr marL="152396" indent="0">
              <a:buNone/>
            </a:pPr>
            <a:r>
              <a:rPr lang="en-US" dirty="0">
                <a:solidFill>
                  <a:schemeClr val="lt1"/>
                </a:solidFill>
                <a:hlinkClick r:id="rId4"/>
              </a:rPr>
              <a:t>https://www.itgovernance.co.uk/gdpr-compliance-software</a:t>
            </a:r>
            <a:endParaRPr lang="en-US" dirty="0">
              <a:solidFill>
                <a:schemeClr val="lt1"/>
              </a:solidFill>
            </a:endParaRPr>
          </a:p>
          <a:p>
            <a:pPr marL="152396" indent="0">
              <a:buNone/>
            </a:pPr>
            <a:endParaRPr lang="en-US" dirty="0">
              <a:solidFill>
                <a:schemeClr val="lt1"/>
              </a:solidFill>
            </a:endParaRPr>
          </a:p>
          <a:p>
            <a:pPr marL="152396" indent="0">
              <a:buNone/>
            </a:pPr>
            <a:endParaRPr sz="2400" dirty="0">
              <a:solidFill>
                <a:schemeClr val="lt1"/>
              </a:solidFill>
            </a:endParaRPr>
          </a:p>
        </p:txBody>
      </p:sp>
    </p:spTree>
    <p:extLst>
      <p:ext uri="{BB962C8B-B14F-4D97-AF65-F5344CB8AC3E}">
        <p14:creationId xmlns:p14="http://schemas.microsoft.com/office/powerpoint/2010/main" val="14510103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r>
              <a:rPr lang="es-AR" b="1" dirty="0">
                <a:solidFill>
                  <a:srgbClr val="0B0080"/>
                </a:solidFill>
              </a:rPr>
              <a:t>Software para </a:t>
            </a:r>
            <a:r>
              <a:rPr lang="es-AR" b="1" dirty="0" err="1">
                <a:solidFill>
                  <a:srgbClr val="0B0080"/>
                </a:solidFill>
              </a:rPr>
              <a:t>Compliance</a:t>
            </a:r>
            <a:r>
              <a:rPr lang="es-AR" b="1" dirty="0">
                <a:solidFill>
                  <a:srgbClr val="0B0080"/>
                </a:solidFill>
              </a:rPr>
              <a:t> de GDPR</a:t>
            </a:r>
            <a:endParaRPr b="1" dirty="0">
              <a:solidFill>
                <a:srgbClr val="0B0080"/>
              </a:solidFill>
            </a:endParaRPr>
          </a:p>
        </p:txBody>
      </p:sp>
      <p:sp>
        <p:nvSpPr>
          <p:cNvPr id="214" name="Google Shape;214;p36"/>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152396" indent="0">
              <a:buNone/>
            </a:pPr>
            <a:r>
              <a:rPr lang="es-AR" b="1" dirty="0"/>
              <a:t>Data Flow </a:t>
            </a:r>
            <a:r>
              <a:rPr lang="es-AR" b="1" dirty="0" err="1"/>
              <a:t>Mapping</a:t>
            </a:r>
            <a:r>
              <a:rPr lang="es-AR" b="1" dirty="0"/>
              <a:t> Tool (Herramienta de Mapeo de Flujo de Datos):</a:t>
            </a:r>
            <a:r>
              <a:rPr lang="es-AR" dirty="0"/>
              <a:t> </a:t>
            </a:r>
          </a:p>
          <a:p>
            <a:pPr marL="152396" indent="0">
              <a:buNone/>
            </a:pPr>
            <a:r>
              <a:rPr lang="es-AR" dirty="0"/>
              <a:t>Permite a las organizaciones identificar, documentar y visualizar el camino que toman los datos personales dentro de una empresa, desde su recolección hasta su almacenamiento, procesamiento y eventual eliminación o transferencia. </a:t>
            </a:r>
          </a:p>
          <a:p>
            <a:pPr marL="152396" indent="0">
              <a:buNone/>
            </a:pPr>
            <a:r>
              <a:rPr lang="es-AR" dirty="0"/>
              <a:t>Ayuda a comprender dónde se almacena la información, quién tiene acceso a ella, cómo se procesa y si se comparte con terceros, lo cual es fundamental para cumplir con el Artículo 30 del GDPR y para identificar posibles riesgos de privacidad.</a:t>
            </a:r>
            <a:endParaRPr lang="en-US" dirty="0">
              <a:solidFill>
                <a:schemeClr val="lt1"/>
              </a:solidFill>
            </a:endParaRPr>
          </a:p>
          <a:p>
            <a:pPr marL="152396" indent="0">
              <a:buNone/>
            </a:pPr>
            <a:endParaRPr sz="2400" dirty="0">
              <a:solidFill>
                <a:schemeClr val="lt1"/>
              </a:solidFill>
            </a:endParaRPr>
          </a:p>
        </p:txBody>
      </p:sp>
    </p:spTree>
    <p:extLst>
      <p:ext uri="{BB962C8B-B14F-4D97-AF65-F5344CB8AC3E}">
        <p14:creationId xmlns:p14="http://schemas.microsoft.com/office/powerpoint/2010/main" val="2006302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r>
              <a:rPr lang="es-AR" b="1" dirty="0">
                <a:solidFill>
                  <a:srgbClr val="0B0080"/>
                </a:solidFill>
              </a:rPr>
              <a:t>Software para </a:t>
            </a:r>
            <a:r>
              <a:rPr lang="es-AR" b="1" dirty="0" err="1">
                <a:solidFill>
                  <a:srgbClr val="0B0080"/>
                </a:solidFill>
              </a:rPr>
              <a:t>Compliance</a:t>
            </a:r>
            <a:r>
              <a:rPr lang="es-AR" b="1" dirty="0">
                <a:solidFill>
                  <a:srgbClr val="0B0080"/>
                </a:solidFill>
              </a:rPr>
              <a:t> de GDPR</a:t>
            </a:r>
            <a:endParaRPr b="1" dirty="0">
              <a:solidFill>
                <a:srgbClr val="0B0080"/>
              </a:solidFill>
            </a:endParaRPr>
          </a:p>
        </p:txBody>
      </p:sp>
      <p:sp>
        <p:nvSpPr>
          <p:cNvPr id="214" name="Google Shape;214;p36"/>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152396" indent="0">
              <a:buNone/>
            </a:pPr>
            <a:r>
              <a:rPr lang="es-AR" b="1" dirty="0"/>
              <a:t>DPIA Tool (Data </a:t>
            </a:r>
            <a:r>
              <a:rPr lang="es-AR" b="1" dirty="0" err="1"/>
              <a:t>Protection</a:t>
            </a:r>
            <a:r>
              <a:rPr lang="es-AR" b="1" dirty="0"/>
              <a:t> </a:t>
            </a:r>
            <a:r>
              <a:rPr lang="es-AR" b="1" dirty="0" err="1"/>
              <a:t>Impact</a:t>
            </a:r>
            <a:r>
              <a:rPr lang="es-AR" b="1" dirty="0"/>
              <a:t> </a:t>
            </a:r>
            <a:r>
              <a:rPr lang="es-AR" b="1" dirty="0" err="1"/>
              <a:t>Assessment</a:t>
            </a:r>
            <a:r>
              <a:rPr lang="es-AR" b="1" dirty="0"/>
              <a:t> - Evaluación de Impacto en la Protección de Datos)</a:t>
            </a:r>
          </a:p>
          <a:p>
            <a:pPr marL="152396" indent="0">
              <a:buNone/>
            </a:pPr>
            <a:r>
              <a:rPr lang="es-AR" dirty="0"/>
              <a:t>Asiste a las organizaciones en la realización de una evaluación de riesgos sistemática antes de implementar nuevas operaciones de procesamiento de datos que probablemente resulten en un alto riesgo para los derechos y libertades de los individuos. </a:t>
            </a:r>
          </a:p>
          <a:p>
            <a:pPr marL="152396" indent="0">
              <a:buNone/>
            </a:pPr>
            <a:r>
              <a:rPr lang="es-AR" dirty="0"/>
              <a:t>Ayuda a identificar y mitigar los riesgos asociados con el procesamiento de datos personales, asegurando que se implementen las salvaguardias y medidas de seguridad adecuadas para proteger la privacidad de los interesados.</a:t>
            </a:r>
            <a:endParaRPr sz="2400" dirty="0">
              <a:solidFill>
                <a:schemeClr val="lt1"/>
              </a:solidFill>
            </a:endParaRPr>
          </a:p>
        </p:txBody>
      </p:sp>
    </p:spTree>
    <p:extLst>
      <p:ext uri="{BB962C8B-B14F-4D97-AF65-F5344CB8AC3E}">
        <p14:creationId xmlns:p14="http://schemas.microsoft.com/office/powerpoint/2010/main" val="27210702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36"/>
          <p:cNvSpPr txBox="1">
            <a:spLocks noGrp="1"/>
          </p:cNvSpPr>
          <p:nvPr>
            <p:ph type="title"/>
          </p:nvPr>
        </p:nvSpPr>
        <p:spPr>
          <a:xfrm>
            <a:off x="415600" y="593367"/>
            <a:ext cx="11360800" cy="763600"/>
          </a:xfrm>
          <a:prstGeom prst="rect">
            <a:avLst/>
          </a:prstGeom>
        </p:spPr>
        <p:txBody>
          <a:bodyPr spcFirstLastPara="1" vert="horz" wrap="square" lIns="121900" tIns="121900" rIns="121900" bIns="121900" rtlCol="0" anchor="t" anchorCtr="0">
            <a:noAutofit/>
          </a:bodyPr>
          <a:lstStyle/>
          <a:p>
            <a:r>
              <a:rPr lang="es-AR" b="1" dirty="0">
                <a:solidFill>
                  <a:srgbClr val="0B0080"/>
                </a:solidFill>
              </a:rPr>
              <a:t>Software para </a:t>
            </a:r>
            <a:r>
              <a:rPr lang="es-AR" b="1" dirty="0" err="1">
                <a:solidFill>
                  <a:srgbClr val="0B0080"/>
                </a:solidFill>
              </a:rPr>
              <a:t>Compliance</a:t>
            </a:r>
            <a:r>
              <a:rPr lang="es-AR" b="1" dirty="0">
                <a:solidFill>
                  <a:srgbClr val="0B0080"/>
                </a:solidFill>
              </a:rPr>
              <a:t> de GDPR</a:t>
            </a:r>
            <a:endParaRPr b="1" dirty="0">
              <a:solidFill>
                <a:srgbClr val="0B0080"/>
              </a:solidFill>
            </a:endParaRPr>
          </a:p>
        </p:txBody>
      </p:sp>
      <p:sp>
        <p:nvSpPr>
          <p:cNvPr id="214" name="Google Shape;214;p36"/>
          <p:cNvSpPr txBox="1">
            <a:spLocks noGrp="1"/>
          </p:cNvSpPr>
          <p:nvPr>
            <p:ph type="body" idx="1"/>
          </p:nvPr>
        </p:nvSpPr>
        <p:spPr>
          <a:xfrm>
            <a:off x="415600" y="1536633"/>
            <a:ext cx="11360800" cy="4555200"/>
          </a:xfrm>
          <a:prstGeom prst="rect">
            <a:avLst/>
          </a:prstGeom>
        </p:spPr>
        <p:txBody>
          <a:bodyPr spcFirstLastPara="1" vert="horz" wrap="square" lIns="121900" tIns="121900" rIns="121900" bIns="121900" rtlCol="0" anchor="t" anchorCtr="0">
            <a:noAutofit/>
          </a:bodyPr>
          <a:lstStyle/>
          <a:p>
            <a:pPr marL="152396" indent="0">
              <a:buNone/>
            </a:pPr>
            <a:r>
              <a:rPr lang="es-AR" sz="2400" b="1" dirty="0"/>
              <a:t>GDPR Manager:</a:t>
            </a:r>
            <a:r>
              <a:rPr lang="es-AR" sz="2400" dirty="0"/>
              <a:t> solución de gestión integral que facilita la administración de diversos elementos de cumplimiento del GDPR. Incluye módulos para registrar y reportar violaciones de datos, gestionar las solicitudes de acceso de los interesados (</a:t>
            </a:r>
            <a:r>
              <a:rPr lang="es-AR" sz="2400" dirty="0" err="1"/>
              <a:t>DSARs</a:t>
            </a:r>
            <a:r>
              <a:rPr lang="es-AR" sz="2400" dirty="0"/>
              <a:t>), y evaluar si los terceros con los que la organización comparte datos tienen medidas de protección adecuadas. También puede ayudar a identificar brechas en el programa de cumplimiento actual y generar un plan de acción.</a:t>
            </a:r>
          </a:p>
          <a:p>
            <a:pPr marL="152396" indent="0">
              <a:buNone/>
            </a:pPr>
            <a:endParaRPr lang="es-AR" sz="2400" dirty="0"/>
          </a:p>
          <a:p>
            <a:pPr marL="152396" indent="0">
              <a:buNone/>
            </a:pPr>
            <a:r>
              <a:rPr lang="es-AR" sz="2400" b="1" dirty="0" err="1"/>
              <a:t>CyberComply</a:t>
            </a:r>
            <a:r>
              <a:rPr lang="es-AR" sz="2400" b="1" dirty="0"/>
              <a:t>:</a:t>
            </a:r>
            <a:r>
              <a:rPr lang="es-AR" sz="2400" dirty="0"/>
              <a:t> plataforma de gestión de cumplimiento basada en la nube que ofrece una solución completa para la gestión de riesgos cibernéticos y la privacidad de los datos, Integra las funcionalidades de las herramientas mencionadas anteriormente (Mapeo de Flujo de Datos, DPIA Tool, GDPR Manager) y otras herramientas de gestión de incidentes y riesgos, permitiendo a las organizaciones automatizar procesos y mantener un registro de auditoría completo.</a:t>
            </a:r>
            <a:endParaRPr lang="es-AR" sz="2400" dirty="0">
              <a:solidFill>
                <a:schemeClr val="lt1"/>
              </a:solidFill>
            </a:endParaRPr>
          </a:p>
        </p:txBody>
      </p:sp>
    </p:spTree>
    <p:extLst>
      <p:ext uri="{BB962C8B-B14F-4D97-AF65-F5344CB8AC3E}">
        <p14:creationId xmlns:p14="http://schemas.microsoft.com/office/powerpoint/2010/main" val="282093524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4770AE-E124-46B5-859E-EE1BE5715CB6}"/>
              </a:ext>
            </a:extLst>
          </p:cNvPr>
          <p:cNvSpPr>
            <a:spLocks noGrp="1"/>
          </p:cNvSpPr>
          <p:nvPr>
            <p:ph type="title"/>
          </p:nvPr>
        </p:nvSpPr>
        <p:spPr>
          <a:ln w="9525">
            <a:solidFill>
              <a:schemeClr val="tx1"/>
            </a:solidFill>
          </a:ln>
        </p:spPr>
        <p:txBody>
          <a:bodyPr/>
          <a:lstStyle/>
          <a:p>
            <a:r>
              <a:rPr lang="es-AR" b="1" dirty="0"/>
              <a:t>Relación código de ACM con GDPR</a:t>
            </a:r>
          </a:p>
        </p:txBody>
      </p:sp>
      <p:sp>
        <p:nvSpPr>
          <p:cNvPr id="3" name="Marcador de contenido 2">
            <a:extLst>
              <a:ext uri="{FF2B5EF4-FFF2-40B4-BE49-F238E27FC236}">
                <a16:creationId xmlns:a16="http://schemas.microsoft.com/office/drawing/2014/main" id="{312BB712-03A2-455D-9F59-569E77C58794}"/>
              </a:ext>
            </a:extLst>
          </p:cNvPr>
          <p:cNvSpPr>
            <a:spLocks noGrp="1"/>
          </p:cNvSpPr>
          <p:nvPr>
            <p:ph idx="1"/>
          </p:nvPr>
        </p:nvSpPr>
        <p:spPr/>
        <p:txBody>
          <a:bodyPr>
            <a:normAutofit fontScale="77500" lnSpcReduction="20000"/>
          </a:bodyPr>
          <a:lstStyle/>
          <a:p>
            <a:r>
              <a:rPr lang="es-AR" b="1" dirty="0"/>
              <a:t>1. Contribuir al bienestar humano (ACM)</a:t>
            </a:r>
            <a:endParaRPr lang="es-AR" dirty="0"/>
          </a:p>
          <a:p>
            <a:pPr marL="0" lvl="0" indent="0">
              <a:buNone/>
            </a:pPr>
            <a:r>
              <a:rPr lang="es-AR" dirty="0"/>
              <a:t>El RGPD busca proteger los derechos fundamentales de las personas, incluida su privacidad y libertad. Este principio del ACM coincide con la finalidad del RGPD de garantizar que el uso de datos personales beneficie a las personas y no las perjudique.</a:t>
            </a:r>
          </a:p>
          <a:p>
            <a:r>
              <a:rPr lang="es-AR" b="1" dirty="0"/>
              <a:t>2. Evitar daños (ACM)</a:t>
            </a:r>
            <a:endParaRPr lang="es-AR" dirty="0"/>
          </a:p>
          <a:p>
            <a:pPr marL="0" lvl="0" indent="0">
              <a:buNone/>
            </a:pPr>
            <a:r>
              <a:rPr lang="es-AR" dirty="0"/>
              <a:t>El RGPD establece normas estrictas para evitar el mal uso de los datos personales, lo que se alinea con la obligación ética de evitar daños potenciales. Esto incluye proteger a los usuarios frente a filtraciones, mal uso de datos o algoritmos discriminatorios.</a:t>
            </a:r>
          </a:p>
          <a:p>
            <a:r>
              <a:rPr lang="es-AR" b="1" dirty="0"/>
              <a:t>3. Ser honesto y confiable (ACM)</a:t>
            </a:r>
            <a:endParaRPr lang="es-AR" dirty="0"/>
          </a:p>
          <a:p>
            <a:pPr marL="0" lvl="0" indent="0">
              <a:buNone/>
            </a:pPr>
            <a:r>
              <a:rPr lang="es-AR" dirty="0"/>
              <a:t>El RGPD enfatiza la transparencia en el procesamiento de datos, requiriendo que las organizaciones expliquen claramente cómo recopilan, almacenan y usan los datos. Esto está relacionado con la honestidad y confiabilidad que promueve el ACM.</a:t>
            </a:r>
          </a:p>
          <a:p>
            <a:endParaRPr lang="es-AR" dirty="0"/>
          </a:p>
        </p:txBody>
      </p:sp>
    </p:spTree>
    <p:extLst>
      <p:ext uri="{BB962C8B-B14F-4D97-AF65-F5344CB8AC3E}">
        <p14:creationId xmlns:p14="http://schemas.microsoft.com/office/powerpoint/2010/main" val="7586279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4770AE-E124-46B5-859E-EE1BE5715CB6}"/>
              </a:ext>
            </a:extLst>
          </p:cNvPr>
          <p:cNvSpPr>
            <a:spLocks noGrp="1"/>
          </p:cNvSpPr>
          <p:nvPr>
            <p:ph type="title"/>
          </p:nvPr>
        </p:nvSpPr>
        <p:spPr>
          <a:ln w="9525">
            <a:solidFill>
              <a:schemeClr val="tx1"/>
            </a:solidFill>
          </a:ln>
        </p:spPr>
        <p:txBody>
          <a:bodyPr/>
          <a:lstStyle/>
          <a:p>
            <a:r>
              <a:rPr lang="es-AR" b="1" dirty="0"/>
              <a:t>Relación código de ACM con GDPR</a:t>
            </a:r>
          </a:p>
        </p:txBody>
      </p:sp>
      <p:sp>
        <p:nvSpPr>
          <p:cNvPr id="3" name="Marcador de contenido 2">
            <a:extLst>
              <a:ext uri="{FF2B5EF4-FFF2-40B4-BE49-F238E27FC236}">
                <a16:creationId xmlns:a16="http://schemas.microsoft.com/office/drawing/2014/main" id="{312BB712-03A2-455D-9F59-569E77C58794}"/>
              </a:ext>
            </a:extLst>
          </p:cNvPr>
          <p:cNvSpPr>
            <a:spLocks noGrp="1"/>
          </p:cNvSpPr>
          <p:nvPr>
            <p:ph idx="1"/>
          </p:nvPr>
        </p:nvSpPr>
        <p:spPr/>
        <p:txBody>
          <a:bodyPr>
            <a:normAutofit fontScale="40000" lnSpcReduction="20000"/>
          </a:bodyPr>
          <a:lstStyle/>
          <a:p>
            <a:r>
              <a:rPr lang="es-AR" sz="4800" b="1" dirty="0"/>
              <a:t>4. Respetar la privacidad de otros (ACM)</a:t>
            </a:r>
            <a:endParaRPr lang="es-AR" sz="4800" dirty="0"/>
          </a:p>
          <a:p>
            <a:pPr marL="0" lvl="0" indent="0">
              <a:buNone/>
            </a:pPr>
            <a:r>
              <a:rPr lang="es-AR" sz="4800" dirty="0"/>
              <a:t>La privacidad es el núcleo del RGPD, y se refleja en derechos específicos como el derecho al acceso, rectificación y eliminación de datos. Este principio del ACM está directamente vinculado a garantizar el respeto por la privacidad individual.</a:t>
            </a:r>
          </a:p>
          <a:p>
            <a:r>
              <a:rPr lang="es-AR" sz="4800" b="1" dirty="0"/>
              <a:t>5. Ser justo y no discriminar (ACM)</a:t>
            </a:r>
            <a:endParaRPr lang="es-AR" sz="4800" dirty="0"/>
          </a:p>
          <a:p>
            <a:pPr marL="0" lvl="0" indent="0">
              <a:buNone/>
            </a:pPr>
            <a:r>
              <a:rPr lang="es-AR" sz="4800" dirty="0"/>
              <a:t>El RGPD prohíbe el procesamiento de datos que pueda llevar a discriminación injusta, como decisiones automatizadas basadas en sesgos. La justicia y la no discriminación son principios compartidos</a:t>
            </a:r>
          </a:p>
          <a:p>
            <a:r>
              <a:rPr lang="es-AR" sz="4800" b="1" dirty="0"/>
              <a:t>6. Honrar la confidencialidad (ACM)</a:t>
            </a:r>
            <a:endParaRPr lang="es-AR" sz="4800" dirty="0"/>
          </a:p>
          <a:p>
            <a:pPr marL="0" lvl="0" indent="0">
              <a:buNone/>
            </a:pPr>
            <a:r>
              <a:rPr lang="es-AR" sz="4800" dirty="0"/>
              <a:t>El RGPD exige medidas para garantizar la confidencialidad de los datos personales, como la implementación de medidas técnicas y organizativas adecuadas. Este principio coincide con código de ética de ACM.</a:t>
            </a:r>
          </a:p>
          <a:p>
            <a:r>
              <a:rPr lang="es-AR" sz="4800" b="1" dirty="0"/>
              <a:t>7. Diseñar sistemas que protejan derechos fundamentales (ACM)</a:t>
            </a:r>
            <a:endParaRPr lang="es-AR" sz="4800" dirty="0"/>
          </a:p>
          <a:p>
            <a:pPr marL="0" lvl="0" indent="0">
              <a:buNone/>
            </a:pPr>
            <a:r>
              <a:rPr lang="es-AR" sz="4800" dirty="0"/>
              <a:t>El diseño de sistemas con privacidad por diseño y por defecto (principio fundamental del RGPD) es consistente con este principio del ACM, asegurando que las soluciones tecnológicas respeten los derechos de los usuarios desde su concepción.</a:t>
            </a:r>
          </a:p>
          <a:p>
            <a:endParaRPr lang="es-AR" dirty="0"/>
          </a:p>
        </p:txBody>
      </p:sp>
    </p:spTree>
    <p:extLst>
      <p:ext uri="{BB962C8B-B14F-4D97-AF65-F5344CB8AC3E}">
        <p14:creationId xmlns:p14="http://schemas.microsoft.com/office/powerpoint/2010/main" val="4026387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04770AE-E124-46B5-859E-EE1BE5715CB6}"/>
              </a:ext>
            </a:extLst>
          </p:cNvPr>
          <p:cNvSpPr>
            <a:spLocks noGrp="1"/>
          </p:cNvSpPr>
          <p:nvPr>
            <p:ph type="title"/>
          </p:nvPr>
        </p:nvSpPr>
        <p:spPr>
          <a:ln w="9525">
            <a:solidFill>
              <a:schemeClr val="tx1"/>
            </a:solidFill>
          </a:ln>
        </p:spPr>
        <p:txBody>
          <a:bodyPr/>
          <a:lstStyle/>
          <a:p>
            <a:r>
              <a:rPr lang="es-AR" dirty="0"/>
              <a:t>Usando el Código de Ética. </a:t>
            </a:r>
            <a:r>
              <a:rPr lang="es-AR" b="1" dirty="0"/>
              <a:t>Caso de estudio 1</a:t>
            </a:r>
          </a:p>
        </p:txBody>
      </p:sp>
      <p:sp>
        <p:nvSpPr>
          <p:cNvPr id="3" name="Marcador de contenido 2">
            <a:extLst>
              <a:ext uri="{FF2B5EF4-FFF2-40B4-BE49-F238E27FC236}">
                <a16:creationId xmlns:a16="http://schemas.microsoft.com/office/drawing/2014/main" id="{312BB712-03A2-455D-9F59-569E77C58794}"/>
              </a:ext>
            </a:extLst>
          </p:cNvPr>
          <p:cNvSpPr>
            <a:spLocks noGrp="1"/>
          </p:cNvSpPr>
          <p:nvPr>
            <p:ph idx="1"/>
          </p:nvPr>
        </p:nvSpPr>
        <p:spPr/>
        <p:txBody>
          <a:bodyPr>
            <a:normAutofit fontScale="92500"/>
          </a:bodyPr>
          <a:lstStyle/>
          <a:p>
            <a:r>
              <a:rPr lang="es-AR" b="1" dirty="0"/>
              <a:t>Difusión de Malware</a:t>
            </a:r>
            <a:r>
              <a:rPr lang="es-AR" dirty="0"/>
              <a:t>: </a:t>
            </a:r>
          </a:p>
          <a:p>
            <a:pPr algn="just"/>
            <a:r>
              <a:rPr lang="en-US" dirty="0"/>
              <a:t>Rogue Services (</a:t>
            </a:r>
            <a:r>
              <a:rPr lang="en-US" dirty="0" err="1"/>
              <a:t>servicios</a:t>
            </a:r>
            <a:r>
              <a:rPr lang="en-US" dirty="0"/>
              <a:t> </a:t>
            </a:r>
            <a:r>
              <a:rPr lang="en-US" dirty="0" err="1"/>
              <a:t>tramposos</a:t>
            </a:r>
            <a:r>
              <a:rPr lang="en-US" dirty="0"/>
              <a:t>) </a:t>
            </a:r>
            <a:r>
              <a:rPr lang="es-AR" dirty="0"/>
              <a:t>promociona su alojamiento web como "barato, tiempo de actividad garantizado, pase lo que pase". Si bien algunos de sus clientes son minoristas independientes basados en la web, la mayoría se enfoca en el malware y el spam, que aprovechan a </a:t>
            </a:r>
            <a:r>
              <a:rPr lang="es-AR" dirty="0" err="1"/>
              <a:t>Rogue</a:t>
            </a:r>
            <a:r>
              <a:rPr lang="es-AR" dirty="0"/>
              <a:t> para la entrega continua. Los anuncios corruptos a menudo se vinculan con el código alojado en </a:t>
            </a:r>
            <a:r>
              <a:rPr lang="es-AR" dirty="0" err="1"/>
              <a:t>Rogue</a:t>
            </a:r>
            <a:r>
              <a:rPr lang="es-AR" dirty="0"/>
              <a:t> para explotar las vulnerabilidades del navegador e infectar las máquinas con </a:t>
            </a:r>
            <a:r>
              <a:rPr lang="es-AR" dirty="0" err="1"/>
              <a:t>ransomware</a:t>
            </a:r>
            <a:r>
              <a:rPr lang="es-AR" dirty="0"/>
              <a:t>. </a:t>
            </a:r>
            <a:r>
              <a:rPr lang="es-AR" dirty="0" err="1"/>
              <a:t>Rogue</a:t>
            </a:r>
            <a:r>
              <a:rPr lang="es-AR" dirty="0"/>
              <a:t> se niega a intervenir con estos servicios a pesar de las reiteradas solicitudes. </a:t>
            </a:r>
            <a:r>
              <a:rPr lang="en-US" dirty="0"/>
              <a:t> </a:t>
            </a:r>
          </a:p>
          <a:p>
            <a:r>
              <a:rPr lang="en-US" dirty="0">
                <a:hlinkClick r:id="rId2"/>
              </a:rPr>
              <a:t>https://ethics.acm.org/code-of-ethics/using-the-code/case-malware-disruption</a:t>
            </a:r>
            <a:endParaRPr lang="en-US" dirty="0"/>
          </a:p>
          <a:p>
            <a:endParaRPr lang="es-AR" dirty="0"/>
          </a:p>
        </p:txBody>
      </p:sp>
    </p:spTree>
    <p:extLst>
      <p:ext uri="{BB962C8B-B14F-4D97-AF65-F5344CB8AC3E}">
        <p14:creationId xmlns:p14="http://schemas.microsoft.com/office/powerpoint/2010/main" val="8293318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BD387DF-5565-4057-85F6-071FE6918A40}"/>
              </a:ext>
            </a:extLst>
          </p:cNvPr>
          <p:cNvSpPr>
            <a:spLocks noGrp="1"/>
          </p:cNvSpPr>
          <p:nvPr>
            <p:ph type="title"/>
          </p:nvPr>
        </p:nvSpPr>
        <p:spPr>
          <a:xfrm>
            <a:off x="838200" y="365125"/>
            <a:ext cx="10056223" cy="1325563"/>
          </a:xfrm>
          <a:ln w="9525">
            <a:solidFill>
              <a:schemeClr val="tx1"/>
            </a:solidFill>
          </a:ln>
        </p:spPr>
        <p:txBody>
          <a:bodyPr/>
          <a:lstStyle/>
          <a:p>
            <a:r>
              <a:rPr lang="es-AR" b="1" dirty="0"/>
              <a:t>Caso  de Estudio 2</a:t>
            </a:r>
          </a:p>
        </p:txBody>
      </p:sp>
      <p:sp>
        <p:nvSpPr>
          <p:cNvPr id="3" name="Marcador de contenido 2">
            <a:extLst>
              <a:ext uri="{FF2B5EF4-FFF2-40B4-BE49-F238E27FC236}">
                <a16:creationId xmlns:a16="http://schemas.microsoft.com/office/drawing/2014/main" id="{E962D7C6-EA1B-4752-9D7D-0D1BD4F4507F}"/>
              </a:ext>
            </a:extLst>
          </p:cNvPr>
          <p:cNvSpPr>
            <a:spLocks noGrp="1"/>
          </p:cNvSpPr>
          <p:nvPr>
            <p:ph idx="1"/>
          </p:nvPr>
        </p:nvSpPr>
        <p:spPr/>
        <p:txBody>
          <a:bodyPr>
            <a:normAutofit fontScale="92500"/>
          </a:bodyPr>
          <a:lstStyle/>
          <a:p>
            <a:r>
              <a:rPr lang="es-AR" b="1" dirty="0"/>
              <a:t>Corazón, implante medico</a:t>
            </a:r>
          </a:p>
          <a:p>
            <a:pPr marL="0" indent="0" algn="just">
              <a:buNone/>
            </a:pPr>
            <a:r>
              <a:rPr lang="es-AR" dirty="0"/>
              <a:t>Corazón es una startup de tecnología médica que construye dispositivos implantables de monitoreo de la salud del corazón. Después de recibir la aprobación de las agencias reguladoras de dispositivos médicos de varios países, Corazón rápidamente ganó participación de mercado gracias a la facilidad de uso de la aplicación y al compromiso manifiesto de la empresa de proteger la información de los pacientes. Corazón también trabajó con varias organizaciones benéficas para brindar acceso gratuito o reducido a pacientes que viven por debajo del umbral de la pobreza. </a:t>
            </a:r>
          </a:p>
          <a:p>
            <a:pPr marL="0" indent="0">
              <a:buNone/>
            </a:pPr>
            <a:r>
              <a:rPr lang="es-AR" dirty="0">
                <a:hlinkClick r:id="rId2"/>
              </a:rPr>
              <a:t>https://ethics.acm.org/code-of-ethics/using-the-code/case-medical-implant-risk-analysis</a:t>
            </a:r>
            <a:endParaRPr lang="es-AR" dirty="0"/>
          </a:p>
        </p:txBody>
      </p:sp>
    </p:spTree>
    <p:extLst>
      <p:ext uri="{BB962C8B-B14F-4D97-AF65-F5344CB8AC3E}">
        <p14:creationId xmlns:p14="http://schemas.microsoft.com/office/powerpoint/2010/main" val="30388968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C4DD8C9-8CAB-4AD4-AC09-4924ED4F321A}"/>
              </a:ext>
            </a:extLst>
          </p:cNvPr>
          <p:cNvSpPr>
            <a:spLocks noGrp="1"/>
          </p:cNvSpPr>
          <p:nvPr>
            <p:ph type="title"/>
          </p:nvPr>
        </p:nvSpPr>
        <p:spPr>
          <a:ln w="9525">
            <a:solidFill>
              <a:schemeClr val="tx1"/>
            </a:solidFill>
          </a:ln>
        </p:spPr>
        <p:txBody>
          <a:bodyPr/>
          <a:lstStyle/>
          <a:p>
            <a:r>
              <a:rPr lang="es-AR" b="1" dirty="0"/>
              <a:t>Caso de Estudio 3</a:t>
            </a:r>
          </a:p>
        </p:txBody>
      </p:sp>
      <p:sp>
        <p:nvSpPr>
          <p:cNvPr id="3" name="Marcador de contenido 2">
            <a:extLst>
              <a:ext uri="{FF2B5EF4-FFF2-40B4-BE49-F238E27FC236}">
                <a16:creationId xmlns:a16="http://schemas.microsoft.com/office/drawing/2014/main" id="{0A31059B-ABEC-45E4-B290-80814D23AB1E}"/>
              </a:ext>
            </a:extLst>
          </p:cNvPr>
          <p:cNvSpPr>
            <a:spLocks noGrp="1"/>
          </p:cNvSpPr>
          <p:nvPr>
            <p:ph idx="1"/>
          </p:nvPr>
        </p:nvSpPr>
        <p:spPr/>
        <p:txBody>
          <a:bodyPr>
            <a:normAutofit lnSpcReduction="10000"/>
          </a:bodyPr>
          <a:lstStyle/>
          <a:p>
            <a:r>
              <a:rPr lang="es-AR" b="1" dirty="0"/>
              <a:t>Comportamiento abusivo en el trabajo</a:t>
            </a:r>
          </a:p>
          <a:p>
            <a:pPr marL="0" indent="0">
              <a:buNone/>
            </a:pPr>
            <a:r>
              <a:rPr lang="es-AR" dirty="0"/>
              <a:t>Como recién contratada en el equipo de tecnologías interactivas, Diane se convirtió en el objetivo de las diatribas del líder del equipo, Max, cuando cometió una actualización de código que introdujo una falla de tiempo en un prototipo poco antes de una demostración en vivo. Diane se acercó al gerente del equipo, Jean, sobre el comportamiento abusivo de Max. Jean estuvo de acuerdo en que la experiencia fue desagradable, pero ese fue el precio a pagar por trabajar en un equipo intenso y líder en la industria. </a:t>
            </a:r>
          </a:p>
          <a:p>
            <a:pPr marL="0" indent="0">
              <a:buNone/>
            </a:pPr>
            <a:r>
              <a:rPr lang="es-AR" dirty="0">
                <a:hlinkClick r:id="rId2"/>
              </a:rPr>
              <a:t>https://ethics.acm.org/code-of-ethics/using-the-code/case-abusive-workplace-behavior</a:t>
            </a:r>
            <a:endParaRPr lang="es-AR" dirty="0"/>
          </a:p>
        </p:txBody>
      </p:sp>
    </p:spTree>
    <p:extLst>
      <p:ext uri="{BB962C8B-B14F-4D97-AF65-F5344CB8AC3E}">
        <p14:creationId xmlns:p14="http://schemas.microsoft.com/office/powerpoint/2010/main" val="4879060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11698CF-1FA0-4BF2-9932-82214FF5EEE5}"/>
              </a:ext>
            </a:extLst>
          </p:cNvPr>
          <p:cNvSpPr>
            <a:spLocks noGrp="1"/>
          </p:cNvSpPr>
          <p:nvPr>
            <p:ph type="title"/>
          </p:nvPr>
        </p:nvSpPr>
        <p:spPr>
          <a:xfrm>
            <a:off x="1018902" y="365125"/>
            <a:ext cx="10334897" cy="1325563"/>
          </a:xfrm>
          <a:ln w="9525">
            <a:solidFill>
              <a:schemeClr val="tx1"/>
            </a:solidFill>
          </a:ln>
        </p:spPr>
        <p:txBody>
          <a:bodyPr/>
          <a:lstStyle/>
          <a:p>
            <a:r>
              <a:rPr lang="es-AR" b="1" dirty="0"/>
              <a:t>Caso de Estudio 4</a:t>
            </a:r>
          </a:p>
        </p:txBody>
      </p:sp>
      <p:sp>
        <p:nvSpPr>
          <p:cNvPr id="3" name="Marcador de contenido 2">
            <a:extLst>
              <a:ext uri="{FF2B5EF4-FFF2-40B4-BE49-F238E27FC236}">
                <a16:creationId xmlns:a16="http://schemas.microsoft.com/office/drawing/2014/main" id="{F0177753-8DC1-44FF-868D-0F8406D662C5}"/>
              </a:ext>
            </a:extLst>
          </p:cNvPr>
          <p:cNvSpPr>
            <a:spLocks noGrp="1"/>
          </p:cNvSpPr>
          <p:nvPr>
            <p:ph idx="1"/>
          </p:nvPr>
        </p:nvSpPr>
        <p:spPr/>
        <p:txBody>
          <a:bodyPr>
            <a:normAutofit fontScale="92500"/>
          </a:bodyPr>
          <a:lstStyle/>
          <a:p>
            <a:r>
              <a:rPr lang="es-ES" b="1" dirty="0"/>
              <a:t>Armamento de respuesta activa automatizada </a:t>
            </a:r>
            <a:endParaRPr lang="es-AR" b="1" dirty="0"/>
          </a:p>
          <a:p>
            <a:pPr marL="0" indent="0" algn="just">
              <a:buNone/>
            </a:pPr>
            <a:r>
              <a:rPr lang="es-AR" dirty="0"/>
              <a:t>Q Industries es un contratista de defensa internacional que se especializa en vehículos autónomos. Como uno de los primeros pioneros en sistemas pasivos, como robots para desactivar bombas y drones de monitoreo de multitudes, Q se estableció como un proveedor de elección para aplicaciones militares y policiales. Los productos de Q se han implementado en una variedad de entornos, incluidas zonas de conflicto y protestas no violentas. Recientemente, sin embargo, Q ha comenzado a experimentar con la respuesta activa automatizada. </a:t>
            </a:r>
          </a:p>
          <a:p>
            <a:pPr marL="0" indent="0">
              <a:buNone/>
            </a:pPr>
            <a:r>
              <a:rPr lang="es-AR" dirty="0">
                <a:hlinkClick r:id="rId2"/>
              </a:rPr>
              <a:t>https://ethics.acm.org/code-of-ethics/using-the-code/case-automated-active-response-weaponry/</a:t>
            </a:r>
            <a:endParaRPr lang="es-AR" dirty="0"/>
          </a:p>
        </p:txBody>
      </p:sp>
    </p:spTree>
    <p:extLst>
      <p:ext uri="{BB962C8B-B14F-4D97-AF65-F5344CB8AC3E}">
        <p14:creationId xmlns:p14="http://schemas.microsoft.com/office/powerpoint/2010/main" val="21233505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D0CCC8-6DC8-4A49-A026-D3438BE61649}"/>
              </a:ext>
            </a:extLst>
          </p:cNvPr>
          <p:cNvSpPr>
            <a:spLocks noGrp="1"/>
          </p:cNvSpPr>
          <p:nvPr>
            <p:ph type="title"/>
          </p:nvPr>
        </p:nvSpPr>
        <p:spPr>
          <a:xfrm>
            <a:off x="838200" y="325937"/>
            <a:ext cx="10515599" cy="1325563"/>
          </a:xfrm>
          <a:ln w="9525">
            <a:solidFill>
              <a:schemeClr val="tx1"/>
            </a:solidFill>
          </a:ln>
        </p:spPr>
        <p:txBody>
          <a:bodyPr/>
          <a:lstStyle/>
          <a:p>
            <a:r>
              <a:rPr lang="es-AR" b="1" dirty="0"/>
              <a:t>Caso de Estudio 5</a:t>
            </a:r>
          </a:p>
        </p:txBody>
      </p:sp>
      <p:sp>
        <p:nvSpPr>
          <p:cNvPr id="3" name="Marcador de contenido 2">
            <a:extLst>
              <a:ext uri="{FF2B5EF4-FFF2-40B4-BE49-F238E27FC236}">
                <a16:creationId xmlns:a16="http://schemas.microsoft.com/office/drawing/2014/main" id="{395CCAEE-47D3-403A-BFBD-89D56E1CC517}"/>
              </a:ext>
            </a:extLst>
          </p:cNvPr>
          <p:cNvSpPr>
            <a:spLocks noGrp="1"/>
          </p:cNvSpPr>
          <p:nvPr>
            <p:ph idx="1"/>
          </p:nvPr>
        </p:nvSpPr>
        <p:spPr/>
        <p:txBody>
          <a:bodyPr/>
          <a:lstStyle/>
          <a:p>
            <a:r>
              <a:rPr lang="es-AR" b="1" dirty="0"/>
              <a:t>Patrones oscuros de UX</a:t>
            </a:r>
          </a:p>
          <a:p>
            <a:pPr marL="0" indent="0" algn="just">
              <a:buNone/>
            </a:pPr>
            <a:r>
              <a:rPr lang="es-AR" dirty="0"/>
              <a:t>La solicitud de cambio que recibió Stewart fue simple: reemplace los botones rectangulares redondeados del sitio web con flechas y ajuste la paleta de colores a una que mezcle texto rojo y verde. Pero encontró el prototipo confuso. Le sugirió a su gerente que este diseño probablemente engañaría a los usuarios con opciones más caras que no querían. La respuesta fue que estos eran los cambios solicitados por el cliente. </a:t>
            </a:r>
          </a:p>
          <a:p>
            <a:pPr marL="0" indent="0">
              <a:buNone/>
            </a:pPr>
            <a:r>
              <a:rPr lang="es-AR" dirty="0">
                <a:hlinkClick r:id="rId2"/>
              </a:rPr>
              <a:t>https://ethics.acm.org/code-of-ethics/using-the-code/case-dark-ux-patterns/</a:t>
            </a:r>
            <a:endParaRPr lang="es-AR" dirty="0"/>
          </a:p>
        </p:txBody>
      </p:sp>
    </p:spTree>
    <p:extLst>
      <p:ext uri="{BB962C8B-B14F-4D97-AF65-F5344CB8AC3E}">
        <p14:creationId xmlns:p14="http://schemas.microsoft.com/office/powerpoint/2010/main" val="2487756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92C2723-351B-460D-B4E4-D74D70DDA850}"/>
              </a:ext>
            </a:extLst>
          </p:cNvPr>
          <p:cNvSpPr>
            <a:spLocks noGrp="1"/>
          </p:cNvSpPr>
          <p:nvPr>
            <p:ph type="title"/>
          </p:nvPr>
        </p:nvSpPr>
        <p:spPr>
          <a:ln w="9525">
            <a:solidFill>
              <a:schemeClr val="tx1"/>
            </a:solidFill>
          </a:ln>
        </p:spPr>
        <p:txBody>
          <a:bodyPr/>
          <a:lstStyle/>
          <a:p>
            <a:r>
              <a:rPr lang="es-AR" b="1" dirty="0"/>
              <a:t>Caso de Estudio 6</a:t>
            </a:r>
          </a:p>
        </p:txBody>
      </p:sp>
      <p:sp>
        <p:nvSpPr>
          <p:cNvPr id="3" name="Marcador de contenido 2">
            <a:extLst>
              <a:ext uri="{FF2B5EF4-FFF2-40B4-BE49-F238E27FC236}">
                <a16:creationId xmlns:a16="http://schemas.microsoft.com/office/drawing/2014/main" id="{C8EE58B7-446B-4D5F-80EC-E25B788532D3}"/>
              </a:ext>
            </a:extLst>
          </p:cNvPr>
          <p:cNvSpPr>
            <a:spLocks noGrp="1"/>
          </p:cNvSpPr>
          <p:nvPr>
            <p:ph idx="1"/>
          </p:nvPr>
        </p:nvSpPr>
        <p:spPr/>
        <p:txBody>
          <a:bodyPr>
            <a:normAutofit lnSpcReduction="10000"/>
          </a:bodyPr>
          <a:lstStyle/>
          <a:p>
            <a:r>
              <a:rPr lang="es-AR" b="1" dirty="0"/>
              <a:t>Entradas maliciosas a los filtros de contenido </a:t>
            </a:r>
          </a:p>
          <a:p>
            <a:pPr marL="0" indent="0" algn="just">
              <a:buNone/>
            </a:pPr>
            <a:r>
              <a:rPr lang="es-AR" dirty="0"/>
              <a:t>La Ley de Protección de Niños en Internet de EE. UU. (CIPA, por sus siglas en inglés) exige que las escuelas y bibliotecas públicas empleen mecanismos para bloquear material inapropiado con el argumento de que se considera dañino para los menores. </a:t>
            </a:r>
            <a:r>
              <a:rPr lang="es-AR" dirty="0" err="1"/>
              <a:t>Blocker</a:t>
            </a:r>
            <a:r>
              <a:rPr lang="es-AR" dirty="0"/>
              <a:t> Plus es un filtro de contenido de Internet automatizado diseñado para ayudar a estas instituciones a cumplir con los requisitos de CIPA. Durante una sesión de revisión, el equipo de desarrollo revisó una serie de quejas sobre contenido bloqueado de manera inapropiada. </a:t>
            </a:r>
          </a:p>
          <a:p>
            <a:pPr marL="0" indent="0">
              <a:buNone/>
            </a:pPr>
            <a:r>
              <a:rPr lang="es-AR" dirty="0">
                <a:hlinkClick r:id="rId2"/>
              </a:rPr>
              <a:t>https://ethics.acm.org/code-of-ethics/using-the-code/case-malicious-inputs-to-content-filters/</a:t>
            </a:r>
            <a:endParaRPr lang="es-AR" dirty="0"/>
          </a:p>
        </p:txBody>
      </p:sp>
    </p:spTree>
    <p:extLst>
      <p:ext uri="{BB962C8B-B14F-4D97-AF65-F5344CB8AC3E}">
        <p14:creationId xmlns:p14="http://schemas.microsoft.com/office/powerpoint/2010/main" val="3763685984"/>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521</TotalTime>
  <Words>2509</Words>
  <Application>Microsoft Office PowerPoint</Application>
  <PresentationFormat>Panorámica</PresentationFormat>
  <Paragraphs>150</Paragraphs>
  <Slides>26</Slides>
  <Notes>5</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26</vt:i4>
      </vt:variant>
    </vt:vector>
  </HeadingPairs>
  <TitlesOfParts>
    <vt:vector size="30" baseType="lpstr">
      <vt:lpstr>Arial</vt:lpstr>
      <vt:lpstr>Calibri</vt:lpstr>
      <vt:lpstr>Calibri Light</vt:lpstr>
      <vt:lpstr>Tema de Office</vt:lpstr>
      <vt:lpstr>   Código de Ética ACM </vt:lpstr>
      <vt:lpstr> 1. PRINCIPIOS ÉTICOS GENERALES</vt:lpstr>
      <vt:lpstr>1.1 Contribuir a la sociedad y al bienestar humano.</vt:lpstr>
      <vt:lpstr>1.1 Contribuir a la sociedad y al bienestar humano.</vt:lpstr>
      <vt:lpstr>2. RESPONSABILIDADES PROFESIONALES.</vt:lpstr>
      <vt:lpstr>3. PRINCIPIOS DE LIDERAZGO PROFESIONAL.</vt:lpstr>
      <vt:lpstr>4. CUMPLIMIENTO DEL CÓDIGO.</vt:lpstr>
      <vt:lpstr>Código de Ética IFIP 2020</vt:lpstr>
      <vt:lpstr>Comparación Código de Ética IFIP y ACM</vt:lpstr>
      <vt:lpstr>GDPR</vt:lpstr>
      <vt:lpstr>Principios Clave GDPR</vt:lpstr>
      <vt:lpstr>Principios Clave GDPR</vt:lpstr>
      <vt:lpstr>Principios Clave GDPR</vt:lpstr>
      <vt:lpstr>Legislacion de Privacidad GDPR</vt:lpstr>
      <vt:lpstr>Legislacion de Privacidad GDPR</vt:lpstr>
      <vt:lpstr>Software para Compliance de GDPR</vt:lpstr>
      <vt:lpstr>Software para Compliance de GDPR</vt:lpstr>
      <vt:lpstr>Software para Compliance de GDPR</vt:lpstr>
      <vt:lpstr>Relación código de ACM con GDPR</vt:lpstr>
      <vt:lpstr>Relación código de ACM con GDPR</vt:lpstr>
      <vt:lpstr>Usando el Código de Ética. Caso de estudio 1</vt:lpstr>
      <vt:lpstr>Caso  de Estudio 2</vt:lpstr>
      <vt:lpstr>Caso de Estudio 3</vt:lpstr>
      <vt:lpstr>Caso de Estudio 4</vt:lpstr>
      <vt:lpstr>Caso de Estudio 5</vt:lpstr>
      <vt:lpstr>Caso de Estudio 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Codigo de Ética ACM</dc:title>
  <dc:creator>Javier Diaz</dc:creator>
  <cp:lastModifiedBy>Cespi2</cp:lastModifiedBy>
  <cp:revision>13</cp:revision>
  <dcterms:created xsi:type="dcterms:W3CDTF">2022-03-18T12:16:37Z</dcterms:created>
  <dcterms:modified xsi:type="dcterms:W3CDTF">2025-06-07T15:47:29Z</dcterms:modified>
</cp:coreProperties>
</file>