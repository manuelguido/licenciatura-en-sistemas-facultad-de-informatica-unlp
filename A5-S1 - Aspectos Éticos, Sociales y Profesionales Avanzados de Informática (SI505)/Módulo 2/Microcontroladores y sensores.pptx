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3"/>
  </p:notesMasterIdLst>
  <p:sldIdLst>
    <p:sldId id="256" r:id="rId2"/>
    <p:sldId id="263" r:id="rId3"/>
    <p:sldId id="270" r:id="rId4"/>
    <p:sldId id="281" r:id="rId5"/>
    <p:sldId id="268" r:id="rId6"/>
    <p:sldId id="272" r:id="rId7"/>
    <p:sldId id="273" r:id="rId8"/>
    <p:sldId id="274" r:id="rId9"/>
    <p:sldId id="275" r:id="rId10"/>
    <p:sldId id="276" r:id="rId11"/>
    <p:sldId id="278" r:id="rId12"/>
    <p:sldId id="269" r:id="rId13"/>
    <p:sldId id="282" r:id="rId14"/>
    <p:sldId id="261" r:id="rId15"/>
    <p:sldId id="271" r:id="rId16"/>
    <p:sldId id="286" r:id="rId17"/>
    <p:sldId id="285" r:id="rId18"/>
    <p:sldId id="284" r:id="rId19"/>
    <p:sldId id="288" r:id="rId20"/>
    <p:sldId id="262" r:id="rId21"/>
    <p:sldId id="287" r:id="rId2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715D3-67D0-4393-BF2E-67A4E84C2DA4}" v="294" dt="2020-08-02T21:59:27.620"/>
    <p1510:client id="{71A239F0-309A-406F-8DAA-B7D9B09FD21B}" v="767" dt="2020-08-02T21:36:33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623" autoAdjust="0"/>
  </p:normalViewPr>
  <p:slideViewPr>
    <p:cSldViewPr snapToGrid="0">
      <p:cViewPr varScale="1">
        <p:scale>
          <a:sx n="46" d="100"/>
          <a:sy n="46" d="100"/>
        </p:scale>
        <p:origin x="13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95571-22F1-435E-8E30-48A44986A88F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7B45-2A27-4320-9FE4-8F5563CFB46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218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sensor INA219 es un chip de Texas Instruments capaz de monitorizar el consumo de energía de un dispositivo. Lo hace midiendo la caída de tensión de una resistencia en derivación o resistencia shunt.</a:t>
            </a:r>
          </a:p>
          <a:p>
            <a:endParaRPr lang="es-ES" dirty="0"/>
          </a:p>
          <a:p>
            <a:r>
              <a:rPr lang="es-ES" dirty="0"/>
              <a:t>Este tipo de resistencias, son resistencias normales como las típicas que encontramos en cualquier kit de Arduino. La única características que las hace algo diferentes es su bajo valor óhmico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7B45-2A27-4320-9FE4-8F5563CFB46C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995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C0904-2080-5DD8-CA15-60E4A4F7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1FCE0D-1229-2894-E71A-41853E136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561340-206A-BC42-F630-0902FA4A4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4C5662-3650-9E66-5469-0CEF30185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7B45-2A27-4320-9FE4-8F5563CFB46C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9541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136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3316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613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0072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1275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8682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194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690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075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040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3407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63483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0425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7133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5397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631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DCAF4-8E8B-48E1-ADF9-05606A4438AA}" type="datetimeFigureOut">
              <a:rPr lang="es-AR" smtClean="0"/>
              <a:t>29/4/2025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0C95472-90CE-4D68-8BB5-842CB3653BB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020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9333" y="4812454"/>
            <a:ext cx="10715414" cy="1646302"/>
          </a:xfrm>
        </p:spPr>
        <p:txBody>
          <a:bodyPr/>
          <a:lstStyle/>
          <a:p>
            <a:pPr algn="ctr"/>
            <a:r>
              <a:rPr lang="es-ES" dirty="0"/>
              <a:t>Aspectos Éticos, Sociales y</a:t>
            </a:r>
            <a:br>
              <a:rPr lang="es-ES" dirty="0"/>
            </a:br>
            <a:r>
              <a:rPr lang="es-ES" dirty="0"/>
              <a:t>Profesionales Avanzados en</a:t>
            </a:r>
            <a:br>
              <a:rPr lang="es-ES" dirty="0"/>
            </a:br>
            <a:r>
              <a:rPr lang="es-ES" dirty="0"/>
              <a:t>Informática</a:t>
            </a:r>
            <a:br>
              <a:rPr lang="es-ES" dirty="0"/>
            </a:br>
            <a:r>
              <a:rPr lang="es-ES" dirty="0"/>
              <a:t>Modulo 2: Eficiencia Energética sobre</a:t>
            </a:r>
            <a:br>
              <a:rPr lang="es-ES" dirty="0"/>
            </a:br>
            <a:r>
              <a:rPr lang="es-ES" dirty="0"/>
              <a:t>diferentes plataformas</a:t>
            </a:r>
            <a:br>
              <a:rPr lang="es-AR" dirty="0"/>
            </a:br>
            <a:endParaRPr lang="es-A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46ADF3A-EE00-47F5-A75A-557EE13E7F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912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Microcontroladores</a:t>
            </a:r>
            <a:br>
              <a:rPr lang="es-AR" dirty="0"/>
            </a:br>
            <a:r>
              <a:rPr lang="es-AR" dirty="0"/>
              <a:t>Definición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2105998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s-AR" sz="2800" dirty="0"/>
              <a:t>Un microcontrolador es básicamente un microprocesador especializado en el control de dispositivos o equipos electrónicos.</a:t>
            </a:r>
          </a:p>
          <a:p>
            <a:pPr algn="just"/>
            <a:r>
              <a:rPr lang="es-AR" sz="2800" dirty="0"/>
              <a:t>Integra memoria de datos y programa, con módulos de hardware que le permiten </a:t>
            </a:r>
            <a:r>
              <a:rPr lang="es-AR" sz="2800" dirty="0" err="1"/>
              <a:t>sensar</a:t>
            </a:r>
            <a:r>
              <a:rPr lang="es-AR" sz="2800" dirty="0"/>
              <a:t> datos del ambiente, controlar acciones y comunicarse con otros dispositivos.</a:t>
            </a:r>
          </a:p>
        </p:txBody>
      </p:sp>
    </p:spTree>
    <p:extLst>
      <p:ext uri="{BB962C8B-B14F-4D97-AF65-F5344CB8AC3E}">
        <p14:creationId xmlns:p14="http://schemas.microsoft.com/office/powerpoint/2010/main" val="176386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Microcontroladores</a:t>
            </a:r>
            <a:br>
              <a:rPr lang="es-AR" dirty="0"/>
            </a:br>
            <a:r>
              <a:rPr lang="es-AR" dirty="0"/>
              <a:t>Definición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916" y="1807570"/>
            <a:ext cx="7792871" cy="48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8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306F6E-60B2-4DE1-836F-CB084D52A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Arquitectura Harvard</a:t>
            </a:r>
          </a:p>
          <a:p>
            <a:r>
              <a:rPr lang="es-AR" dirty="0"/>
              <a:t>Memoria de programa reducida</a:t>
            </a:r>
          </a:p>
          <a:p>
            <a:r>
              <a:rPr lang="es-AR" dirty="0"/>
              <a:t>Memoria de datos reducida</a:t>
            </a:r>
          </a:p>
          <a:p>
            <a:r>
              <a:rPr lang="es-AR" dirty="0"/>
              <a:t>Integraciones</a:t>
            </a:r>
          </a:p>
          <a:p>
            <a:pPr lvl="1"/>
            <a:r>
              <a:rPr lang="es-AR" dirty="0"/>
              <a:t>Temporizadores</a:t>
            </a:r>
          </a:p>
          <a:p>
            <a:pPr lvl="1"/>
            <a:r>
              <a:rPr lang="es-AR" dirty="0"/>
              <a:t>Conversores </a:t>
            </a:r>
          </a:p>
          <a:p>
            <a:pPr lvl="1"/>
            <a:r>
              <a:rPr lang="es-AR" dirty="0"/>
              <a:t>Dispositivos de comunicación</a:t>
            </a:r>
          </a:p>
          <a:p>
            <a:pPr lvl="1"/>
            <a:r>
              <a:rPr lang="es-AR" dirty="0"/>
              <a:t>Control PWM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5C6170E-CF63-484A-BBCB-A0B70E83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s-AR" dirty="0"/>
              <a:t>Microcontroladores</a:t>
            </a:r>
            <a:br>
              <a:rPr lang="es-AR" dirty="0"/>
            </a:br>
            <a:r>
              <a:rPr lang="es-AR" dirty="0"/>
              <a:t>Arquitectura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F39CB51-B341-4B8A-9B09-F51B7459A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319" y="1759793"/>
            <a:ext cx="5494655" cy="494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70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Microcontroladores</a:t>
            </a:r>
            <a:br>
              <a:rPr lang="es-AR" dirty="0"/>
            </a:br>
            <a:r>
              <a:rPr lang="es-AR" dirty="0"/>
              <a:t>Evolución</a:t>
            </a:r>
          </a:p>
        </p:txBody>
      </p:sp>
      <p:sp>
        <p:nvSpPr>
          <p:cNvPr id="5" name="AutoShape 6" descr="Atmel Vector Logo - Download Free SVG Icon | Worldvector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34" name="Picture 10" descr="What's The Deal With Atmel And Microchip? | Hackad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102" y="5118619"/>
            <a:ext cx="3351900" cy="1047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exas Instruments Distribuidor | Socio autorizado | Arrow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491" y="5328455"/>
            <a:ext cx="2773243" cy="1386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rchivo:Freescale.svg - Wikipedia, la enciclopedia lib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161" y="3127913"/>
            <a:ext cx="2733741" cy="86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rchivo:NXP Semiconductors Logo.svg - Wikipedia, la enciclopedia libr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267" y="4178029"/>
            <a:ext cx="1471856" cy="52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rm Holdings, Arquitectura Arm, Logotipo imagen png - imagen ...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185" y="4803629"/>
            <a:ext cx="1771820" cy="62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arcador de contenido 2"/>
          <p:cNvSpPr txBox="1">
            <a:spLocks/>
          </p:cNvSpPr>
          <p:nvPr/>
        </p:nvSpPr>
        <p:spPr>
          <a:xfrm>
            <a:off x="614364" y="1941955"/>
            <a:ext cx="8596668" cy="27027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AR" sz="2800" dirty="0" err="1"/>
              <a:t>PICs</a:t>
            </a:r>
            <a:r>
              <a:rPr lang="es-AR" sz="2800" dirty="0"/>
              <a:t> dedicados</a:t>
            </a:r>
          </a:p>
          <a:p>
            <a:pPr algn="just"/>
            <a:r>
              <a:rPr lang="es-AR" sz="2800" dirty="0"/>
              <a:t>Lenguaje </a:t>
            </a:r>
            <a:r>
              <a:rPr lang="es-AR" sz="2800" dirty="0" err="1"/>
              <a:t>Assembler</a:t>
            </a:r>
            <a:r>
              <a:rPr lang="es-AR" sz="2800" dirty="0"/>
              <a:t> y Lenguaje C (</a:t>
            </a:r>
            <a:r>
              <a:rPr lang="es-AR" sz="2800" dirty="0" err="1"/>
              <a:t>Bare</a:t>
            </a:r>
            <a:r>
              <a:rPr lang="es-AR" sz="2800" dirty="0"/>
              <a:t>-Metal)</a:t>
            </a:r>
          </a:p>
          <a:p>
            <a:pPr algn="just"/>
            <a:r>
              <a:rPr lang="es-AR" sz="2800" dirty="0"/>
              <a:t>Entornos de programación propietarios</a:t>
            </a:r>
          </a:p>
          <a:p>
            <a:pPr algn="just"/>
            <a:r>
              <a:rPr lang="es-AR" sz="2800" dirty="0"/>
              <a:t>Plataformas de Desarrollo</a:t>
            </a:r>
          </a:p>
          <a:p>
            <a:pPr algn="just"/>
            <a:r>
              <a:rPr lang="es-AR" sz="2800" dirty="0"/>
              <a:t>Sistemas Operativos Embebidos</a:t>
            </a:r>
          </a:p>
          <a:p>
            <a:pPr algn="just"/>
            <a:r>
              <a:rPr lang="es-AR" sz="2800" dirty="0" err="1"/>
              <a:t>Debbuging</a:t>
            </a:r>
            <a:endParaRPr lang="es-AR" sz="2800" dirty="0"/>
          </a:p>
          <a:p>
            <a:pPr algn="just"/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566108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Placas de desarrollo populares</a:t>
            </a:r>
            <a:br>
              <a:rPr lang="es-AR" dirty="0"/>
            </a:br>
            <a:r>
              <a:rPr lang="es-AR" dirty="0"/>
              <a:t>Familia Arduino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2400" dirty="0"/>
              <a:t>Plataforma de Código Abierto</a:t>
            </a:r>
          </a:p>
          <a:p>
            <a:pPr lvl="1"/>
            <a:r>
              <a:rPr lang="es-AR" sz="2000" dirty="0"/>
              <a:t>Hardware y Software</a:t>
            </a:r>
          </a:p>
          <a:p>
            <a:r>
              <a:rPr lang="es-AR" sz="2400" dirty="0"/>
              <a:t>Objetos y entornos interactivos</a:t>
            </a:r>
          </a:p>
          <a:p>
            <a:r>
              <a:rPr lang="es-AR" sz="2400" dirty="0"/>
              <a:t>Gran Comunidad de Desarrollo</a:t>
            </a:r>
          </a:p>
          <a:p>
            <a:r>
              <a:rPr lang="es-AR" sz="2400" dirty="0"/>
              <a:t>Prototipos</a:t>
            </a:r>
          </a:p>
        </p:txBody>
      </p:sp>
      <p:pic>
        <p:nvPicPr>
          <p:cNvPr id="4102" name="Picture 6" descr="Arduino - Community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023" y="2369214"/>
            <a:ext cx="4088879" cy="173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rduino logo | Sticker | Arduino programación, Tutoriales, Ardui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48" y="4309600"/>
            <a:ext cx="2246431" cy="215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709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Arduino</a:t>
            </a:r>
            <a:r>
              <a:rPr lang="es-AR" dirty="0"/>
              <a:t> UNO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1974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s-AR" b="1" dirty="0"/>
              <a:t>Microcontrolador:</a:t>
            </a:r>
            <a:r>
              <a:rPr lang="es-AR" dirty="0"/>
              <a:t> </a:t>
            </a:r>
            <a:r>
              <a:rPr lang="es-AR" i="1" dirty="0"/>
              <a:t>ATmega328</a:t>
            </a:r>
            <a:endParaRPr lang="es-AR" dirty="0"/>
          </a:p>
          <a:p>
            <a:pPr algn="just"/>
            <a:r>
              <a:rPr lang="es-AR" b="1" dirty="0"/>
              <a:t>Voltaje Operativo:</a:t>
            </a:r>
            <a:r>
              <a:rPr lang="es-AR" dirty="0"/>
              <a:t> </a:t>
            </a:r>
            <a:r>
              <a:rPr lang="es-AR" i="1" dirty="0"/>
              <a:t>5v</a:t>
            </a:r>
            <a:endParaRPr lang="es-AR" dirty="0"/>
          </a:p>
          <a:p>
            <a:pPr algn="just"/>
            <a:r>
              <a:rPr lang="es-AR" b="1" dirty="0"/>
              <a:t>Voltaje de Entrada (Recomendado):</a:t>
            </a:r>
            <a:r>
              <a:rPr lang="es-AR" dirty="0"/>
              <a:t> </a:t>
            </a:r>
            <a:r>
              <a:rPr lang="es-AR" i="1" dirty="0"/>
              <a:t>7 – 12 v</a:t>
            </a:r>
            <a:endParaRPr lang="es-AR" dirty="0"/>
          </a:p>
          <a:p>
            <a:pPr algn="just"/>
            <a:r>
              <a:rPr lang="es-AR" b="1" dirty="0"/>
              <a:t>Pines de Entradas/Salidas Digital:</a:t>
            </a:r>
            <a:r>
              <a:rPr lang="es-AR" dirty="0"/>
              <a:t> </a:t>
            </a:r>
            <a:r>
              <a:rPr lang="es-AR" i="1" dirty="0"/>
              <a:t>14 (De las cuales 6 son salidas PWM)</a:t>
            </a:r>
            <a:endParaRPr lang="es-AR" dirty="0"/>
          </a:p>
          <a:p>
            <a:pPr algn="just"/>
            <a:r>
              <a:rPr lang="es-AR" b="1" dirty="0"/>
              <a:t>Pines de Entradas Análogas:</a:t>
            </a:r>
            <a:r>
              <a:rPr lang="es-AR" dirty="0"/>
              <a:t> </a:t>
            </a:r>
            <a:r>
              <a:rPr lang="es-AR" i="1" dirty="0"/>
              <a:t>6</a:t>
            </a:r>
            <a:endParaRPr lang="es-AR" dirty="0"/>
          </a:p>
          <a:p>
            <a:pPr algn="just"/>
            <a:r>
              <a:rPr lang="es-AR" b="1" dirty="0"/>
              <a:t>Memoria Flash:</a:t>
            </a:r>
            <a:r>
              <a:rPr lang="es-AR" dirty="0"/>
              <a:t> </a:t>
            </a:r>
            <a:r>
              <a:rPr lang="es-AR" i="1" dirty="0"/>
              <a:t>32 KB (ATmega328) de los cuales 0,5 KB es usado por </a:t>
            </a:r>
            <a:r>
              <a:rPr lang="es-AR" i="1" dirty="0" err="1"/>
              <a:t>Bootloader</a:t>
            </a:r>
            <a:r>
              <a:rPr lang="es-AR" i="1" dirty="0"/>
              <a:t>.</a:t>
            </a:r>
            <a:endParaRPr lang="es-AR" dirty="0"/>
          </a:p>
          <a:p>
            <a:pPr algn="just"/>
            <a:r>
              <a:rPr lang="es-AR" b="1" dirty="0"/>
              <a:t>SRAM:</a:t>
            </a:r>
            <a:r>
              <a:rPr lang="es-AR" dirty="0"/>
              <a:t> </a:t>
            </a:r>
            <a:r>
              <a:rPr lang="es-AR" i="1" dirty="0"/>
              <a:t>2 KB (ATmega328)</a:t>
            </a:r>
            <a:endParaRPr lang="es-AR" dirty="0"/>
          </a:p>
          <a:p>
            <a:pPr algn="just"/>
            <a:r>
              <a:rPr lang="es-AR" b="1" dirty="0"/>
              <a:t>EEPROM:</a:t>
            </a:r>
            <a:r>
              <a:rPr lang="es-AR" dirty="0"/>
              <a:t> </a:t>
            </a:r>
            <a:r>
              <a:rPr lang="es-AR" i="1" dirty="0"/>
              <a:t>1 KB (ATmega328)</a:t>
            </a:r>
            <a:endParaRPr lang="es-AR" dirty="0"/>
          </a:p>
          <a:p>
            <a:pPr algn="just"/>
            <a:r>
              <a:rPr lang="es-AR" b="1" dirty="0"/>
              <a:t>Velocidad del Reloj:</a:t>
            </a:r>
            <a:r>
              <a:rPr lang="es-AR" dirty="0"/>
              <a:t> </a:t>
            </a:r>
            <a:r>
              <a:rPr lang="es-AR" i="1" dirty="0"/>
              <a:t>16 MHZ.</a:t>
            </a:r>
            <a:endParaRPr lang="es-AR" dirty="0"/>
          </a:p>
          <a:p>
            <a:pPr marL="0" indent="0" algn="just">
              <a:buNone/>
            </a:pPr>
            <a:endParaRPr lang="es-AR" dirty="0"/>
          </a:p>
          <a:p>
            <a:endParaRPr lang="es-AR" dirty="0"/>
          </a:p>
        </p:txBody>
      </p:sp>
      <p:pic>
        <p:nvPicPr>
          <p:cNvPr id="7172" name="Picture 4" descr="Arduino Un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544" y="225083"/>
            <a:ext cx="3193366" cy="319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13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Familia </a:t>
            </a:r>
            <a:r>
              <a:rPr lang="es-AR" dirty="0" err="1"/>
              <a:t>Arduino</a:t>
            </a:r>
            <a:endParaRPr lang="es-AR" dirty="0"/>
          </a:p>
        </p:txBody>
      </p:sp>
      <p:pic>
        <p:nvPicPr>
          <p:cNvPr id="8194" name="Picture 2" descr="Arduino Mega 2560 Rev.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128542"/>
            <a:ext cx="3429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laca Nano compatible Arduino V3.0 ATmega328 5V 16Mhz » IBEROBOT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1557997"/>
            <a:ext cx="2362542" cy="236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rduino LilyPad 328 / 8 MHz Arduino DEV-13342 | BricoGeek.co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89" y="1557997"/>
            <a:ext cx="2264898" cy="226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Arduino Yún, una placa para adentrarte en el Internet del Cosas de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71" y="4557543"/>
            <a:ext cx="3657763" cy="189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ARDUINO DUE – App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119" y="3990756"/>
            <a:ext cx="3559524" cy="275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ARDUINO ESPLORA - A000095 (&quot;A000095&quot;, &quot;A000095&quot;,&quot;ARD-0066&quot;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849" y="3990756"/>
            <a:ext cx="3441838" cy="258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84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Shields</a:t>
            </a:r>
            <a:r>
              <a:rPr lang="es-AR" dirty="0"/>
              <a:t> </a:t>
            </a:r>
            <a:r>
              <a:rPr lang="es-AR" dirty="0" err="1"/>
              <a:t>Arduino</a:t>
            </a:r>
            <a:r>
              <a:rPr lang="es-AR" dirty="0"/>
              <a:t> </a:t>
            </a:r>
          </a:p>
        </p:txBody>
      </p:sp>
      <p:pic>
        <p:nvPicPr>
          <p:cNvPr id="9220" name="Picture 4" descr="Shield de Ethernet R3 (Ethernet shield R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45" y="1567171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ARDUINO SHIELD WIFI UNO R3 ESP8266 ESP-12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39" y="1427198"/>
            <a:ext cx="3157774" cy="31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Amazon.com: 3 g Gps/GPRS/GSM Shield para Arduino con – American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431" y="710439"/>
            <a:ext cx="1857823" cy="330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ARDUINO RELE SHIELD V2.0 - SLD01101P (&quot;SLD01101P&quot;, &quot;POW113B1P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139680"/>
            <a:ext cx="3461745" cy="259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Arduino shield lcd 16x2 Backlight Azul + Botonera 10%off - $ 357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596" y="4139680"/>
            <a:ext cx="3447434" cy="265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40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IDE y Librerías</a:t>
            </a:r>
          </a:p>
        </p:txBody>
      </p:sp>
      <p:pic>
        <p:nvPicPr>
          <p:cNvPr id="11266" name="Picture 2" descr="Instalación del IDE Arduino | Aprendiendo Ardui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853" y="1662183"/>
            <a:ext cx="3950699" cy="482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322492" y="1941204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s-AR" sz="2800" b="1" dirty="0" err="1"/>
              <a:t>Setup</a:t>
            </a:r>
            <a:endParaRPr lang="es-AR" sz="2800" b="1" dirty="0"/>
          </a:p>
          <a:p>
            <a:pPr lvl="1" algn="just"/>
            <a:r>
              <a:rPr lang="es-AR" sz="2400" b="1" dirty="0"/>
              <a:t>Se ejecuta una sola vez</a:t>
            </a:r>
          </a:p>
          <a:p>
            <a:pPr lvl="1" algn="just"/>
            <a:r>
              <a:rPr lang="es-AR" sz="2400" b="1" dirty="0"/>
              <a:t>Configuraciones</a:t>
            </a:r>
          </a:p>
          <a:p>
            <a:pPr algn="just"/>
            <a:r>
              <a:rPr lang="es-AR" sz="2800" b="1" dirty="0" err="1"/>
              <a:t>Loop</a:t>
            </a:r>
            <a:endParaRPr lang="es-AR" sz="2800" b="1" dirty="0"/>
          </a:p>
          <a:p>
            <a:pPr lvl="1" algn="just"/>
            <a:r>
              <a:rPr lang="es-AR" sz="2400" b="1" dirty="0"/>
              <a:t>Iteración Infinita</a:t>
            </a:r>
          </a:p>
          <a:p>
            <a:pPr lvl="1" algn="just"/>
            <a:r>
              <a:rPr lang="es-AR" sz="2400" b="1" dirty="0"/>
              <a:t>Lógica de funcionamiento secuencial</a:t>
            </a:r>
            <a:endParaRPr lang="es-AR" sz="2400" dirty="0"/>
          </a:p>
          <a:p>
            <a:pPr marL="0" indent="0" algn="just">
              <a:buNone/>
            </a:pPr>
            <a:endParaRPr lang="es-AR" sz="2800" dirty="0"/>
          </a:p>
          <a:p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8725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Placas de desarrollo</a:t>
            </a:r>
            <a:br>
              <a:rPr lang="es-AR" dirty="0"/>
            </a:br>
            <a:r>
              <a:rPr lang="es-AR" dirty="0" err="1"/>
              <a:t>NodeMCU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2000" dirty="0"/>
              <a:t>Plataforma de Desarrollo orientada a </a:t>
            </a:r>
          </a:p>
          <a:p>
            <a:pPr marL="0" indent="0">
              <a:buNone/>
            </a:pPr>
            <a:r>
              <a:rPr lang="es-AR" sz="2000" dirty="0"/>
              <a:t>Internet de las Cosas (</a:t>
            </a:r>
            <a:r>
              <a:rPr lang="es-AR" sz="2000" dirty="0" err="1"/>
              <a:t>IoT</a:t>
            </a:r>
            <a:r>
              <a:rPr lang="es-AR" sz="2000" dirty="0"/>
              <a:t>)</a:t>
            </a:r>
          </a:p>
          <a:p>
            <a:r>
              <a:rPr lang="es-AR" sz="2000" dirty="0"/>
              <a:t>Firmware y Hardware de código abierto</a:t>
            </a:r>
          </a:p>
          <a:p>
            <a:r>
              <a:rPr lang="es-AR" sz="2000" dirty="0"/>
              <a:t>Basada en Microcontroladores de </a:t>
            </a:r>
            <a:r>
              <a:rPr lang="es-AR" sz="2000" dirty="0" err="1"/>
              <a:t>Espressif</a:t>
            </a:r>
            <a:endParaRPr lang="es-AR" sz="2000" dirty="0"/>
          </a:p>
          <a:p>
            <a:r>
              <a:rPr lang="es-AR" sz="2000" dirty="0"/>
              <a:t>Lenguaje script </a:t>
            </a:r>
            <a:r>
              <a:rPr lang="es-AR" sz="2000" dirty="0" err="1"/>
              <a:t>Lua</a:t>
            </a:r>
            <a:endParaRPr lang="es-AR" sz="2000" dirty="0"/>
          </a:p>
          <a:p>
            <a:r>
              <a:rPr lang="es-AR" sz="2000" dirty="0"/>
              <a:t>Portabilidad a otros lenguajes</a:t>
            </a:r>
          </a:p>
          <a:p>
            <a:pPr lvl="1"/>
            <a:r>
              <a:rPr lang="es-AR" sz="1800" dirty="0"/>
              <a:t>Lenguaje C</a:t>
            </a:r>
          </a:p>
          <a:p>
            <a:pPr lvl="1"/>
            <a:r>
              <a:rPr lang="es-AR" sz="1800" dirty="0"/>
              <a:t>IDE Arduino</a:t>
            </a:r>
          </a:p>
          <a:p>
            <a:pPr lvl="1"/>
            <a:r>
              <a:rPr lang="es-AR" sz="1800" dirty="0" err="1"/>
              <a:t>MicroPython</a:t>
            </a:r>
            <a:endParaRPr lang="es-AR" sz="1800" dirty="0"/>
          </a:p>
          <a:p>
            <a:pPr lvl="1"/>
            <a:endParaRPr lang="es-AR" sz="1800" dirty="0"/>
          </a:p>
          <a:p>
            <a:pPr marL="0" indent="0">
              <a:buNone/>
            </a:pPr>
            <a:endParaRPr lang="es-AR" sz="2000" dirty="0"/>
          </a:p>
          <a:p>
            <a:endParaRPr lang="es-AR" sz="2000" dirty="0"/>
          </a:p>
          <a:p>
            <a:endParaRPr lang="es-AR" sz="2000" dirty="0"/>
          </a:p>
          <a:p>
            <a:endParaRPr lang="es-AR" sz="2000" dirty="0"/>
          </a:p>
          <a:p>
            <a:endParaRPr lang="es-AR" sz="2000" dirty="0"/>
          </a:p>
        </p:txBody>
      </p:sp>
      <p:pic>
        <p:nvPicPr>
          <p:cNvPr id="12296" name="Picture 8" descr="Nodemcu Esp32 Wifi +bluetooth 4.2 - Delta Iot - $ 858,00 e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680" y="1930400"/>
            <a:ext cx="4848570" cy="349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NodeMCU microcontroller board with ESP8266 and Lua - Elek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035" y="129811"/>
            <a:ext cx="4507860" cy="289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0" descr="Espressif Systems - Wi-Fi and Bluetooth chipsets and soluti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2302" name="Picture 14" descr="https://www.luisllamas.es/wp-content/uploads/2018/06/esp8266-lu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389" y="5204749"/>
            <a:ext cx="1673225" cy="167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094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Heltec</a:t>
            </a:r>
            <a:r>
              <a:rPr lang="es-ES" dirty="0"/>
              <a:t> </a:t>
            </a:r>
            <a:r>
              <a:rPr lang="es-ES" dirty="0" err="1"/>
              <a:t>WiFi</a:t>
            </a:r>
            <a:r>
              <a:rPr lang="es-ES" dirty="0"/>
              <a:t> </a:t>
            </a:r>
            <a:r>
              <a:rPr lang="es-ES" dirty="0" err="1"/>
              <a:t>LoRa</a:t>
            </a:r>
            <a:r>
              <a:rPr lang="es-ES" dirty="0"/>
              <a:t> 32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2160589"/>
            <a:ext cx="9223904" cy="4440236"/>
          </a:xfrm>
        </p:spPr>
        <p:txBody>
          <a:bodyPr>
            <a:normAutofit lnSpcReduction="10000"/>
          </a:bodyPr>
          <a:lstStyle/>
          <a:p>
            <a:r>
              <a:rPr lang="es-AR" sz="2000" dirty="0"/>
              <a:t>Esta placa incluye dos chips principales, el ESP32 y el transceptor </a:t>
            </a:r>
          </a:p>
          <a:p>
            <a:pPr marL="0" indent="0">
              <a:buNone/>
            </a:pPr>
            <a:r>
              <a:rPr lang="es-AR" sz="2000" dirty="0" err="1"/>
              <a:t>LoRa</a:t>
            </a:r>
            <a:r>
              <a:rPr lang="es-AR" sz="2000" dirty="0"/>
              <a:t> SX1278 (con conector I-PEX, para antena externa).</a:t>
            </a:r>
          </a:p>
          <a:p>
            <a:r>
              <a:rPr lang="es-AR" sz="2000" dirty="0"/>
              <a:t>EL chip ESP32 es una solución integrada de </a:t>
            </a:r>
            <a:r>
              <a:rPr lang="es-AR" sz="2000" dirty="0" err="1"/>
              <a:t>WiFi</a:t>
            </a:r>
            <a:r>
              <a:rPr lang="es-AR" sz="2000" dirty="0"/>
              <a:t>-Bluetooth</a:t>
            </a:r>
          </a:p>
          <a:p>
            <a:pPr marL="0" indent="0">
              <a:buNone/>
            </a:pPr>
            <a:r>
              <a:rPr lang="es-AR" sz="2000" dirty="0"/>
              <a:t> con radiofrecuencia de 2.4GHz</a:t>
            </a:r>
          </a:p>
          <a:p>
            <a:pPr lvl="1"/>
            <a:r>
              <a:rPr lang="es-AR" sz="1800" dirty="0"/>
              <a:t>34 </a:t>
            </a:r>
            <a:r>
              <a:rPr lang="es-AR" sz="1800" dirty="0" err="1"/>
              <a:t>GPIOs</a:t>
            </a:r>
            <a:r>
              <a:rPr lang="es-AR" sz="1800" dirty="0"/>
              <a:t> programables</a:t>
            </a:r>
          </a:p>
          <a:p>
            <a:pPr lvl="1"/>
            <a:r>
              <a:rPr lang="es-AR" sz="1800" dirty="0"/>
              <a:t>1 SAR ADC de 12bit, 2 DAC de 8 bit</a:t>
            </a:r>
          </a:p>
          <a:p>
            <a:pPr lvl="1"/>
            <a:r>
              <a:rPr lang="es-AR" sz="1800" dirty="0"/>
              <a:t>Interfaces: 4 SPI, 2 I2S, 2 I2C  </a:t>
            </a:r>
          </a:p>
          <a:p>
            <a:pPr lvl="1"/>
            <a:r>
              <a:rPr lang="es-AR" sz="1800" dirty="0"/>
              <a:t>PWM</a:t>
            </a:r>
          </a:p>
          <a:p>
            <a:pPr lvl="1"/>
            <a:r>
              <a:rPr lang="es-AR" sz="1800" dirty="0"/>
              <a:t>Protocolo 802.11 b/g/n</a:t>
            </a:r>
          </a:p>
          <a:p>
            <a:r>
              <a:rPr lang="es-AR" sz="2000" dirty="0"/>
              <a:t>EL SX1278 es un chip transceptor de radio frecuencia </a:t>
            </a:r>
            <a:r>
              <a:rPr lang="es-AR" sz="2000" dirty="0" err="1"/>
              <a:t>LoRa</a:t>
            </a:r>
            <a:endParaRPr lang="es-AR" sz="2000" dirty="0"/>
          </a:p>
          <a:p>
            <a:pPr lvl="1"/>
            <a:r>
              <a:rPr lang="es-ES" sz="1800" dirty="0"/>
              <a:t>Hay dos modelos, el de 433MHz y el 868/915MHz</a:t>
            </a:r>
            <a:endParaRPr lang="es-AR" sz="1800" dirty="0"/>
          </a:p>
          <a:p>
            <a:endParaRPr lang="es-ES" dirty="0"/>
          </a:p>
        </p:txBody>
      </p:sp>
      <p:pic>
        <p:nvPicPr>
          <p:cNvPr id="5" name="Imagen 4" descr="C:\Users\santiago\Desktop\Facultad\Articulos en Desarrollo\Despliegue de un Red de Sensores Hibrida\lora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7" b="8059"/>
          <a:stretch/>
        </p:blipFill>
        <p:spPr bwMode="auto">
          <a:xfrm>
            <a:off x="8261349" y="2778415"/>
            <a:ext cx="3802063" cy="29699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2739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Single </a:t>
            </a:r>
            <a:r>
              <a:rPr lang="es-ES" dirty="0" err="1"/>
              <a:t>Boards</a:t>
            </a:r>
            <a:r>
              <a:rPr lang="es-ES" dirty="0"/>
              <a:t> </a:t>
            </a:r>
            <a:r>
              <a:rPr lang="es-ES" dirty="0" err="1"/>
              <a:t>Computers</a:t>
            </a:r>
            <a:r>
              <a:rPr lang="es-ES" dirty="0"/>
              <a:t> (SBC)</a:t>
            </a:r>
            <a:br>
              <a:rPr lang="es-ES" dirty="0"/>
            </a:br>
            <a:r>
              <a:rPr lang="es-ES" dirty="0"/>
              <a:t>Raspberry Pi 3 </a:t>
            </a:r>
            <a:r>
              <a:rPr lang="es-ES" dirty="0" err="1"/>
              <a:t>Model</a:t>
            </a:r>
            <a:r>
              <a:rPr lang="es-ES" dirty="0"/>
              <a:t> B+</a:t>
            </a:r>
            <a:endParaRPr lang="es-AR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F0616D0-B8CA-4754-976D-626567F39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984" y="3207628"/>
            <a:ext cx="3936507" cy="2346158"/>
          </a:xfr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93A2DC8-43BE-4645-BA70-FFD7DB98F2F2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9223904" cy="4440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dirty="0"/>
              <a:t>Computadora de bajo coste</a:t>
            </a:r>
          </a:p>
          <a:p>
            <a:r>
              <a:rPr lang="es-AR" sz="2000" dirty="0"/>
              <a:t>Se le puede conectar Monitor(HDMI) y periféricos (USB)</a:t>
            </a:r>
          </a:p>
          <a:p>
            <a:r>
              <a:rPr lang="es-AR" sz="2000" dirty="0"/>
              <a:t>Sistema Operativo (slot Micro-SD)</a:t>
            </a:r>
          </a:p>
          <a:p>
            <a:r>
              <a:rPr lang="es-AR" sz="2000" dirty="0" err="1"/>
              <a:t>Caracteristicas</a:t>
            </a:r>
            <a:r>
              <a:rPr lang="es-AR" sz="2000" dirty="0"/>
              <a:t>:</a:t>
            </a:r>
          </a:p>
          <a:p>
            <a:pPr lvl="1"/>
            <a:r>
              <a:rPr lang="es-AR" sz="1800" dirty="0"/>
              <a:t>CPU + GPU: Broadcom BCM2837B0, Cortex-A53 (ARMv8) </a:t>
            </a:r>
          </a:p>
          <a:p>
            <a:pPr marL="457200" lvl="1" indent="0">
              <a:buNone/>
            </a:pPr>
            <a:r>
              <a:rPr lang="es-AR" sz="1800" dirty="0"/>
              <a:t>64-bit </a:t>
            </a:r>
            <a:r>
              <a:rPr lang="es-AR" sz="1800" dirty="0" err="1"/>
              <a:t>SoC</a:t>
            </a:r>
            <a:r>
              <a:rPr lang="es-AR" sz="1800" dirty="0"/>
              <a:t> @ 1.4GHz.1 SAR ADC de 12bit, 2 DAC de 8 bit</a:t>
            </a:r>
          </a:p>
          <a:p>
            <a:pPr lvl="1"/>
            <a:r>
              <a:rPr lang="es-AR" sz="1800" dirty="0"/>
              <a:t>RAM: 1GB LPDDR2 SDRAM. </a:t>
            </a:r>
          </a:p>
          <a:p>
            <a:pPr lvl="1"/>
            <a:r>
              <a:rPr lang="es-AR" sz="1800" dirty="0"/>
              <a:t>GPIO de 40 pines.</a:t>
            </a:r>
          </a:p>
          <a:p>
            <a:pPr lvl="1"/>
            <a:r>
              <a:rPr lang="es-AR" sz="1800" dirty="0"/>
              <a:t>Ethernet: Gigabit Ethernet sobre USB 2.0 (300 Mbps)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7401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8614" y="304800"/>
            <a:ext cx="10742506" cy="1320800"/>
          </a:xfrm>
        </p:spPr>
        <p:txBody>
          <a:bodyPr/>
          <a:lstStyle/>
          <a:p>
            <a:r>
              <a:rPr lang="es-AR" dirty="0"/>
              <a:t>Consumo Energético</a:t>
            </a:r>
            <a:br>
              <a:rPr lang="es-AR" dirty="0"/>
            </a:br>
            <a:r>
              <a:rPr lang="es-AR" dirty="0"/>
              <a:t>Microcontroladores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677334" y="1448717"/>
            <a:ext cx="8915400" cy="598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deben evaluar optimizaciones de consumo: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Modos </a:t>
            </a:r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Sleep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 modos bajo consumo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Reducción de frecuencia de </a:t>
            </a:r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clock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Desactivación de componentes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Variación de la intensidad de transmisión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Optimización de tamaño y periodicidad de paquetes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s-A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20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Sensor de corriente</a:t>
            </a:r>
            <a:br>
              <a:rPr lang="es-ES" dirty="0"/>
            </a:br>
            <a:r>
              <a:rPr lang="es-ES" dirty="0"/>
              <a:t>ACS 712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2160589"/>
            <a:ext cx="9223904" cy="4440236"/>
          </a:xfrm>
        </p:spPr>
        <p:txBody>
          <a:bodyPr>
            <a:normAutofit/>
          </a:bodyPr>
          <a:lstStyle/>
          <a:p>
            <a:r>
              <a:rPr lang="es-AR" sz="2000" dirty="0"/>
              <a:t>Sensor de efecto Hall para medir corriente eléctrica.</a:t>
            </a:r>
          </a:p>
          <a:p>
            <a:pPr lvl="1"/>
            <a:r>
              <a:rPr lang="es-ES" sz="1800" dirty="0"/>
              <a:t>El efecto Hall permite detectar el campo magnético generado por la corriente que pasa por el sensor.</a:t>
            </a:r>
            <a:endParaRPr lang="es-AR" sz="1800" dirty="0"/>
          </a:p>
          <a:p>
            <a:r>
              <a:rPr lang="es-ES" sz="2000" dirty="0"/>
              <a:t>5A, 20A y 30A (según el rango de corriente).</a:t>
            </a:r>
          </a:p>
          <a:p>
            <a:r>
              <a:rPr lang="es-ES" sz="2000" dirty="0"/>
              <a:t>Tensión de operación: 5V.</a:t>
            </a:r>
          </a:p>
          <a:p>
            <a:pPr marL="457200" lvl="1" indent="0">
              <a:buNone/>
            </a:pPr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AR" sz="1800" dirty="0"/>
          </a:p>
          <a:p>
            <a:endParaRPr lang="es-ES" dirty="0"/>
          </a:p>
        </p:txBody>
      </p:sp>
      <p:pic>
        <p:nvPicPr>
          <p:cNvPr id="1026" name="Picture 2" descr="ACS712 Current Sensor: Features, How it works, Arduino Guide - Latest News  from Seeed Studio">
            <a:extLst>
              <a:ext uri="{FF2B5EF4-FFF2-40B4-BE49-F238E27FC236}">
                <a16:creationId xmlns:a16="http://schemas.microsoft.com/office/drawing/2014/main" id="{215CBDFF-5B4D-47E6-14F3-EF77A6742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169" y="3341069"/>
            <a:ext cx="3881437" cy="290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805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ADAF-23FF-4937-9C15-991119CE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ensor de Corriente ACS712 – MCI Electronics">
            <a:extLst>
              <a:ext uri="{FF2B5EF4-FFF2-40B4-BE49-F238E27FC236}">
                <a16:creationId xmlns:a16="http://schemas.microsoft.com/office/drawing/2014/main" id="{AD485C9A-F7FF-C30E-A8FD-1470396C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3198281"/>
            <a:ext cx="7138987" cy="345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21271-D7CB-2726-618B-1115CAF0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Sensor de corriente</a:t>
            </a:r>
            <a:br>
              <a:rPr lang="es-ES" dirty="0"/>
            </a:br>
            <a:r>
              <a:rPr lang="es-ES" dirty="0"/>
              <a:t>ACS 712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8DCBAF-6E79-07A4-EE6E-3F6AC5204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1039"/>
            <a:ext cx="5418666" cy="4440236"/>
          </a:xfrm>
        </p:spPr>
        <p:txBody>
          <a:bodyPr>
            <a:normAutofit/>
          </a:bodyPr>
          <a:lstStyle/>
          <a:p>
            <a:r>
              <a:rPr lang="es-ES" sz="2000" dirty="0"/>
              <a:t>VCC del ACS712 a 5V de Arduino</a:t>
            </a:r>
          </a:p>
          <a:p>
            <a:r>
              <a:rPr lang="es-ES" sz="2000" dirty="0"/>
              <a:t>GND del ACS712 a GND de Arduino</a:t>
            </a:r>
          </a:p>
          <a:p>
            <a:r>
              <a:rPr lang="es-ES" sz="2000" dirty="0"/>
              <a:t>OUT del ACS712 a un pin analógico </a:t>
            </a:r>
          </a:p>
          <a:p>
            <a:r>
              <a:rPr lang="es-ES" sz="2000" dirty="0"/>
              <a:t>El circuito de carga (el que </a:t>
            </a:r>
            <a:r>
              <a:rPr lang="es-ES" sz="2000" dirty="0" err="1"/>
              <a:t>querés</a:t>
            </a:r>
            <a:r>
              <a:rPr lang="es-ES" sz="2000" dirty="0"/>
              <a:t> medir) se conecta a VIN y VOUT del módulo ACS712</a:t>
            </a:r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AR" sz="18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3572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190D-8069-1946-BF99-19115426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83A16-0979-F05F-BDC7-09013CF1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Sensor de corriente</a:t>
            </a:r>
            <a:br>
              <a:rPr lang="es-ES" dirty="0"/>
            </a:br>
            <a:r>
              <a:rPr lang="es-ES" dirty="0" err="1"/>
              <a:t>Adafruit</a:t>
            </a:r>
            <a:r>
              <a:rPr lang="es-ES" dirty="0"/>
              <a:t> INA219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1BDD2-9772-A0DA-55BD-3C2E8874E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223904" cy="4440236"/>
          </a:xfrm>
        </p:spPr>
        <p:txBody>
          <a:bodyPr>
            <a:normAutofit/>
          </a:bodyPr>
          <a:lstStyle/>
          <a:p>
            <a:r>
              <a:rPr lang="es-AR" sz="2000" dirty="0"/>
              <a:t>Es una placa sensor, que incluye el modulo Invasivo INA219</a:t>
            </a:r>
          </a:p>
          <a:p>
            <a:r>
              <a:rPr lang="es-ES" sz="2000" dirty="0"/>
              <a:t>Características</a:t>
            </a:r>
            <a:endParaRPr lang="es-AR" sz="2000" dirty="0"/>
          </a:p>
          <a:p>
            <a:pPr lvl="1"/>
            <a:r>
              <a:rPr lang="es-ES" sz="1800" dirty="0"/>
              <a:t>Rango de medición </a:t>
            </a:r>
            <a:r>
              <a:rPr lang="es-AR" sz="1800" dirty="0"/>
              <a:t>±3.2A </a:t>
            </a:r>
          </a:p>
          <a:p>
            <a:pPr lvl="1"/>
            <a:r>
              <a:rPr lang="es-ES" sz="1800" dirty="0"/>
              <a:t>ADC interno de 12bits</a:t>
            </a:r>
          </a:p>
          <a:p>
            <a:pPr lvl="1"/>
            <a:r>
              <a:rPr lang="es-ES" sz="1800" dirty="0"/>
              <a:t>Resolución 0.8mA</a:t>
            </a:r>
          </a:p>
          <a:p>
            <a:pPr lvl="1"/>
            <a:r>
              <a:rPr lang="es-ES" sz="1800" dirty="0"/>
              <a:t>Alimentación 5V o 3V</a:t>
            </a:r>
          </a:p>
          <a:p>
            <a:pPr lvl="1"/>
            <a:r>
              <a:rPr lang="es-ES" sz="1800" dirty="0"/>
              <a:t>Comunicación I2C</a:t>
            </a:r>
          </a:p>
          <a:p>
            <a:r>
              <a:rPr lang="es-ES" sz="2000" dirty="0"/>
              <a:t>https://github.com/adafruit/Adafruit_INA219</a:t>
            </a:r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AR" sz="1800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08878B-B361-12E5-C98E-F5C49A1B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511" y="3326746"/>
            <a:ext cx="4025254" cy="21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17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Sensor de corriente</a:t>
            </a:r>
            <a:br>
              <a:rPr lang="es-ES"/>
            </a:br>
            <a:r>
              <a:rPr lang="es-ES"/>
              <a:t>Adafruit INA219</a:t>
            </a:r>
            <a:endParaRPr lang="es-AR" dirty="0"/>
          </a:p>
        </p:txBody>
      </p:sp>
      <p:pic>
        <p:nvPicPr>
          <p:cNvPr id="1026" name="Picture 2" descr="ina219 principio de funcionamiento resistencia shunt">
            <a:extLst>
              <a:ext uri="{FF2B5EF4-FFF2-40B4-BE49-F238E27FC236}">
                <a16:creationId xmlns:a16="http://schemas.microsoft.com/office/drawing/2014/main" id="{5EBE967D-D5A7-E02D-7FD1-D1CBF627E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7" y="1930400"/>
            <a:ext cx="5836913" cy="4557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3708706-4C85-6549-21B2-D30F13358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059" y="1930400"/>
            <a:ext cx="4889580" cy="43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81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7130A-6EBA-7DE8-79A8-3ACC2DCA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A7714-18ED-685B-BC84-8F67AE5E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sensores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450740-069F-16B8-325C-45CBD36D0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1270000"/>
            <a:ext cx="3395663" cy="3395663"/>
          </a:xfrm>
          <a:prstGeom prst="rect">
            <a:avLst/>
          </a:prstGeom>
        </p:spPr>
      </p:pic>
      <p:pic>
        <p:nvPicPr>
          <p:cNvPr id="3074" name="Picture 2" descr="Sensor de corriente eléctrica no invasivo con Arduino y SCT-013">
            <a:extLst>
              <a:ext uri="{FF2B5EF4-FFF2-40B4-BE49-F238E27FC236}">
                <a16:creationId xmlns:a16="http://schemas.microsoft.com/office/drawing/2014/main" id="{A6ECD96A-7F74-997F-6A01-03A1323BB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101" y="1495315"/>
            <a:ext cx="4625802" cy="252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808B408-5DFE-170D-5632-BA12E355F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286" y="3018632"/>
            <a:ext cx="3452815" cy="3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56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 </a:t>
            </a:r>
            <a:endParaRPr lang="es-AR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87484CA-20A3-4D4A-93D5-1AB11DB1B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137" y="1598809"/>
            <a:ext cx="9223904" cy="4440236"/>
          </a:xfrm>
        </p:spPr>
        <p:txBody>
          <a:bodyPr>
            <a:normAutofit lnSpcReduction="10000"/>
          </a:bodyPr>
          <a:lstStyle/>
          <a:p>
            <a:endParaRPr lang="es-ES" sz="2000" dirty="0"/>
          </a:p>
          <a:p>
            <a:r>
              <a:rPr lang="es-ES" sz="2000" dirty="0"/>
              <a:t>Agregar la librería de </a:t>
            </a:r>
            <a:r>
              <a:rPr lang="es-ES" sz="2000" dirty="0" err="1"/>
              <a:t>Adafruit</a:t>
            </a:r>
            <a:r>
              <a:rPr lang="es-ES" sz="2000" dirty="0"/>
              <a:t> INA219</a:t>
            </a:r>
          </a:p>
          <a:p>
            <a:r>
              <a:rPr lang="es-ES" sz="2000" dirty="0"/>
              <a:t>Medir consumo en </a:t>
            </a:r>
            <a:r>
              <a:rPr lang="es-ES" sz="2000" dirty="0" err="1"/>
              <a:t>NodeMCU</a:t>
            </a:r>
            <a:endParaRPr lang="es-AR" sz="2000" dirty="0"/>
          </a:p>
          <a:p>
            <a:pPr lvl="1"/>
            <a:r>
              <a:rPr lang="es-AR" sz="1800" dirty="0"/>
              <a:t>Conexión WIFI</a:t>
            </a:r>
          </a:p>
          <a:p>
            <a:pPr lvl="1"/>
            <a:r>
              <a:rPr lang="es-ES" sz="1800" dirty="0"/>
              <a:t>Modos </a:t>
            </a:r>
            <a:r>
              <a:rPr lang="es-ES" sz="1800" dirty="0" err="1"/>
              <a:t>Sleeps</a:t>
            </a:r>
            <a:endParaRPr lang="es-ES" sz="1800" dirty="0"/>
          </a:p>
          <a:p>
            <a:r>
              <a:rPr lang="es-ES" sz="2000" dirty="0"/>
              <a:t>Medir consumo en </a:t>
            </a:r>
            <a:r>
              <a:rPr lang="es-ES" sz="2000" dirty="0" err="1"/>
              <a:t>Heltec</a:t>
            </a:r>
            <a:r>
              <a:rPr lang="es-ES" sz="2000" dirty="0"/>
              <a:t> </a:t>
            </a:r>
            <a:r>
              <a:rPr lang="es-ES" sz="2000" dirty="0" err="1"/>
              <a:t>WiFI</a:t>
            </a:r>
            <a:r>
              <a:rPr lang="es-ES" sz="2000" dirty="0"/>
              <a:t> </a:t>
            </a:r>
            <a:r>
              <a:rPr lang="es-ES" sz="2000" dirty="0" err="1"/>
              <a:t>LoRa</a:t>
            </a:r>
            <a:r>
              <a:rPr lang="es-ES" sz="2000" dirty="0"/>
              <a:t> 32</a:t>
            </a:r>
          </a:p>
          <a:p>
            <a:pPr lvl="1"/>
            <a:r>
              <a:rPr lang="es-ES" sz="1800" dirty="0"/>
              <a:t>Conexión </a:t>
            </a:r>
            <a:r>
              <a:rPr lang="es-ES" sz="1800" dirty="0" err="1"/>
              <a:t>WiFi</a:t>
            </a:r>
            <a:endParaRPr lang="es-ES" sz="1800" dirty="0"/>
          </a:p>
          <a:p>
            <a:pPr lvl="1"/>
            <a:r>
              <a:rPr lang="es-ES" sz="1800" dirty="0"/>
              <a:t>Conexión Bluetooth</a:t>
            </a:r>
          </a:p>
          <a:p>
            <a:pPr lvl="1"/>
            <a:r>
              <a:rPr lang="es-ES" sz="1800" dirty="0"/>
              <a:t>OLED</a:t>
            </a:r>
          </a:p>
          <a:p>
            <a:pPr lvl="1"/>
            <a:r>
              <a:rPr lang="es-ES" sz="1800" dirty="0"/>
              <a:t>Modos </a:t>
            </a:r>
            <a:r>
              <a:rPr lang="es-ES" sz="1800" dirty="0" err="1"/>
              <a:t>Sleep</a:t>
            </a:r>
            <a:endParaRPr lang="es-ES" sz="1800" dirty="0"/>
          </a:p>
          <a:p>
            <a:pPr lvl="1"/>
            <a:r>
              <a:rPr lang="es-ES" sz="1800" dirty="0"/>
              <a:t>Transmisión </a:t>
            </a:r>
            <a:r>
              <a:rPr lang="es-ES" sz="1800" dirty="0" err="1"/>
              <a:t>LoRa</a:t>
            </a:r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AR" sz="18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037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5809-6DD8-3C6E-E5E2-1C0B62B4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95A3B-0389-CEA8-2AAE-E6C6AB65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 </a:t>
            </a:r>
            <a:endParaRPr lang="es-AR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AC4FACC-4A30-982B-A33F-81B81B69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137" y="1598809"/>
            <a:ext cx="9223904" cy="4440236"/>
          </a:xfrm>
        </p:spPr>
        <p:txBody>
          <a:bodyPr>
            <a:normAutofit/>
          </a:bodyPr>
          <a:lstStyle/>
          <a:p>
            <a:endParaRPr lang="es-ES" sz="2800" dirty="0"/>
          </a:p>
          <a:p>
            <a:r>
              <a:rPr lang="es-ES" sz="2800" dirty="0"/>
              <a:t>Probar el ACS 712 </a:t>
            </a:r>
          </a:p>
          <a:p>
            <a:pPr lvl="1"/>
            <a:r>
              <a:rPr lang="es-ES" sz="2000" dirty="0"/>
              <a:t>Inicio de PC</a:t>
            </a:r>
          </a:p>
          <a:p>
            <a:pPr lvl="1"/>
            <a:r>
              <a:rPr lang="es-ES" sz="2000" dirty="0"/>
              <a:t>Consumo estable</a:t>
            </a:r>
          </a:p>
          <a:p>
            <a:pPr lvl="1"/>
            <a:r>
              <a:rPr lang="es-ES" sz="2000" dirty="0"/>
              <a:t>Algoritmo de procesamiento</a:t>
            </a:r>
          </a:p>
          <a:p>
            <a:pPr lvl="1"/>
            <a:endParaRPr lang="es-ES" sz="2400" dirty="0"/>
          </a:p>
          <a:p>
            <a:pPr lvl="1"/>
            <a:endParaRPr lang="es-ES" sz="2400" dirty="0"/>
          </a:p>
          <a:p>
            <a:pPr lvl="1"/>
            <a:endParaRPr lang="es-AR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9593071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Rojo naranj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1565</TotalTime>
  <Words>764</Words>
  <Application>Microsoft Office PowerPoint</Application>
  <PresentationFormat>Panorámica</PresentationFormat>
  <Paragraphs>144</Paragraphs>
  <Slides>21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Arial</vt:lpstr>
      <vt:lpstr>Trebuchet MS</vt:lpstr>
      <vt:lpstr>Wingdings 3</vt:lpstr>
      <vt:lpstr>Faceta</vt:lpstr>
      <vt:lpstr>Aspectos Éticos, Sociales y Profesionales Avanzados en Informática Modulo 2: Eficiencia Energética sobre diferentes plataformas </vt:lpstr>
      <vt:lpstr>Microcontroladores Definición</vt:lpstr>
      <vt:lpstr>Microcontroladores Definición</vt:lpstr>
      <vt:lpstr>Microcontroladores Arquitectura</vt:lpstr>
      <vt:lpstr>Microcontroladores Evolución</vt:lpstr>
      <vt:lpstr>Placas de desarrollo populares Familia Arduino</vt:lpstr>
      <vt:lpstr>Arduino UNO</vt:lpstr>
      <vt:lpstr>Familia Arduino</vt:lpstr>
      <vt:lpstr>Shields Arduino </vt:lpstr>
      <vt:lpstr>IDE y Librerías</vt:lpstr>
      <vt:lpstr>Placas de desarrollo NodeMCU</vt:lpstr>
      <vt:lpstr>Heltec WiFi LoRa 32</vt:lpstr>
      <vt:lpstr>Single Boards Computers (SBC) Raspberry Pi 3 Model B+</vt:lpstr>
      <vt:lpstr>Consumo Energético Microcontroladores</vt:lpstr>
      <vt:lpstr>Sensor de corriente ACS 712</vt:lpstr>
      <vt:lpstr>Sensor de corriente ACS 712</vt:lpstr>
      <vt:lpstr>Sensor de corriente Adafruit INA219</vt:lpstr>
      <vt:lpstr>Sensor de corriente Adafruit INA219</vt:lpstr>
      <vt:lpstr>Otros sensores</vt:lpstr>
      <vt:lpstr>Práctica </vt:lpstr>
      <vt:lpstr>Práctica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los Sistemas de Tiempo Real y a los Microcontroladortes</dc:title>
  <dc:creator>Antonella Jaime</dc:creator>
  <cp:lastModifiedBy>Santiago Medina</cp:lastModifiedBy>
  <cp:revision>219</cp:revision>
  <dcterms:created xsi:type="dcterms:W3CDTF">2020-05-07T15:28:53Z</dcterms:created>
  <dcterms:modified xsi:type="dcterms:W3CDTF">2025-04-29T17:33:41Z</dcterms:modified>
</cp:coreProperties>
</file>